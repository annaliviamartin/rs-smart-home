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38"/>
  </p:notesMasterIdLst>
  <p:sldIdLst>
    <p:sldId id="256" r:id="rId2"/>
    <p:sldId id="257" r:id="rId3"/>
    <p:sldId id="258" r:id="rId4"/>
    <p:sldId id="275" r:id="rId5"/>
    <p:sldId id="277" r:id="rId6"/>
    <p:sldId id="272" r:id="rId7"/>
    <p:sldId id="276" r:id="rId8"/>
    <p:sldId id="273" r:id="rId9"/>
    <p:sldId id="259" r:id="rId10"/>
    <p:sldId id="284" r:id="rId11"/>
    <p:sldId id="283" r:id="rId12"/>
    <p:sldId id="278" r:id="rId13"/>
    <p:sldId id="282" r:id="rId14"/>
    <p:sldId id="281" r:id="rId15"/>
    <p:sldId id="279" r:id="rId16"/>
    <p:sldId id="286" r:id="rId17"/>
    <p:sldId id="285" r:id="rId18"/>
    <p:sldId id="261" r:id="rId19"/>
    <p:sldId id="280" r:id="rId20"/>
    <p:sldId id="287" r:id="rId21"/>
    <p:sldId id="293" r:id="rId22"/>
    <p:sldId id="288" r:id="rId23"/>
    <p:sldId id="294" r:id="rId24"/>
    <p:sldId id="291" r:id="rId25"/>
    <p:sldId id="289" r:id="rId26"/>
    <p:sldId id="290" r:id="rId27"/>
    <p:sldId id="292" r:id="rId28"/>
    <p:sldId id="263" r:id="rId29"/>
    <p:sldId id="264" r:id="rId30"/>
    <p:sldId id="265" r:id="rId31"/>
    <p:sldId id="274" r:id="rId32"/>
    <p:sldId id="266" r:id="rId33"/>
    <p:sldId id="267" r:id="rId34"/>
    <p:sldId id="268" r:id="rId35"/>
    <p:sldId id="269" r:id="rId36"/>
    <p:sldId id="270" r:id="rId37"/>
  </p:sldIdLst>
  <p:sldSz cx="12192000" cy="6858000"/>
  <p:notesSz cx="6858000" cy="9144000"/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37" userDrawn="1">
          <p15:clr>
            <a:srgbClr val="A4A3A4"/>
          </p15:clr>
        </p15:guide>
        <p15:guide id="2" pos="384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85982" autoAdjust="0"/>
  </p:normalViewPr>
  <p:slideViewPr>
    <p:cSldViewPr snapToGrid="0" showGuides="1">
      <p:cViewPr varScale="1">
        <p:scale>
          <a:sx n="88" d="100"/>
          <a:sy n="88" d="100"/>
        </p:scale>
        <p:origin x="1356" y="90"/>
      </p:cViewPr>
      <p:guideLst>
        <p:guide orient="horz" pos="2137"/>
        <p:guide pos="384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presProps" Target="presProps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tableStyles" Target="tableStyles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viewProps" Target="viewProps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notesMaster" Target="notesMasters/notesMaster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0" y="812520"/>
            <a:ext cx="0" cy="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Folie mittels Klicken verschieben</a:t>
            </a:r>
          </a:p>
        </p:txBody>
      </p:sp>
      <p:sp>
        <p:nvSpPr>
          <p:cNvPr id="67" name="PlaceHolder 2"/>
          <p:cNvSpPr>
            <a:spLocks noGrp="1"/>
          </p:cNvSpPr>
          <p:nvPr>
            <p:ph type="body"/>
          </p:nvPr>
        </p:nvSpPr>
        <p:spPr>
          <a:xfrm>
            <a:off x="756000" y="5078520"/>
            <a:ext cx="6047640" cy="48110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der Notizen mittels Klicken bearbeiten</a:t>
            </a:r>
          </a:p>
        </p:txBody>
      </p:sp>
      <p:sp>
        <p:nvSpPr>
          <p:cNvPr id="68" name="PlaceHolder 3"/>
          <p:cNvSpPr>
            <a:spLocks noGrp="1"/>
          </p:cNvSpPr>
          <p:nvPr>
            <p:ph type="hdr"/>
          </p:nvPr>
        </p:nvSpPr>
        <p:spPr>
          <a:xfrm>
            <a:off x="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/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&lt;Kopfzeile&gt;</a:t>
            </a:r>
          </a:p>
        </p:txBody>
      </p:sp>
      <p:sp>
        <p:nvSpPr>
          <p:cNvPr id="69" name="PlaceHolder 4"/>
          <p:cNvSpPr>
            <a:spLocks noGrp="1"/>
          </p:cNvSpPr>
          <p:nvPr>
            <p:ph type="dt" idx="13"/>
          </p:nvPr>
        </p:nvSpPr>
        <p:spPr>
          <a:xfrm>
            <a:off x="4278960" y="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&lt;Datum/Uhrzeit&gt;</a:t>
            </a:r>
          </a:p>
        </p:txBody>
      </p:sp>
      <p:sp>
        <p:nvSpPr>
          <p:cNvPr id="70" name="PlaceHolder 5"/>
          <p:cNvSpPr>
            <a:spLocks noGrp="1"/>
          </p:cNvSpPr>
          <p:nvPr>
            <p:ph type="ftr" idx="14"/>
          </p:nvPr>
        </p:nvSpPr>
        <p:spPr>
          <a:xfrm>
            <a:off x="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l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l">
              <a:buNone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&lt;Fußzeile&gt;</a:t>
            </a:r>
          </a:p>
        </p:txBody>
      </p:sp>
      <p:sp>
        <p:nvSpPr>
          <p:cNvPr id="71" name="PlaceHolder 6"/>
          <p:cNvSpPr>
            <a:spLocks noGrp="1"/>
          </p:cNvSpPr>
          <p:nvPr>
            <p:ph type="sldNum" idx="15"/>
          </p:nvPr>
        </p:nvSpPr>
        <p:spPr>
          <a:xfrm>
            <a:off x="4278960" y="10157400"/>
            <a:ext cx="3280680" cy="53424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b">
            <a:noAutofit/>
          </a:bodyPr>
          <a:lstStyle>
            <a:lvl1pPr indent="0" algn="r">
              <a:buNone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defRPr>
            </a:lvl1pPr>
          </a:lstStyle>
          <a:p>
            <a:pPr indent="0" algn="r">
              <a:buNone/>
            </a:pPr>
            <a:fld id="{642522A0-FB72-412F-8104-6059EB8B3500}" type="slidenum"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Times New Roman"/>
              </a:rPr>
              <a:t>‹Nr.›</a:t>
            </a:fld>
            <a:endParaRPr lang="de-DE" sz="14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PlaceHolder 1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1 – Titel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Begrüßung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Vorstellung unseres Projekts: 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Collaborative Real-Time Kanban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Modul: </a:t>
            </a:r>
            <a:r>
              <a:rPr lang="en-US" sz="1100" b="0" i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Principles, Algorithms and Models of Concurrency and Synchronization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Fokus: Synchronisation und Nebenläufigkeit in einem kollaborativen Kanban-Board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7" name="PlaceHolder 2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1143000" y="685800"/>
            <a:ext cx="4571640" cy="3428640"/>
          </a:xfrm>
          <a:prstGeom prst="rect">
            <a:avLst/>
          </a:prstGeom>
          <a:ln w="0">
            <a:noFill/>
          </a:ln>
        </p:spPr>
      </p:sp>
      <p:sp>
        <p:nvSpPr>
          <p:cNvPr id="149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6423A5-2109-C6A9-95B6-BBCCF5C6C95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>
            <a:extLst>
              <a:ext uri="{FF2B5EF4-FFF2-40B4-BE49-F238E27FC236}">
                <a16:creationId xmlns:a16="http://schemas.microsoft.com/office/drawing/2014/main" id="{8BA3E81E-CCB9-ABA2-E921-327FFB12CA7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49" name="PlaceHolder 2">
            <a:extLst>
              <a:ext uri="{FF2B5EF4-FFF2-40B4-BE49-F238E27FC236}">
                <a16:creationId xmlns:a16="http://schemas.microsoft.com/office/drawing/2014/main" id="{688222DC-E2F2-6804-F38E-B5926CAF40E3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1298638147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D48DFDE-40E4-3496-5D70-6D2BDF2EC83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>
            <a:extLst>
              <a:ext uri="{FF2B5EF4-FFF2-40B4-BE49-F238E27FC236}">
                <a16:creationId xmlns:a16="http://schemas.microsoft.com/office/drawing/2014/main" id="{07095EC7-E8AF-9096-A988-F16D4ADC751B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49" name="PlaceHolder 2">
            <a:extLst>
              <a:ext uri="{FF2B5EF4-FFF2-40B4-BE49-F238E27FC236}">
                <a16:creationId xmlns:a16="http://schemas.microsoft.com/office/drawing/2014/main" id="{3261A21C-4305-9540-31D0-581619F3056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82659600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E0206EA-967A-12A4-3F15-A52315E1820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PlaceHolder 1">
            <a:extLst>
              <a:ext uri="{FF2B5EF4-FFF2-40B4-BE49-F238E27FC236}">
                <a16:creationId xmlns:a16="http://schemas.microsoft.com/office/drawing/2014/main" id="{C7B01C34-3973-5444-99D9-EE57CB1BCD7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49" name="PlaceHolder 2">
            <a:extLst>
              <a:ext uri="{FF2B5EF4-FFF2-40B4-BE49-F238E27FC236}">
                <a16:creationId xmlns:a16="http://schemas.microsoft.com/office/drawing/2014/main" id="{6CFD2700-B702-EB71-6745-464190FADE20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68824530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F50620-90A6-C162-F99B-4E9A28A6969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>
            <a:extLst>
              <a:ext uri="{FF2B5EF4-FFF2-40B4-BE49-F238E27FC236}">
                <a16:creationId xmlns:a16="http://schemas.microsoft.com/office/drawing/2014/main" id="{3567F8E4-2228-9B7C-0BC6-20475A84777D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>
            <a:extLst>
              <a:ext uri="{FF2B5EF4-FFF2-40B4-BE49-F238E27FC236}">
                <a16:creationId xmlns:a16="http://schemas.microsoft.com/office/drawing/2014/main" id="{DA2E0A66-0AB6-6AAF-DE07-2D356EAAAED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7261780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DA2E015-09D6-C086-A59F-98CC1A0AB29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>
            <a:extLst>
              <a:ext uri="{FF2B5EF4-FFF2-40B4-BE49-F238E27FC236}">
                <a16:creationId xmlns:a16="http://schemas.microsoft.com/office/drawing/2014/main" id="{C6664904-CE3A-1391-B8B5-D958BFF69F30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>
            <a:extLst>
              <a:ext uri="{FF2B5EF4-FFF2-40B4-BE49-F238E27FC236}">
                <a16:creationId xmlns:a16="http://schemas.microsoft.com/office/drawing/2014/main" id="{1EB84B28-4629-3108-7436-AB4D22F10CA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58396738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77156AB-9711-4CAF-EF24-F144264B60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>
            <a:extLst>
              <a:ext uri="{FF2B5EF4-FFF2-40B4-BE49-F238E27FC236}">
                <a16:creationId xmlns:a16="http://schemas.microsoft.com/office/drawing/2014/main" id="{4A7199E4-5925-8BD6-DE7B-3379EBAD3622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>
            <a:extLst>
              <a:ext uri="{FF2B5EF4-FFF2-40B4-BE49-F238E27FC236}">
                <a16:creationId xmlns:a16="http://schemas.microsoft.com/office/drawing/2014/main" id="{31401AA2-970F-82F8-F111-831C2C5ED00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4199522404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BECBBD1-3D6F-253F-37C6-C65C0E415D6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>
            <a:extLst>
              <a:ext uri="{FF2B5EF4-FFF2-40B4-BE49-F238E27FC236}">
                <a16:creationId xmlns:a16="http://schemas.microsoft.com/office/drawing/2014/main" id="{87955B36-52D1-4166-D326-A00922488DC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>
            <a:extLst>
              <a:ext uri="{FF2B5EF4-FFF2-40B4-BE49-F238E27FC236}">
                <a16:creationId xmlns:a16="http://schemas.microsoft.com/office/drawing/2014/main" id="{FA79FE76-8F98-6B0D-8AD5-AA1A5FFCEDB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2784741058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EB0695-4922-874F-F7FB-1EAB9763F64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>
            <a:extLst>
              <a:ext uri="{FF2B5EF4-FFF2-40B4-BE49-F238E27FC236}">
                <a16:creationId xmlns:a16="http://schemas.microsoft.com/office/drawing/2014/main" id="{DF9946B3-E35E-C9AC-2C08-7E744B2D61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>
            <a:extLst>
              <a:ext uri="{FF2B5EF4-FFF2-40B4-BE49-F238E27FC236}">
                <a16:creationId xmlns:a16="http://schemas.microsoft.com/office/drawing/2014/main" id="{DBA89D60-50F0-E068-FAB9-40FC34AE088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7245767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5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6BD9F78-2086-F17B-8138-70FC8B7B0D6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0" name="PlaceHolder 1">
            <a:extLst>
              <a:ext uri="{FF2B5EF4-FFF2-40B4-BE49-F238E27FC236}">
                <a16:creationId xmlns:a16="http://schemas.microsoft.com/office/drawing/2014/main" id="{E97EBD98-8385-AB84-7379-240AA4EE7755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51" name="PlaceHolder 2">
            <a:extLst>
              <a:ext uri="{FF2B5EF4-FFF2-40B4-BE49-F238E27FC236}">
                <a16:creationId xmlns:a16="http://schemas.microsoft.com/office/drawing/2014/main" id="{559347FD-9F53-3913-50BD-4F3A79CAE107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endParaRPr lang="de-DE" sz="11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  <p:extLst>
      <p:ext uri="{BB962C8B-B14F-4D97-AF65-F5344CB8AC3E}">
        <p14:creationId xmlns:p14="http://schemas.microsoft.com/office/powerpoint/2010/main" val="820220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55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57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8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59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2 – Motivation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Ziel: Mehrere Benutzer arbeiten gleichzeitig auf einem Board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Hauptproblem: Konsistenter Board-Zustand trotz gleichzeitiger Änderungen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Backend als zentrale Instanz für Konsistenz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= 3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 Aufgabe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 könnten beide erfolgreich sein → Limit verletzt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 Synchronisation im Backend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61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15000"/>
              </a:lnSpc>
              <a:spcBef>
                <a:spcPts val="1800"/>
              </a:spcBef>
              <a:buNone/>
              <a:tabLst>
                <a:tab pos="0" algn="l"/>
              </a:tabLst>
            </a:pPr>
            <a:r>
              <a:rPr lang="en-US" sz="1700" b="1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Folie 6 – Race Condition: WIP Limits</a:t>
            </a:r>
            <a:endParaRPr lang="de-DE" sz="17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spcBef>
                <a:spcPts val="1199"/>
              </a:spcBef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Beispiel: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Testing-Spalte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Maximal 3 Tasks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Zwei Nutzer verschieben gleichzeitig einen Task hinein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Beide sehen zunächst dieselbe Anzahl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Ohne Synchronisation: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Beide Operationen erfolgreich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WIP-Limit überschritten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457200" indent="-298440" algn="l">
              <a:lnSpc>
                <a:spcPct val="115000"/>
              </a:lnSpc>
              <a:buClr>
                <a:srgbClr val="000000"/>
              </a:buClr>
              <a:buFont typeface="Arial"/>
              <a:buChar char="●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Lösung: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ReentrantLock pro Spalte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914400" lvl="1" indent="-298440" algn="l">
              <a:lnSpc>
                <a:spcPct val="115000"/>
              </a:lnSpc>
              <a:buClr>
                <a:srgbClr val="000000"/>
              </a:buClr>
              <a:buFont typeface="Wingdings 2" charset="2"/>
              <a:buChar char=""/>
              <a:tabLst>
                <a:tab pos="0" algn="l"/>
              </a:tabLst>
            </a:pPr>
            <a:r>
              <a:rPr lang="en-US" sz="1100" b="0" u="none" strike="noStrike">
                <a:solidFill>
                  <a:schemeClr val="dk1"/>
                </a:solidFill>
                <a:effectLst/>
                <a:uFillTx/>
                <a:latin typeface="Arial"/>
                <a:ea typeface="Arial"/>
              </a:rPr>
              <a:t>WIP-Prüfung und Update in einer kritischen Sektion</a:t>
            </a:r>
            <a:endParaRPr lang="de-DE" sz="11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2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ln w="0">
            <a:noFill/>
          </a:ln>
        </p:spPr>
      </p:sp>
      <p:sp>
        <p:nvSpPr>
          <p:cNvPr id="163" name="PlaceHolder 2"/>
          <p:cNvSpPr>
            <a:spLocks noGrp="1"/>
          </p:cNvSpPr>
          <p:nvPr>
            <p:ph type="body"/>
          </p:nvPr>
        </p:nvSpPr>
        <p:spPr>
          <a:xfrm>
            <a:off x="914400" y="4343400"/>
            <a:ext cx="5028840" cy="411444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Locking initially only covered tasks, extending it to boards and columns required a full restructuring (tests and code, via an abstract lock service)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Keeping frontend state consistent required precise timing of WebSocket updates across all clients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indent="0" algn="l">
              <a:lnSpc>
                <a:spcPct val="100000"/>
              </a:lnSpc>
              <a:buNone/>
              <a:tabLst>
                <a:tab pos="0" algn="l"/>
              </a:tabLst>
            </a:pPr>
            <a:r>
              <a:rPr lang="en-US" sz="1200" b="0" u="none" strike="noStrike">
                <a:solidFill>
                  <a:srgbClr val="000000"/>
                </a:solidFill>
                <a:effectLst/>
                <a:uFillTx/>
                <a:latin typeface="Arial"/>
                <a:ea typeface="Arial"/>
              </a:rPr>
              <a:t>Understanding synchronization deeply mattered more than just getting the code to run</a:t>
            </a:r>
            <a:endParaRPr lang="de-DE" sz="1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Abschnitts-&#10;überschrift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" name="PlaceHolder 1"/>
          <p:cNvSpPr>
            <a:spLocks noGrp="1"/>
          </p:cNvSpPr>
          <p:nvPr>
            <p:ph type="title"/>
          </p:nvPr>
        </p:nvSpPr>
        <p:spPr>
          <a:xfrm>
            <a:off x="2467800" y="1484280"/>
            <a:ext cx="7256160" cy="219672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>
            <a:lvl1pPr indent="0" algn="l">
              <a:buNone/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4" name="PlaceHolder 2"/>
          <p:cNvSpPr>
            <a:spLocks noGrp="1"/>
          </p:cNvSpPr>
          <p:nvPr>
            <p:ph type="body"/>
          </p:nvPr>
        </p:nvSpPr>
        <p:spPr>
          <a:xfrm>
            <a:off x="2467800" y="3681360"/>
            <a:ext cx="725616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40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pic>
        <p:nvPicPr>
          <p:cNvPr id="5" name="Google Shape;51;p24" descr="Grafik 6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" name="PlaceHolder 3"/>
          <p:cNvSpPr>
            <a:spLocks noGrp="1"/>
          </p:cNvSpPr>
          <p:nvPr>
            <p:ph type="sldNum" idx="1"/>
          </p:nvPr>
        </p:nvSpPr>
        <p:spPr>
          <a:xfrm>
            <a:off x="11402640" y="6416640"/>
            <a:ext cx="2451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D89370AA-74D7-400B-914D-D66B9CF6991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5_Titelfoli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8" name="PlaceHolder 1"/>
          <p:cNvSpPr>
            <a:spLocks noGrp="1"/>
          </p:cNvSpPr>
          <p:nvPr>
            <p:ph type="body"/>
          </p:nvPr>
        </p:nvSpPr>
        <p:spPr>
          <a:xfrm>
            <a:off x="0" y="0"/>
            <a:ext cx="12191760" cy="6857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9" name="PlaceHolder 2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92500" lnSpcReduction="9999"/>
          </a:bodyPr>
          <a:lstStyle>
            <a:lvl1pPr indent="0" algn="l">
              <a:buNone/>
              <a:defRPr lang="de-DE" sz="3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de-DE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10" name="PlaceHolder 3"/>
          <p:cNvSpPr>
            <a:spLocks noGrp="1"/>
          </p:cNvSpPr>
          <p:nvPr>
            <p:ph type="body"/>
          </p:nvPr>
        </p:nvSpPr>
        <p:spPr>
          <a:xfrm>
            <a:off x="543960" y="1484280"/>
            <a:ext cx="11103840" cy="9680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grpSp>
        <p:nvGrpSpPr>
          <p:cNvPr id="11" name="Google Shape;57;p25"/>
          <p:cNvGrpSpPr/>
          <p:nvPr/>
        </p:nvGrpSpPr>
        <p:grpSpPr>
          <a:xfrm>
            <a:off x="10884240" y="488880"/>
            <a:ext cx="891000" cy="214560"/>
            <a:chOff x="10884240" y="488880"/>
            <a:chExt cx="891000" cy="214560"/>
          </a:xfrm>
        </p:grpSpPr>
        <p:sp>
          <p:nvSpPr>
            <p:cNvPr id="12" name="Google Shape;58;p25"/>
            <p:cNvSpPr/>
            <p:nvPr/>
          </p:nvSpPr>
          <p:spPr>
            <a:xfrm>
              <a:off x="10884240" y="490680"/>
              <a:ext cx="676440" cy="212760"/>
            </a:xfrm>
            <a:custGeom>
              <a:avLst/>
              <a:gdLst>
                <a:gd name="textAreaLeft" fmla="*/ 0 w 676440"/>
                <a:gd name="textAreaRight" fmla="*/ 676800 w 676440"/>
                <a:gd name="textAreaTop" fmla="*/ 0 h 212760"/>
                <a:gd name="textAreaBottom" fmla="*/ 213120 h 212760"/>
              </a:gdLst>
              <a:ahLst/>
              <a:cxnLst/>
              <a:rect l="textAreaLeft" t="textAreaTop" r="textAreaRight" b="textAreaBottom"/>
              <a:pathLst>
                <a:path w="21600" h="21600">
                  <a:moveTo>
                    <a:pt x="0" y="0"/>
                  </a:moveTo>
                  <a:lnTo>
                    <a:pt x="1171" y="0"/>
                  </a:lnTo>
                  <a:lnTo>
                    <a:pt x="1171" y="7880"/>
                  </a:lnTo>
                  <a:lnTo>
                    <a:pt x="1201" y="7880"/>
                  </a:lnTo>
                  <a:cubicBezTo>
                    <a:pt x="1528" y="6418"/>
                    <a:pt x="2045" y="5707"/>
                    <a:pt x="2555" y="5707"/>
                  </a:cubicBezTo>
                  <a:cubicBezTo>
                    <a:pt x="3661" y="5707"/>
                    <a:pt x="4276" y="7850"/>
                    <a:pt x="4276" y="11496"/>
                  </a:cubicBezTo>
                  <a:lnTo>
                    <a:pt x="4276" y="21285"/>
                  </a:lnTo>
                  <a:lnTo>
                    <a:pt x="3105" y="21285"/>
                  </a:lnTo>
                  <a:lnTo>
                    <a:pt x="3105" y="12430"/>
                  </a:lnTo>
                  <a:cubicBezTo>
                    <a:pt x="3105" y="10135"/>
                    <a:pt x="2788" y="8906"/>
                    <a:pt x="2192" y="8906"/>
                  </a:cubicBezTo>
                  <a:cubicBezTo>
                    <a:pt x="1548" y="8906"/>
                    <a:pt x="1175" y="10125"/>
                    <a:pt x="1175" y="12724"/>
                  </a:cubicBezTo>
                  <a:lnTo>
                    <a:pt x="1175" y="21285"/>
                  </a:lnTo>
                  <a:lnTo>
                    <a:pt x="3" y="21285"/>
                  </a:lnTo>
                  <a:lnTo>
                    <a:pt x="3" y="0"/>
                  </a:lnTo>
                  <a:close/>
                  <a:moveTo>
                    <a:pt x="5160" y="18645"/>
                  </a:moveTo>
                  <a:cubicBezTo>
                    <a:pt x="5650" y="20879"/>
                    <a:pt x="6475" y="21600"/>
                    <a:pt x="7361" y="21600"/>
                  </a:cubicBezTo>
                  <a:cubicBezTo>
                    <a:pt x="8369" y="21600"/>
                    <a:pt x="9534" y="19924"/>
                    <a:pt x="9534" y="16411"/>
                  </a:cubicBezTo>
                  <a:cubicBezTo>
                    <a:pt x="9534" y="14116"/>
                    <a:pt x="9053" y="12653"/>
                    <a:pt x="8219" y="12146"/>
                  </a:cubicBezTo>
                  <a:lnTo>
                    <a:pt x="7479" y="11699"/>
                  </a:lnTo>
                  <a:cubicBezTo>
                    <a:pt x="6969" y="11404"/>
                    <a:pt x="6547" y="11252"/>
                    <a:pt x="6547" y="10175"/>
                  </a:cubicBezTo>
                  <a:cubicBezTo>
                    <a:pt x="6547" y="9008"/>
                    <a:pt x="6884" y="8480"/>
                    <a:pt x="7345" y="8480"/>
                  </a:cubicBezTo>
                  <a:cubicBezTo>
                    <a:pt x="7806" y="8480"/>
                    <a:pt x="8153" y="8926"/>
                    <a:pt x="8441" y="9972"/>
                  </a:cubicBezTo>
                  <a:lnTo>
                    <a:pt x="9288" y="8185"/>
                  </a:lnTo>
                  <a:cubicBezTo>
                    <a:pt x="8876" y="6367"/>
                    <a:pt x="8242" y="5677"/>
                    <a:pt x="7358" y="5677"/>
                  </a:cubicBezTo>
                  <a:cubicBezTo>
                    <a:pt x="6311" y="5677"/>
                    <a:pt x="5408" y="7494"/>
                    <a:pt x="5408" y="10693"/>
                  </a:cubicBezTo>
                  <a:cubicBezTo>
                    <a:pt x="5408" y="12988"/>
                    <a:pt x="5948" y="14217"/>
                    <a:pt x="6753" y="14664"/>
                  </a:cubicBezTo>
                  <a:lnTo>
                    <a:pt x="7397" y="15020"/>
                  </a:lnTo>
                  <a:cubicBezTo>
                    <a:pt x="8062" y="15375"/>
                    <a:pt x="8320" y="15649"/>
                    <a:pt x="8320" y="16837"/>
                  </a:cubicBezTo>
                  <a:cubicBezTo>
                    <a:pt x="8320" y="18208"/>
                    <a:pt x="7829" y="18716"/>
                    <a:pt x="7348" y="18716"/>
                  </a:cubicBezTo>
                  <a:cubicBezTo>
                    <a:pt x="6792" y="18716"/>
                    <a:pt x="6301" y="17975"/>
                    <a:pt x="5994" y="16715"/>
                  </a:cubicBezTo>
                  <a:lnTo>
                    <a:pt x="5166" y="18655"/>
                  </a:lnTo>
                  <a:moveTo>
                    <a:pt x="10447" y="21275"/>
                  </a:moveTo>
                  <a:lnTo>
                    <a:pt x="11618" y="21275"/>
                  </a:lnTo>
                  <a:lnTo>
                    <a:pt x="11618" y="13456"/>
                  </a:lnTo>
                  <a:cubicBezTo>
                    <a:pt x="11618" y="10622"/>
                    <a:pt x="12282" y="9038"/>
                    <a:pt x="13165" y="9038"/>
                  </a:cubicBezTo>
                  <a:cubicBezTo>
                    <a:pt x="13329" y="9038"/>
                    <a:pt x="13453" y="9038"/>
                    <a:pt x="13607" y="9130"/>
                  </a:cubicBezTo>
                  <a:lnTo>
                    <a:pt x="13607" y="5788"/>
                  </a:lnTo>
                  <a:cubicBezTo>
                    <a:pt x="13483" y="5697"/>
                    <a:pt x="13339" y="5697"/>
                    <a:pt x="13215" y="5697"/>
                  </a:cubicBezTo>
                  <a:cubicBezTo>
                    <a:pt x="12629" y="5697"/>
                    <a:pt x="11899" y="6916"/>
                    <a:pt x="11608" y="8530"/>
                  </a:cubicBezTo>
                  <a:lnTo>
                    <a:pt x="11589" y="8530"/>
                  </a:lnTo>
                  <a:lnTo>
                    <a:pt x="11589" y="5992"/>
                  </a:lnTo>
                  <a:lnTo>
                    <a:pt x="10443" y="5992"/>
                  </a:lnTo>
                  <a:lnTo>
                    <a:pt x="10443" y="21265"/>
                  </a:lnTo>
                  <a:close/>
                  <a:moveTo>
                    <a:pt x="14405" y="21275"/>
                  </a:moveTo>
                  <a:lnTo>
                    <a:pt x="15577" y="21275"/>
                  </a:lnTo>
                  <a:lnTo>
                    <a:pt x="15577" y="12298"/>
                  </a:lnTo>
                  <a:cubicBezTo>
                    <a:pt x="15577" y="9759"/>
                    <a:pt x="16117" y="8896"/>
                    <a:pt x="16529" y="8896"/>
                  </a:cubicBezTo>
                  <a:cubicBezTo>
                    <a:pt x="17239" y="8896"/>
                    <a:pt x="17422" y="10511"/>
                    <a:pt x="17422" y="12450"/>
                  </a:cubicBezTo>
                  <a:lnTo>
                    <a:pt x="17422" y="21285"/>
                  </a:lnTo>
                  <a:lnTo>
                    <a:pt x="18593" y="21285"/>
                  </a:lnTo>
                  <a:lnTo>
                    <a:pt x="18593" y="12481"/>
                  </a:lnTo>
                  <a:cubicBezTo>
                    <a:pt x="18593" y="10480"/>
                    <a:pt x="18871" y="8896"/>
                    <a:pt x="19536" y="8896"/>
                  </a:cubicBezTo>
                  <a:cubicBezTo>
                    <a:pt x="20200" y="8896"/>
                    <a:pt x="20429" y="10328"/>
                    <a:pt x="20429" y="12389"/>
                  </a:cubicBezTo>
                  <a:lnTo>
                    <a:pt x="20429" y="21275"/>
                  </a:lnTo>
                  <a:lnTo>
                    <a:pt x="21600" y="21275"/>
                  </a:lnTo>
                  <a:lnTo>
                    <a:pt x="21600" y="11069"/>
                  </a:lnTo>
                  <a:cubicBezTo>
                    <a:pt x="21600" y="7342"/>
                    <a:pt x="20792" y="5697"/>
                    <a:pt x="19879" y="5697"/>
                  </a:cubicBezTo>
                  <a:cubicBezTo>
                    <a:pt x="19205" y="5697"/>
                    <a:pt x="18708" y="6591"/>
                    <a:pt x="18361" y="7962"/>
                  </a:cubicBezTo>
                  <a:lnTo>
                    <a:pt x="18351" y="7962"/>
                  </a:lnTo>
                  <a:cubicBezTo>
                    <a:pt x="18044" y="6499"/>
                    <a:pt x="17602" y="5697"/>
                    <a:pt x="16948" y="5697"/>
                  </a:cubicBezTo>
                  <a:cubicBezTo>
                    <a:pt x="16372" y="5697"/>
                    <a:pt x="15891" y="6438"/>
                    <a:pt x="15554" y="7850"/>
                  </a:cubicBezTo>
                  <a:lnTo>
                    <a:pt x="15534" y="7850"/>
                  </a:lnTo>
                  <a:lnTo>
                    <a:pt x="15534" y="6002"/>
                  </a:lnTo>
                  <a:lnTo>
                    <a:pt x="14399" y="6002"/>
                  </a:lnTo>
                  <a:lnTo>
                    <a:pt x="14399" y="21275"/>
                  </a:lnTo>
                  <a:close/>
                </a:path>
              </a:pathLst>
            </a:custGeom>
            <a:solidFill>
              <a:srgbClr val="FFFFFF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45720" rIns="45720" anchor="ctr">
              <a:noAutofit/>
            </a:bodyPr>
            <a:lstStyle/>
            <a:p>
              <a:endPara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endParaRPr>
            </a:p>
          </p:txBody>
        </p:sp>
        <p:sp>
          <p:nvSpPr>
            <p:cNvPr id="13" name="Google Shape;59;p25"/>
            <p:cNvSpPr/>
            <p:nvPr/>
          </p:nvSpPr>
          <p:spPr>
            <a:xfrm>
              <a:off x="11617920" y="488880"/>
              <a:ext cx="157320" cy="150480"/>
            </a:xfrm>
            <a:custGeom>
              <a:avLst/>
              <a:gdLst>
                <a:gd name="textAreaLeft" fmla="*/ 0 w 157320"/>
                <a:gd name="textAreaRight" fmla="*/ 157680 w 157320"/>
                <a:gd name="textAreaTop" fmla="*/ 0 h 150480"/>
                <a:gd name="textAreaBottom" fmla="*/ 150840 h 150480"/>
              </a:gdLst>
              <a:ahLst/>
              <a:cxnLst/>
              <a:rect l="textAreaLeft" t="textAreaTop" r="textAreaRight" b="textAreaBottom"/>
              <a:pathLst>
                <a:path w="21540" h="21587">
                  <a:moveTo>
                    <a:pt x="21456" y="11124"/>
                  </a:moveTo>
                  <a:lnTo>
                    <a:pt x="20699" y="12514"/>
                  </a:lnTo>
                  <a:cubicBezTo>
                    <a:pt x="20573" y="12729"/>
                    <a:pt x="20348" y="12858"/>
                    <a:pt x="20110" y="12858"/>
                  </a:cubicBezTo>
                  <a:lnTo>
                    <a:pt x="12793" y="12858"/>
                  </a:lnTo>
                  <a:lnTo>
                    <a:pt x="13775" y="14607"/>
                  </a:lnTo>
                  <a:cubicBezTo>
                    <a:pt x="13887" y="14822"/>
                    <a:pt x="13887" y="15080"/>
                    <a:pt x="13775" y="15280"/>
                  </a:cubicBezTo>
                  <a:lnTo>
                    <a:pt x="12990" y="16685"/>
                  </a:lnTo>
                  <a:cubicBezTo>
                    <a:pt x="12864" y="16886"/>
                    <a:pt x="12653" y="17015"/>
                    <a:pt x="12415" y="17015"/>
                  </a:cubicBezTo>
                  <a:lnTo>
                    <a:pt x="10859" y="17015"/>
                  </a:lnTo>
                  <a:cubicBezTo>
                    <a:pt x="10621" y="17043"/>
                    <a:pt x="10411" y="16900"/>
                    <a:pt x="10284" y="16699"/>
                  </a:cubicBezTo>
                  <a:lnTo>
                    <a:pt x="9275" y="14922"/>
                  </a:lnTo>
                  <a:lnTo>
                    <a:pt x="5701" y="21243"/>
                  </a:lnTo>
                  <a:cubicBezTo>
                    <a:pt x="5589" y="21458"/>
                    <a:pt x="5365" y="21587"/>
                    <a:pt x="5126" y="21587"/>
                  </a:cubicBezTo>
                  <a:lnTo>
                    <a:pt x="3570" y="21587"/>
                  </a:lnTo>
                  <a:cubicBezTo>
                    <a:pt x="3332" y="21573"/>
                    <a:pt x="3122" y="21444"/>
                    <a:pt x="3010" y="21243"/>
                  </a:cubicBezTo>
                  <a:lnTo>
                    <a:pt x="2211" y="19867"/>
                  </a:lnTo>
                  <a:cubicBezTo>
                    <a:pt x="2085" y="19652"/>
                    <a:pt x="2085" y="19394"/>
                    <a:pt x="2211" y="19179"/>
                  </a:cubicBezTo>
                  <a:lnTo>
                    <a:pt x="5785" y="12858"/>
                  </a:lnTo>
                  <a:lnTo>
                    <a:pt x="1426" y="12858"/>
                  </a:lnTo>
                  <a:cubicBezTo>
                    <a:pt x="1188" y="12858"/>
                    <a:pt x="977" y="12729"/>
                    <a:pt x="851" y="12514"/>
                  </a:cubicBezTo>
                  <a:lnTo>
                    <a:pt x="94" y="11124"/>
                  </a:lnTo>
                  <a:cubicBezTo>
                    <a:pt x="-32" y="10923"/>
                    <a:pt x="-32" y="10665"/>
                    <a:pt x="94" y="10464"/>
                  </a:cubicBezTo>
                  <a:lnTo>
                    <a:pt x="851" y="9074"/>
                  </a:lnTo>
                  <a:cubicBezTo>
                    <a:pt x="977" y="8859"/>
                    <a:pt x="1188" y="8730"/>
                    <a:pt x="1426" y="8730"/>
                  </a:cubicBezTo>
                  <a:lnTo>
                    <a:pt x="5799" y="8730"/>
                  </a:lnTo>
                  <a:lnTo>
                    <a:pt x="2225" y="2381"/>
                  </a:lnTo>
                  <a:cubicBezTo>
                    <a:pt x="2113" y="2180"/>
                    <a:pt x="2113" y="1908"/>
                    <a:pt x="2239" y="1707"/>
                  </a:cubicBezTo>
                  <a:lnTo>
                    <a:pt x="3024" y="331"/>
                  </a:lnTo>
                  <a:cubicBezTo>
                    <a:pt x="3150" y="130"/>
                    <a:pt x="3360" y="1"/>
                    <a:pt x="3584" y="1"/>
                  </a:cubicBezTo>
                  <a:lnTo>
                    <a:pt x="5154" y="1"/>
                  </a:lnTo>
                  <a:cubicBezTo>
                    <a:pt x="5393" y="-13"/>
                    <a:pt x="5617" y="116"/>
                    <a:pt x="5729" y="331"/>
                  </a:cubicBezTo>
                  <a:lnTo>
                    <a:pt x="9303" y="6666"/>
                  </a:lnTo>
                  <a:lnTo>
                    <a:pt x="10284" y="4918"/>
                  </a:lnTo>
                  <a:cubicBezTo>
                    <a:pt x="10397" y="4717"/>
                    <a:pt x="10621" y="4588"/>
                    <a:pt x="10845" y="4574"/>
                  </a:cubicBezTo>
                  <a:lnTo>
                    <a:pt x="12429" y="4574"/>
                  </a:lnTo>
                  <a:cubicBezTo>
                    <a:pt x="12667" y="4574"/>
                    <a:pt x="12878" y="4703"/>
                    <a:pt x="13004" y="4903"/>
                  </a:cubicBezTo>
                  <a:lnTo>
                    <a:pt x="13789" y="6279"/>
                  </a:lnTo>
                  <a:cubicBezTo>
                    <a:pt x="13915" y="6480"/>
                    <a:pt x="13915" y="6752"/>
                    <a:pt x="13789" y="6953"/>
                  </a:cubicBezTo>
                  <a:lnTo>
                    <a:pt x="12779" y="8730"/>
                  </a:lnTo>
                  <a:lnTo>
                    <a:pt x="20082" y="8730"/>
                  </a:lnTo>
                  <a:cubicBezTo>
                    <a:pt x="20320" y="8730"/>
                    <a:pt x="20545" y="8859"/>
                    <a:pt x="20657" y="9060"/>
                  </a:cubicBezTo>
                  <a:lnTo>
                    <a:pt x="21456" y="10450"/>
                  </a:lnTo>
                  <a:cubicBezTo>
                    <a:pt x="21568" y="10665"/>
                    <a:pt x="21568" y="10923"/>
                    <a:pt x="21456" y="11124"/>
                  </a:cubicBezTo>
                  <a:close/>
                </a:path>
              </a:pathLst>
            </a:custGeom>
            <a:solidFill>
              <a:schemeClr val="accent1"/>
            </a:solidFill>
            <a:ln w="0">
              <a:noFill/>
            </a:ln>
          </p:spPr>
          <p:style>
            <a:lnRef idx="0">
              <a:scrgbClr r="0" g="0" b="0"/>
            </a:lnRef>
            <a:fillRef idx="0">
              <a:scrgbClr r="0" g="0" b="0"/>
            </a:fillRef>
            <a:effectRef idx="0">
              <a:scrgbClr r="0" g="0" b="0"/>
            </a:effectRef>
            <a:fontRef idx="minor"/>
          </p:style>
          <p:txBody>
            <a:bodyPr lIns="45720" rIns="45720" anchor="ctr">
              <a:noAutofit/>
            </a:bodyPr>
            <a:lstStyle/>
            <a:p>
              <a:endParaRPr lang="de-DE" sz="1400" b="0" u="none" strike="noStrike">
                <a:solidFill>
                  <a:srgbClr val="FFFFFF"/>
                </a:solidFill>
                <a:effectLst/>
                <a:uFillTx/>
                <a:latin typeface="Arial"/>
              </a:endParaRPr>
            </a:p>
          </p:txBody>
        </p:sp>
      </p:grpSp>
      <p:sp>
        <p:nvSpPr>
          <p:cNvPr id="14" name="PlaceHolder 4"/>
          <p:cNvSpPr>
            <a:spLocks noGrp="1"/>
          </p:cNvSpPr>
          <p:nvPr>
            <p:ph type="sldNum" idx="2"/>
          </p:nvPr>
        </p:nvSpPr>
        <p:spPr>
          <a:xfrm>
            <a:off x="11402640" y="6416640"/>
            <a:ext cx="2451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0950C295-D981-4514-B319-445FEB96ABCE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6_Titelfoli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5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6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92500" lnSpcReduction="9999"/>
          </a:bodyPr>
          <a:lstStyle>
            <a:lvl1pPr indent="0" algn="l">
              <a:buNone/>
              <a:defRPr lang="de-DE" sz="36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de-DE" sz="36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pic>
        <p:nvPicPr>
          <p:cNvPr id="17" name="Google Shape;63;p26" descr="Grafik 6"/>
          <p:cNvPicPr/>
          <p:nvPr/>
        </p:nvPicPr>
        <p:blipFill>
          <a:blip r:embed="rId3"/>
          <a:stretch/>
        </p:blipFill>
        <p:spPr>
          <a:xfrm>
            <a:off x="10081440" y="399240"/>
            <a:ext cx="1792800" cy="70416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18" name="PlaceHolder 2"/>
          <p:cNvSpPr>
            <a:spLocks noGrp="1"/>
          </p:cNvSpPr>
          <p:nvPr>
            <p:ph type="body"/>
          </p:nvPr>
        </p:nvSpPr>
        <p:spPr>
          <a:xfrm>
            <a:off x="6406200" y="1484280"/>
            <a:ext cx="2296080" cy="2296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19" name="PlaceHolder 3"/>
          <p:cNvSpPr>
            <a:spLocks noGrp="1"/>
          </p:cNvSpPr>
          <p:nvPr>
            <p:ph type="body"/>
          </p:nvPr>
        </p:nvSpPr>
        <p:spPr>
          <a:xfrm>
            <a:off x="9351720" y="1484280"/>
            <a:ext cx="2296080" cy="229608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20" name="PlaceHolder 4"/>
          <p:cNvSpPr>
            <a:spLocks noGrp="1"/>
          </p:cNvSpPr>
          <p:nvPr>
            <p:ph type="body"/>
          </p:nvPr>
        </p:nvSpPr>
        <p:spPr>
          <a:xfrm>
            <a:off x="543960" y="1484280"/>
            <a:ext cx="524160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31752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31752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31752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31752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21" name="PlaceHolder 5"/>
          <p:cNvSpPr>
            <a:spLocks noGrp="1"/>
          </p:cNvSpPr>
          <p:nvPr>
            <p:ph type="body"/>
          </p:nvPr>
        </p:nvSpPr>
        <p:spPr>
          <a:xfrm>
            <a:off x="6386040" y="3937320"/>
            <a:ext cx="2316240" cy="10760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34308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34308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34308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22" name="PlaceHolder 6"/>
          <p:cNvSpPr>
            <a:spLocks noGrp="1"/>
          </p:cNvSpPr>
          <p:nvPr>
            <p:ph type="body"/>
          </p:nvPr>
        </p:nvSpPr>
        <p:spPr>
          <a:xfrm>
            <a:off x="9372960" y="3937320"/>
            <a:ext cx="2316240" cy="10760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250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34308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34308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34308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pic>
        <p:nvPicPr>
          <p:cNvPr id="23" name="Google Shape;69;p26" descr="Grafik 2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4" name="PlaceHolder 7"/>
          <p:cNvSpPr>
            <a:spLocks noGrp="1"/>
          </p:cNvSpPr>
          <p:nvPr>
            <p:ph type="sldNum" idx="3"/>
          </p:nvPr>
        </p:nvSpPr>
        <p:spPr>
          <a:xfrm>
            <a:off x="11402640" y="6416640"/>
            <a:ext cx="2451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7DD9373-F441-4C6D-B63C-3EE13223FA81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Leer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5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pic>
        <p:nvPicPr>
          <p:cNvPr id="26" name="Google Shape;72;p27" descr="Grafik 2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7" name="PlaceHolder 1"/>
          <p:cNvSpPr>
            <a:spLocks noGrp="1"/>
          </p:cNvSpPr>
          <p:nvPr>
            <p:ph type="sldNum" idx="4"/>
          </p:nvPr>
        </p:nvSpPr>
        <p:spPr>
          <a:xfrm>
            <a:off x="5892840" y="6233760"/>
            <a:ext cx="28443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763BE82-50F6-4F40-A935-1CBFAB4FCD8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8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29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5156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19999"/>
          </a:bodyPr>
          <a:lstStyle>
            <a:lvl1pPr indent="0" algn="l">
              <a:buNone/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30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555156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47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pic>
        <p:nvPicPr>
          <p:cNvPr id="31" name="Google Shape;13;p16" descr="Grafik 7"/>
          <p:cNvPicPr/>
          <p:nvPr/>
        </p:nvPicPr>
        <p:blipFill>
          <a:blip r:embed="rId3"/>
          <a:srcRect t="33686" r="9034"/>
          <a:stretch/>
        </p:blipFill>
        <p:spPr>
          <a:xfrm>
            <a:off x="4588200" y="0"/>
            <a:ext cx="7603560" cy="653868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2" name="PlaceHolder 3"/>
          <p:cNvSpPr>
            <a:spLocks noGrp="1"/>
          </p:cNvSpPr>
          <p:nvPr>
            <p:ph type="sldNum" idx="5"/>
          </p:nvPr>
        </p:nvSpPr>
        <p:spPr>
          <a:xfrm>
            <a:off x="5892840" y="6233760"/>
            <a:ext cx="28443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75DE80E0-A155-426C-A5D1-5B55A8FCA23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x" preserve="1">
  <p:cSld name="TITLE_AND_BODY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3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4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lnSpcReduction="9999"/>
          </a:bodyPr>
          <a:lstStyle>
            <a:lvl1pPr indent="0" algn="l">
              <a:buNone/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35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1110384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34308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34308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34308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36" name="PlaceHolder 3"/>
          <p:cNvSpPr>
            <a:spLocks noGrp="1"/>
          </p:cNvSpPr>
          <p:nvPr>
            <p:ph type="sldNum" idx="6"/>
          </p:nvPr>
        </p:nvSpPr>
        <p:spPr>
          <a:xfrm>
            <a:off x="11402640" y="6416640"/>
            <a:ext cx="2451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45AAEBC-E8BA-4E3C-A77B-71F55E15B6FA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3_Titelfolie">
    <p:bg>
      <p:bgPr>
        <a:solidFill>
          <a:schemeClr val="accent3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7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38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228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19999"/>
          </a:bodyPr>
          <a:lstStyle>
            <a:lvl1pPr indent="0" algn="l">
              <a:buNone/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39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762228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47500" lnSpcReduction="19999"/>
          </a:bodyPr>
          <a:lstStyle>
            <a:lvl1pPr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228600" algn="l">
              <a:spcBef>
                <a:spcPts val="1134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228600" algn="l">
              <a:spcBef>
                <a:spcPts val="850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228600" algn="l">
              <a:spcBef>
                <a:spcPts val="567"/>
              </a:spcBef>
              <a:buClr>
                <a:srgbClr val="FFFFFF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22860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>
              <a:spcBef>
                <a:spcPts val="283"/>
              </a:spcBef>
              <a:buClr>
                <a:srgbClr val="FFFFFF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pic>
        <p:nvPicPr>
          <p:cNvPr id="40" name="Google Shape;22;p18" descr="Grafik 3"/>
          <p:cNvPicPr/>
          <p:nvPr/>
        </p:nvPicPr>
        <p:blipFill>
          <a:blip r:embed="rId3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1" name="PlaceHolder 3"/>
          <p:cNvSpPr>
            <a:spLocks noGrp="1"/>
          </p:cNvSpPr>
          <p:nvPr>
            <p:ph type="sldNum" idx="7"/>
          </p:nvPr>
        </p:nvSpPr>
        <p:spPr>
          <a:xfrm>
            <a:off x="11402640" y="6416640"/>
            <a:ext cx="2451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CD4EF8E-EA85-4C59-BF38-0EBF413A7240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Zwei Inhal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2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3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524160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55000" lnSpcReduction="19999"/>
          </a:bodyPr>
          <a:lstStyle>
            <a:lvl1pPr indent="0" algn="l">
              <a:buNone/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44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524160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45" name="PlaceHolder 3"/>
          <p:cNvSpPr>
            <a:spLocks noGrp="1"/>
          </p:cNvSpPr>
          <p:nvPr>
            <p:ph type="sldNum" idx="8"/>
          </p:nvPr>
        </p:nvSpPr>
        <p:spPr>
          <a:xfrm>
            <a:off x="11402640" y="6416640"/>
            <a:ext cx="2451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0B9555C-FEFA-4F54-AB7F-6C08979D96B6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sp>
        <p:nvSpPr>
          <p:cNvPr id="46" name="PlaceHolder 4"/>
          <p:cNvSpPr>
            <a:spLocks noGrp="1"/>
          </p:cNvSpPr>
          <p:nvPr>
            <p:ph type="body"/>
          </p:nvPr>
        </p:nvSpPr>
        <p:spPr>
          <a:xfrm>
            <a:off x="6343560" y="849960"/>
            <a:ext cx="5395680" cy="5207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Zwei Inhalt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7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48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lnSpcReduction="9999"/>
          </a:bodyPr>
          <a:lstStyle>
            <a:lvl1pPr indent="0" algn="l">
              <a:buNone/>
              <a:def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de-DE" sz="32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49" name="PlaceHolder 2"/>
          <p:cNvSpPr>
            <a:spLocks noGrp="1"/>
          </p:cNvSpPr>
          <p:nvPr>
            <p:ph type="body"/>
          </p:nvPr>
        </p:nvSpPr>
        <p:spPr>
          <a:xfrm>
            <a:off x="543960" y="1484280"/>
            <a:ext cx="524160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34308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34308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34308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34308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50" name="PlaceHolder 3"/>
          <p:cNvSpPr>
            <a:spLocks noGrp="1"/>
          </p:cNvSpPr>
          <p:nvPr>
            <p:ph type="sldNum" idx="9"/>
          </p:nvPr>
        </p:nvSpPr>
        <p:spPr>
          <a:xfrm>
            <a:off x="11402640" y="6416640"/>
            <a:ext cx="2451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AFD7E0E-1163-473C-AEFE-4DC43A8590AC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2_Titelfoli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1" name="Google Shape;8;p15" descr="Grafik 8" hidden="1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2" name="PlaceHolder 1"/>
          <p:cNvSpPr>
            <a:spLocks noGrp="1"/>
          </p:cNvSpPr>
          <p:nvPr>
            <p:ph type="body"/>
          </p:nvPr>
        </p:nvSpPr>
        <p:spPr>
          <a:xfrm>
            <a:off x="6294600" y="0"/>
            <a:ext cx="5897160" cy="6857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53" name="PlaceHolder 2"/>
          <p:cNvSpPr>
            <a:spLocks noGrp="1"/>
          </p:cNvSpPr>
          <p:nvPr>
            <p:ph type="body"/>
          </p:nvPr>
        </p:nvSpPr>
        <p:spPr>
          <a:xfrm>
            <a:off x="6294600" y="0"/>
            <a:ext cx="5897160" cy="685764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54" name="PlaceHolder 3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5156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19999"/>
          </a:bodyPr>
          <a:lstStyle>
            <a:lvl1pPr indent="0" algn="l">
              <a:buNone/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55" name="PlaceHolder 4"/>
          <p:cNvSpPr>
            <a:spLocks noGrp="1"/>
          </p:cNvSpPr>
          <p:nvPr>
            <p:ph type="body"/>
          </p:nvPr>
        </p:nvSpPr>
        <p:spPr>
          <a:xfrm>
            <a:off x="543960" y="4689360"/>
            <a:ext cx="555156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47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56" name="PlaceHolder 5"/>
          <p:cNvSpPr>
            <a:spLocks noGrp="1"/>
          </p:cNvSpPr>
          <p:nvPr>
            <p:ph type="sldNum" idx="10"/>
          </p:nvPr>
        </p:nvSpPr>
        <p:spPr>
          <a:xfrm>
            <a:off x="5892840" y="6233760"/>
            <a:ext cx="28443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D38419C-EEC1-421E-A394-363A4B9B64AF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1_Titelfolie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7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58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228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19999"/>
          </a:bodyPr>
          <a:lstStyle>
            <a:lvl1pPr indent="0" algn="l">
              <a:buNone/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59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762228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47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60" name="PlaceHolder 3"/>
          <p:cNvSpPr>
            <a:spLocks noGrp="1"/>
          </p:cNvSpPr>
          <p:nvPr>
            <p:ph type="sldNum" idx="11"/>
          </p:nvPr>
        </p:nvSpPr>
        <p:spPr>
          <a:xfrm>
            <a:off x="11402640" y="6416640"/>
            <a:ext cx="2451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6065D8F8-21A1-4965-9601-92265B8CA464}" type="slidenum">
              <a:rPr lang="en-US" sz="1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4_Titelfolie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1" name="Google Shape;8;p15" descr="Grafik 8"/>
          <p:cNvPicPr/>
          <p:nvPr/>
        </p:nvPicPr>
        <p:blipFill>
          <a:blip r:embed="rId2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  <p:sp>
        <p:nvSpPr>
          <p:cNvPr id="62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5156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 fontScale="85000" lnSpcReduction="19999"/>
          </a:bodyPr>
          <a:lstStyle>
            <a:lvl1pPr indent="0" algn="l">
              <a:buNone/>
              <a:def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</a:lstStyle>
          <a:p>
            <a:pPr indent="0" algn="l">
              <a:buNone/>
            </a:pPr>
            <a:r>
              <a:rPr lang="de-DE" sz="44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Titeltextes durch Klicken bearbeiten</a:t>
            </a:r>
          </a:p>
        </p:txBody>
      </p:sp>
      <p:sp>
        <p:nvSpPr>
          <p:cNvPr id="63" name="PlaceHolder 2"/>
          <p:cNvSpPr>
            <a:spLocks noGrp="1"/>
          </p:cNvSpPr>
          <p:nvPr>
            <p:ph type="body"/>
          </p:nvPr>
        </p:nvSpPr>
        <p:spPr>
          <a:xfrm>
            <a:off x="543960" y="4689360"/>
            <a:ext cx="555156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 fontScale="47500" lnSpcReduction="19999"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57200" indent="-2286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914400" lvl="1" indent="-2286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371600" lvl="2" indent="-2286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828800" lvl="3" indent="-2286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286000" lvl="4" indent="-2286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743200" lvl="5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200400" lvl="6" indent="-34308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20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64" name="PlaceHolder 3"/>
          <p:cNvSpPr>
            <a:spLocks noGrp="1"/>
          </p:cNvSpPr>
          <p:nvPr>
            <p:ph type="body"/>
          </p:nvPr>
        </p:nvSpPr>
        <p:spPr>
          <a:xfrm>
            <a:off x="6343560" y="849960"/>
            <a:ext cx="5395680" cy="5207400"/>
          </a:xfrm>
          <a:prstGeom prst="rect">
            <a:avLst/>
          </a:prstGeom>
          <a:noFill/>
          <a:ln w="0">
            <a:noFill/>
          </a:ln>
        </p:spPr>
        <p:txBody>
          <a:bodyPr lIns="90000" tIns="45000" rIns="90000" bIns="45000" anchor="t">
            <a:normAutofit/>
          </a:bodyPr>
          <a:lstStyle>
            <a:lvl1pPr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1pPr>
            <a:lvl2pPr lvl="1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2pPr>
            <a:lvl3pPr lvl="2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3pPr>
            <a:lvl4pPr lvl="3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4pPr>
            <a:lvl5pPr lvl="4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5pPr>
            <a:lvl6pPr lvl="5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6pPr>
            <a:lvl7pPr lvl="6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  <a:def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defRPr>
            </a:lvl7pPr>
          </a:lstStyle>
          <a:p>
            <a:pPr marL="432000" indent="-324000" algn="l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Format des Gliederungstextes durch Klicken bearbeiten</a:t>
            </a:r>
          </a:p>
          <a:p>
            <a:pPr marL="864000" lvl="1" indent="-324000" algn="l">
              <a:spcBef>
                <a:spcPts val="1134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Zweite Gliederungsebene</a:t>
            </a:r>
          </a:p>
          <a:p>
            <a:pPr marL="1296000" lvl="2" indent="-288000" algn="l">
              <a:spcBef>
                <a:spcPts val="850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Dritte Gliederungsebene</a:t>
            </a:r>
          </a:p>
          <a:p>
            <a:pPr marL="1728000" lvl="3" indent="-216000" algn="l">
              <a:spcBef>
                <a:spcPts val="567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Vierte Gliederungsebene</a:t>
            </a:r>
          </a:p>
          <a:p>
            <a:pPr marL="2160000" lvl="4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Fünfte Gliederungsebene</a:t>
            </a:r>
          </a:p>
          <a:p>
            <a:pPr marL="2592000" lvl="5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Sechste Gliederungsebene</a:t>
            </a:r>
          </a:p>
          <a:p>
            <a:pPr marL="3024000" lvl="6" indent="-216000" algn="l">
              <a:spcBef>
                <a:spcPts val="28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de-DE" sz="1800" b="0" u="none" strike="noStrike">
                <a:solidFill>
                  <a:srgbClr val="000000"/>
                </a:solidFill>
                <a:effectLst/>
                <a:uFillTx/>
                <a:latin typeface="Arial"/>
              </a:rPr>
              <a:t>Siebte Gliederungsebene</a:t>
            </a:r>
          </a:p>
        </p:txBody>
      </p:sp>
      <p:sp>
        <p:nvSpPr>
          <p:cNvPr id="65" name="PlaceHolder 4"/>
          <p:cNvSpPr>
            <a:spLocks noGrp="1"/>
          </p:cNvSpPr>
          <p:nvPr>
            <p:ph type="sldNum" idx="12"/>
          </p:nvPr>
        </p:nvSpPr>
        <p:spPr>
          <a:xfrm>
            <a:off x="11402640" y="6416640"/>
            <a:ext cx="2451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356E017E-6B4F-41FA-B920-3DA1E7F9010E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‹Nr.›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theme" Target="../theme/theme1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dk2" tx2="lt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5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6.xml"/><Relationship Id="rId6" Type="http://schemas.openxmlformats.org/officeDocument/2006/relationships/image" Target="../media/image9.png"/><Relationship Id="rId5" Type="http://schemas.openxmlformats.org/officeDocument/2006/relationships/image" Target="../media/image6.png"/><Relationship Id="rId4" Type="http://schemas.openxmlformats.org/officeDocument/2006/relationships/image" Target="../media/image8.png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6.xml"/><Relationship Id="rId4" Type="http://schemas.openxmlformats.org/officeDocument/2006/relationships/image" Target="../media/image10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6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2.svg"/><Relationship Id="rId4" Type="http://schemas.openxmlformats.org/officeDocument/2006/relationships/image" Target="../media/image10.png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6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6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6.xml"/></Relationships>
</file>

<file path=ppt/slides/_rels/slide3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6.xml"/></Relationships>
</file>

<file path=ppt/slides/_rels/slide3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6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555156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34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Reliable Software – </a:t>
            </a:r>
            <a:br>
              <a:rPr sz="3340"/>
            </a:br>
            <a:r>
              <a:rPr lang="en-US" sz="334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Smart Home System</a:t>
            </a:r>
            <a:endParaRPr lang="de-DE" sz="334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3" name="PlaceHolder 2"/>
          <p:cNvSpPr>
            <a:spLocks noGrp="1"/>
          </p:cNvSpPr>
          <p:nvPr>
            <p:ph type="subTitle"/>
          </p:nvPr>
        </p:nvSpPr>
        <p:spPr>
          <a:xfrm>
            <a:off x="543960" y="4689360"/>
            <a:ext cx="555156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0000"/>
                </a:solidFill>
                <a:effectLst/>
                <a:uFillTx/>
                <a:latin typeface="Arial"/>
                <a:ea typeface="Arial"/>
              </a:rPr>
              <a:t>Verena Kipp, Anna-Livia Martin, David Rossel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4" name="Google Shape;80;p1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pic>
        <p:nvPicPr>
          <p:cNvPr id="75" name="Google Shape;81;p1" descr="Grafik 7"/>
          <p:cNvPicPr/>
          <p:nvPr/>
        </p:nvPicPr>
        <p:blipFill>
          <a:blip r:embed="rId3"/>
          <a:stretch/>
        </p:blipFill>
        <p:spPr>
          <a:xfrm>
            <a:off x="10726560" y="399240"/>
            <a:ext cx="1147680" cy="450720"/>
          </a:xfrm>
          <a:prstGeom prst="rect">
            <a:avLst/>
          </a:prstGeom>
          <a:noFill/>
          <a:ln w="0">
            <a:noFill/>
          </a:ln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86;p2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384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-228600" algn="l">
              <a:lnSpc>
                <a:spcPct val="90000"/>
              </a:lnSpc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Motivation &amp; Problemstellung: Zugangskontrollsystem, Beispiel Bernd &amp; Sandmännchen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Grober Gebäude-/Raumplan zur Veranschaulichung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Ankündigung des Vorgehens: drei Verfeinerungsstufen nach Event-B, jeweils formal geprüft mit Alloy (Modellprüfung) und bewiesen mit Lean (Beweis)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Kurzer Überblick über das abstrakte Datenmodell (Person/Bewohner:in/Gast, Ort/Raum/Zimmer/Garten/Tür) — Klassendiagramm aus IDEE.md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89;p2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/>
          <p:cNvSpPr>
            <a:spLocks noGrp="1"/>
          </p:cNvSpPr>
          <p:nvPr>
            <p:ph type="sldNum" idx="16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34D442E-4F9A-4FAD-9DDA-CCD5172D6CD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95;p 2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899604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dirty="0" err="1">
                <a:solidFill>
                  <a:srgbClr val="FFFFFF"/>
                </a:solidFill>
              </a:rPr>
              <a:t>Einleitung</a:t>
            </a:r>
            <a:r>
              <a:rPr lang="en-US" dirty="0">
                <a:solidFill>
                  <a:srgbClr val="FFFFFF"/>
                </a:solidFill>
              </a:rPr>
              <a:t> in das Thema</a:t>
            </a:r>
            <a:endParaRPr lang="de-DE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228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000" dirty="0" err="1">
                <a:solidFill>
                  <a:srgbClr val="FFFFFF"/>
                </a:solidFill>
              </a:rPr>
              <a:t>Übersicht</a:t>
            </a:r>
            <a:r>
              <a:rPr lang="en-US" sz="2000" dirty="0">
                <a:solidFill>
                  <a:srgbClr val="FFFFFF"/>
                </a:solidFill>
              </a:rPr>
              <a:t> </a:t>
            </a:r>
            <a:r>
              <a:rPr lang="en-US" sz="2000" dirty="0" err="1">
                <a:solidFill>
                  <a:srgbClr val="FFFFFF"/>
                </a:solidFill>
              </a:rPr>
              <a:t>Gebäudestruktur</a:t>
            </a:r>
            <a:endParaRPr lang="de-DE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Google Shape;98;p 3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3"/>
          <p:cNvSpPr>
            <a:spLocks noGrp="1"/>
          </p:cNvSpPr>
          <p:nvPr>
            <p:ph type="sldNum" idx="17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D039E2F-FA3D-4078-9441-A1708DB93383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7EBEAF-A006-F7AC-4267-C3A2E20FE2B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86;p2">
            <a:extLst>
              <a:ext uri="{FF2B5EF4-FFF2-40B4-BE49-F238E27FC236}">
                <a16:creationId xmlns:a16="http://schemas.microsoft.com/office/drawing/2014/main" id="{0D04043A-F9AA-47D7-F870-8098A204468D}"/>
              </a:ext>
            </a:extLst>
          </p:cNvPr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1">
            <a:extLst>
              <a:ext uri="{FF2B5EF4-FFF2-40B4-BE49-F238E27FC236}">
                <a16:creationId xmlns:a16="http://schemas.microsoft.com/office/drawing/2014/main" id="{D3D835B5-77E5-4D0B-DE1A-70BE83DDDC9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Grobes Thema</a:t>
            </a:r>
            <a:endParaRPr lang="de-DE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89;p2">
            <a:extLst>
              <a:ext uri="{FF2B5EF4-FFF2-40B4-BE49-F238E27FC236}">
                <a16:creationId xmlns:a16="http://schemas.microsoft.com/office/drawing/2014/main" id="{020CAD8C-0FB1-A18B-53C0-D0112BF1FCCF}"/>
              </a:ext>
            </a:extLst>
          </p:cNvPr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>
            <a:extLst>
              <a:ext uri="{FF2B5EF4-FFF2-40B4-BE49-F238E27FC236}">
                <a16:creationId xmlns:a16="http://schemas.microsoft.com/office/drawing/2014/main" id="{BFEB3323-8C7C-F4E7-0197-2DC58167B8CB}"/>
              </a:ext>
            </a:extLst>
          </p:cNvPr>
          <p:cNvSpPr>
            <a:spLocks noGrp="1"/>
          </p:cNvSpPr>
          <p:nvPr>
            <p:ph type="sldNum" idx="16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34D442E-4F9A-4FAD-9DDA-CCD5172D6CD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82F8EAC2-3A5B-D6B2-6807-A85EB274F8A0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101147" y="1268280"/>
            <a:ext cx="3989465" cy="475352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98613119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E8CC94D-EFB2-230B-056A-333CE24986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86;p2">
            <a:extLst>
              <a:ext uri="{FF2B5EF4-FFF2-40B4-BE49-F238E27FC236}">
                <a16:creationId xmlns:a16="http://schemas.microsoft.com/office/drawing/2014/main" id="{B3CAD96C-4F43-BE3A-77B8-BBAAEF1C9D7A}"/>
              </a:ext>
            </a:extLst>
          </p:cNvPr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1">
            <a:extLst>
              <a:ext uri="{FF2B5EF4-FFF2-40B4-BE49-F238E27FC236}">
                <a16:creationId xmlns:a16="http://schemas.microsoft.com/office/drawing/2014/main" id="{F34F8823-A2C1-930E-47D4-58F0F895FC8C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Ziel</a:t>
            </a:r>
            <a:endParaRPr lang="de-DE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>
            <a:extLst>
              <a:ext uri="{FF2B5EF4-FFF2-40B4-BE49-F238E27FC236}">
                <a16:creationId xmlns:a16="http://schemas.microsoft.com/office/drawing/2014/main" id="{0F1D5D5D-5F27-2B52-E3A8-59668999B69B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43960" y="1484280"/>
            <a:ext cx="1110384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-228600" algn="l">
              <a:lnSpc>
                <a:spcPct val="90000"/>
              </a:lnSpc>
              <a:buClr>
                <a:srgbClr val="E00514"/>
              </a:buClr>
              <a:buFont typeface="Arial"/>
              <a:buChar char="•"/>
            </a:pPr>
            <a:r>
              <a:rPr lang="de-DE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Bewegungsmodellierung in Räumen von Unterschiedlichen Personen mit unterschiedlichen Berechtigungen</a:t>
            </a:r>
            <a:endParaRPr lang="de-DE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89;p2">
            <a:extLst>
              <a:ext uri="{FF2B5EF4-FFF2-40B4-BE49-F238E27FC236}">
                <a16:creationId xmlns:a16="http://schemas.microsoft.com/office/drawing/2014/main" id="{48DFFA9E-82FC-5F35-2133-1FDE5F503DEB}"/>
              </a:ext>
            </a:extLst>
          </p:cNvPr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>
            <a:extLst>
              <a:ext uri="{FF2B5EF4-FFF2-40B4-BE49-F238E27FC236}">
                <a16:creationId xmlns:a16="http://schemas.microsoft.com/office/drawing/2014/main" id="{749B2D5B-6BEC-F0FA-9234-BA24D2363100}"/>
              </a:ext>
            </a:extLst>
          </p:cNvPr>
          <p:cNvSpPr>
            <a:spLocks noGrp="1"/>
          </p:cNvSpPr>
          <p:nvPr>
            <p:ph type="sldNum" idx="16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34D442E-4F9A-4FAD-9DDA-CCD5172D6CD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81399271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C06022B-22AB-C3F9-704B-A3908EB6918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95;p 2">
            <a:extLst>
              <a:ext uri="{FF2B5EF4-FFF2-40B4-BE49-F238E27FC236}">
                <a16:creationId xmlns:a16="http://schemas.microsoft.com/office/drawing/2014/main" id="{8A0B82B9-C4DA-1D25-9A51-5C4A5A7491F5}"/>
              </a:ext>
            </a:extLst>
          </p:cNvPr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1">
            <a:extLst>
              <a:ext uri="{FF2B5EF4-FFF2-40B4-BE49-F238E27FC236}">
                <a16:creationId xmlns:a16="http://schemas.microsoft.com/office/drawing/2014/main" id="{9D49B0EB-66FE-E178-232B-9A2FE4B3FC7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3681360"/>
            <a:ext cx="899604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Spezifikation</a:t>
            </a:r>
            <a:endParaRPr lang="de-DE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>
            <a:extLst>
              <a:ext uri="{FF2B5EF4-FFF2-40B4-BE49-F238E27FC236}">
                <a16:creationId xmlns:a16="http://schemas.microsoft.com/office/drawing/2014/main" id="{923DEC76-65D3-4610-35F5-958DBA4C6990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43960" y="4689360"/>
            <a:ext cx="762228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000" b="0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Anforderungen</a:t>
            </a:r>
            <a:r>
              <a:rPr lang="en-US" sz="2000" dirty="0">
                <a:solidFill>
                  <a:srgbClr val="FFFFFF"/>
                </a:solidFill>
                <a:ea typeface="Arial"/>
              </a:rPr>
              <a:t> für die</a:t>
            </a:r>
            <a:r>
              <a:rPr lang="en-US" sz="2000" b="0" u="none" strike="noStrike" dirty="0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2000" b="0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Umsetzung</a:t>
            </a:r>
            <a:r>
              <a:rPr lang="en-US" sz="2000" b="0" u="none" strike="noStrike" dirty="0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in Alloy und Lean</a:t>
            </a:r>
            <a:endParaRPr lang="de-DE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4" name="Google Shape;98;p 3">
            <a:extLst>
              <a:ext uri="{FF2B5EF4-FFF2-40B4-BE49-F238E27FC236}">
                <a16:creationId xmlns:a16="http://schemas.microsoft.com/office/drawing/2014/main" id="{ACA08943-0C8B-403C-FEFB-FB0401C5F0BE}"/>
              </a:ext>
            </a:extLst>
          </p:cNvPr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3">
            <a:extLst>
              <a:ext uri="{FF2B5EF4-FFF2-40B4-BE49-F238E27FC236}">
                <a16:creationId xmlns:a16="http://schemas.microsoft.com/office/drawing/2014/main" id="{F3B45895-07C9-3341-8C85-511F0D226E1F}"/>
              </a:ext>
            </a:extLst>
          </p:cNvPr>
          <p:cNvSpPr>
            <a:spLocks noGrp="1"/>
          </p:cNvSpPr>
          <p:nvPr>
            <p:ph type="sldNum" idx="17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D039E2F-FA3D-4078-9441-A1708DB93383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6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467278042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D186380-B48A-694F-F6D5-15063BCE8B5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6" name="Google Shape;86;p2">
            <a:extLst>
              <a:ext uri="{FF2B5EF4-FFF2-40B4-BE49-F238E27FC236}">
                <a16:creationId xmlns:a16="http://schemas.microsoft.com/office/drawing/2014/main" id="{B53063F6-8AF7-1BB1-B63D-ACA2EBCE8C90}"/>
              </a:ext>
            </a:extLst>
          </p:cNvPr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7" name="PlaceHolder 1">
            <a:extLst>
              <a:ext uri="{FF2B5EF4-FFF2-40B4-BE49-F238E27FC236}">
                <a16:creationId xmlns:a16="http://schemas.microsoft.com/office/drawing/2014/main" id="{599D93B7-05E4-10A6-4755-FB93572F95C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Spezifikationsschritte</a:t>
            </a:r>
            <a:endParaRPr lang="de-DE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8" name="PlaceHolder 2">
            <a:extLst>
              <a:ext uri="{FF2B5EF4-FFF2-40B4-BE49-F238E27FC236}">
                <a16:creationId xmlns:a16="http://schemas.microsoft.com/office/drawing/2014/main" id="{8331AB12-CFD6-EB98-D2A2-2D17E2E5AEFF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43960" y="1484280"/>
            <a:ext cx="1110384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-228600" algn="l">
              <a:lnSpc>
                <a:spcPct val="90000"/>
              </a:lnSpc>
              <a:buClr>
                <a:srgbClr val="E00514"/>
              </a:buClr>
              <a:buFont typeface="Arial"/>
              <a:buChar char="•"/>
            </a:pPr>
            <a:r>
              <a:rPr lang="de-DE" sz="20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Hier die Spezifikationsschritte für die Zielerreichung</a:t>
            </a:r>
            <a:endParaRPr lang="de-DE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79" name="Google Shape;89;p2">
            <a:extLst>
              <a:ext uri="{FF2B5EF4-FFF2-40B4-BE49-F238E27FC236}">
                <a16:creationId xmlns:a16="http://schemas.microsoft.com/office/drawing/2014/main" id="{A67037E5-DEE3-1352-E152-17073BE267FB}"/>
              </a:ext>
            </a:extLst>
          </p:cNvPr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0" name="PlaceHolder 3">
            <a:extLst>
              <a:ext uri="{FF2B5EF4-FFF2-40B4-BE49-F238E27FC236}">
                <a16:creationId xmlns:a16="http://schemas.microsoft.com/office/drawing/2014/main" id="{923011CD-F7D2-AC7B-2F07-3F86B1F44CC6}"/>
              </a:ext>
            </a:extLst>
          </p:cNvPr>
          <p:cNvSpPr>
            <a:spLocks noGrp="1"/>
          </p:cNvSpPr>
          <p:nvPr>
            <p:ph type="sldNum" idx="16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34D442E-4F9A-4FAD-9DDA-CCD5172D6CD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7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61947824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4A9678D-8795-B997-5C0E-FB23CDA7408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95;p 2">
            <a:extLst>
              <a:ext uri="{FF2B5EF4-FFF2-40B4-BE49-F238E27FC236}">
                <a16:creationId xmlns:a16="http://schemas.microsoft.com/office/drawing/2014/main" id="{93329BC3-D652-01B5-D353-306E822C5688}"/>
              </a:ext>
            </a:extLst>
          </p:cNvPr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2" name="PlaceHolder 1">
            <a:extLst>
              <a:ext uri="{FF2B5EF4-FFF2-40B4-BE49-F238E27FC236}">
                <a16:creationId xmlns:a16="http://schemas.microsoft.com/office/drawing/2014/main" id="{219713C6-BC17-935B-73AB-B50E6B25D80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3681360"/>
            <a:ext cx="899604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Umsetzung</a:t>
            </a:r>
            <a:r>
              <a:rPr lang="en-US" sz="4400" b="0" u="none" strike="noStrike" dirty="0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in Alloy</a:t>
            </a:r>
            <a:endParaRPr lang="de-DE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3" name="PlaceHolder 2">
            <a:extLst>
              <a:ext uri="{FF2B5EF4-FFF2-40B4-BE49-F238E27FC236}">
                <a16:creationId xmlns:a16="http://schemas.microsoft.com/office/drawing/2014/main" id="{D2CDD6FC-DABC-927C-2613-C18E40487D3B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43960" y="4689360"/>
            <a:ext cx="762228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de-DE" sz="2000" dirty="0">
                <a:solidFill>
                  <a:schemeClr val="bg1"/>
                </a:solidFill>
              </a:rPr>
              <a:t>Event B: Aufbau und schrittweise Verfeinerung des Modells</a:t>
            </a:r>
            <a:endParaRPr lang="de-DE" sz="2000" b="0" u="none" strike="noStrike" dirty="0">
              <a:solidFill>
                <a:schemeClr val="bg1"/>
              </a:solidFill>
              <a:effectLst/>
              <a:uFillTx/>
              <a:latin typeface="Arial"/>
            </a:endParaRPr>
          </a:p>
        </p:txBody>
      </p:sp>
      <p:sp>
        <p:nvSpPr>
          <p:cNvPr id="84" name="Google Shape;98;p 3">
            <a:extLst>
              <a:ext uri="{FF2B5EF4-FFF2-40B4-BE49-F238E27FC236}">
                <a16:creationId xmlns:a16="http://schemas.microsoft.com/office/drawing/2014/main" id="{F698B1F2-A4FC-01ED-717B-887CC0B4B253}"/>
              </a:ext>
            </a:extLst>
          </p:cNvPr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85" name="PlaceHolder 3">
            <a:extLst>
              <a:ext uri="{FF2B5EF4-FFF2-40B4-BE49-F238E27FC236}">
                <a16:creationId xmlns:a16="http://schemas.microsoft.com/office/drawing/2014/main" id="{D6E5B55C-131D-DF30-1C6D-D85529170E5D}"/>
              </a:ext>
            </a:extLst>
          </p:cNvPr>
          <p:cNvSpPr>
            <a:spLocks noGrp="1"/>
          </p:cNvSpPr>
          <p:nvPr>
            <p:ph type="sldNum" idx="17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D039E2F-FA3D-4078-9441-A1708DB93383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8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689021569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 1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</a:t>
            </a:r>
            <a:r>
              <a:rPr lang="en-US" sz="32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der </a:t>
            </a:r>
            <a:r>
              <a:rPr lang="en-US" sz="32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Objekte</a:t>
            </a:r>
            <a:endParaRPr lang="de-DE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89;p 2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/>
          <p:cNvSpPr>
            <a:spLocks noGrp="1"/>
          </p:cNvSpPr>
          <p:nvPr>
            <p:ph type="sldNum" idx="18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EEA979D-031F-4D85-A550-B6BF4D908A5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9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A47F0B3C-AAFB-5FB9-30A6-9A88B7EC7C36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3768" y="2561623"/>
            <a:ext cx="4982270" cy="1952898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CD905DBE-699E-C0B6-8BC5-79FE81667AE7}"/>
              </a:ext>
            </a:extLst>
          </p:cNvPr>
          <p:cNvSpPr txBox="1"/>
          <p:nvPr/>
        </p:nvSpPr>
        <p:spPr>
          <a:xfrm>
            <a:off x="589680" y="1268280"/>
            <a:ext cx="4251109" cy="4324261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 err="1"/>
              <a:t>abstract</a:t>
            </a:r>
            <a:r>
              <a:rPr lang="de-DE" sz="1100" dirty="0"/>
              <a:t> </a:t>
            </a:r>
            <a:r>
              <a:rPr lang="de-DE" sz="1100" dirty="0" err="1"/>
              <a:t>sig</a:t>
            </a:r>
            <a:r>
              <a:rPr lang="de-DE" sz="1100" dirty="0"/>
              <a:t> PERSON{}</a:t>
            </a:r>
          </a:p>
          <a:p>
            <a:endParaRPr lang="de-DE" sz="1100" dirty="0"/>
          </a:p>
          <a:p>
            <a:r>
              <a:rPr lang="de-DE" sz="1100" dirty="0" err="1"/>
              <a:t>sig</a:t>
            </a:r>
            <a:r>
              <a:rPr lang="de-DE" sz="1100" dirty="0"/>
              <a:t> BEWOHNER </a:t>
            </a:r>
            <a:r>
              <a:rPr lang="de-DE" sz="1100" dirty="0" err="1"/>
              <a:t>extends</a:t>
            </a:r>
            <a:r>
              <a:rPr lang="de-DE" sz="1100" dirty="0"/>
              <a:t> PERSON {}</a:t>
            </a:r>
          </a:p>
          <a:p>
            <a:endParaRPr lang="de-DE" sz="1100" dirty="0"/>
          </a:p>
          <a:p>
            <a:r>
              <a:rPr lang="de-DE" sz="1100" dirty="0" err="1"/>
              <a:t>sig</a:t>
            </a:r>
            <a:r>
              <a:rPr lang="de-DE" sz="1100" dirty="0"/>
              <a:t> GAST </a:t>
            </a:r>
            <a:r>
              <a:rPr lang="de-DE" sz="1100" dirty="0" err="1"/>
              <a:t>extends</a:t>
            </a:r>
            <a:r>
              <a:rPr lang="de-DE" sz="1100" dirty="0"/>
              <a:t> PERSON {}</a:t>
            </a:r>
          </a:p>
          <a:p>
            <a:endParaRPr lang="de-DE" sz="1100" dirty="0"/>
          </a:p>
          <a:p>
            <a:r>
              <a:rPr lang="de-DE" sz="1100" dirty="0" err="1"/>
              <a:t>abstract</a:t>
            </a:r>
            <a:r>
              <a:rPr lang="de-DE" sz="1100" dirty="0"/>
              <a:t> </a:t>
            </a:r>
            <a:r>
              <a:rPr lang="de-DE" sz="1100" dirty="0" err="1"/>
              <a:t>sig</a:t>
            </a:r>
            <a:r>
              <a:rPr lang="de-DE" sz="1100" dirty="0"/>
              <a:t> ORT {</a:t>
            </a:r>
          </a:p>
          <a:p>
            <a:r>
              <a:rPr lang="de-DE" sz="1100" dirty="0"/>
              <a:t>	</a:t>
            </a:r>
            <a:r>
              <a:rPr lang="de-DE" sz="1100" dirty="0" err="1"/>
              <a:t>var</a:t>
            </a:r>
            <a:r>
              <a:rPr lang="de-DE" sz="1100" dirty="0"/>
              <a:t> </a:t>
            </a:r>
            <a:r>
              <a:rPr lang="de-DE" sz="1100" dirty="0" err="1"/>
              <a:t>personenImOrtGrob</a:t>
            </a:r>
            <a:r>
              <a:rPr lang="de-DE" sz="1100" dirty="0"/>
              <a:t>: </a:t>
            </a:r>
            <a:r>
              <a:rPr lang="de-DE" sz="1100" dirty="0" err="1"/>
              <a:t>set</a:t>
            </a:r>
            <a:r>
              <a:rPr lang="de-DE" sz="1100" dirty="0"/>
              <a:t> PERSON,</a:t>
            </a:r>
          </a:p>
          <a:p>
            <a:r>
              <a:rPr lang="de-DE" sz="1100" dirty="0"/>
              <a:t>	</a:t>
            </a:r>
            <a:r>
              <a:rPr lang="de-DE" sz="1100" dirty="0" err="1"/>
              <a:t>var</a:t>
            </a:r>
            <a:r>
              <a:rPr lang="de-DE" sz="1100" dirty="0"/>
              <a:t> </a:t>
            </a:r>
            <a:r>
              <a:rPr lang="de-DE" sz="1100" dirty="0" err="1"/>
              <a:t>personenImOrtFein</a:t>
            </a:r>
            <a:r>
              <a:rPr lang="de-DE" sz="1100" dirty="0"/>
              <a:t>: </a:t>
            </a:r>
            <a:r>
              <a:rPr lang="de-DE" sz="1100" dirty="0" err="1"/>
              <a:t>set</a:t>
            </a:r>
            <a:r>
              <a:rPr lang="de-DE" sz="1100" dirty="0"/>
              <a:t> PERSON,</a:t>
            </a:r>
          </a:p>
          <a:p>
            <a:r>
              <a:rPr lang="de-DE" sz="1100" dirty="0"/>
              <a:t>	</a:t>
            </a:r>
            <a:r>
              <a:rPr lang="de-DE" sz="1100" dirty="0" err="1"/>
              <a:t>nachbarn</a:t>
            </a:r>
            <a:r>
              <a:rPr lang="de-DE" sz="1100" dirty="0"/>
              <a:t>: </a:t>
            </a:r>
            <a:r>
              <a:rPr lang="de-DE" sz="1100" dirty="0" err="1"/>
              <a:t>some</a:t>
            </a:r>
            <a:r>
              <a:rPr lang="de-DE" sz="1100" dirty="0"/>
              <a:t> ORT</a:t>
            </a:r>
          </a:p>
          <a:p>
            <a:r>
              <a:rPr lang="de-DE" sz="1100" dirty="0"/>
              <a:t>}</a:t>
            </a:r>
          </a:p>
          <a:p>
            <a:endParaRPr lang="de-DE" sz="1100" dirty="0"/>
          </a:p>
          <a:p>
            <a:r>
              <a:rPr lang="de-DE" sz="1100" dirty="0" err="1"/>
              <a:t>sig</a:t>
            </a:r>
            <a:r>
              <a:rPr lang="de-DE" sz="1100" dirty="0"/>
              <a:t> RAUM </a:t>
            </a:r>
            <a:r>
              <a:rPr lang="de-DE" sz="1100" dirty="0" err="1"/>
              <a:t>extends</a:t>
            </a:r>
            <a:r>
              <a:rPr lang="de-DE" sz="1100" dirty="0"/>
              <a:t> ORT {}{</a:t>
            </a:r>
          </a:p>
          <a:p>
            <a:r>
              <a:rPr lang="de-DE" sz="1100" dirty="0"/>
              <a:t>	</a:t>
            </a:r>
            <a:r>
              <a:rPr lang="de-DE" sz="1100" dirty="0" err="1"/>
              <a:t>nachbarn</a:t>
            </a:r>
            <a:r>
              <a:rPr lang="de-DE" sz="1100" dirty="0"/>
              <a:t> in TUER</a:t>
            </a:r>
          </a:p>
          <a:p>
            <a:r>
              <a:rPr lang="de-DE" sz="1100" dirty="0"/>
              <a:t>}</a:t>
            </a:r>
          </a:p>
          <a:p>
            <a:endParaRPr lang="de-DE" sz="1100" dirty="0"/>
          </a:p>
          <a:p>
            <a:r>
              <a:rPr lang="de-DE" sz="1100" dirty="0" err="1"/>
              <a:t>sig</a:t>
            </a:r>
            <a:r>
              <a:rPr lang="de-DE" sz="1100" dirty="0"/>
              <a:t> GARTEN </a:t>
            </a:r>
            <a:r>
              <a:rPr lang="de-DE" sz="1100" dirty="0" err="1"/>
              <a:t>extends</a:t>
            </a:r>
            <a:r>
              <a:rPr lang="de-DE" sz="1100" dirty="0"/>
              <a:t> RAUM{}{</a:t>
            </a:r>
          </a:p>
          <a:p>
            <a:r>
              <a:rPr lang="de-DE" sz="1100" dirty="0"/>
              <a:t>	</a:t>
            </a:r>
            <a:r>
              <a:rPr lang="de-DE" sz="1100" dirty="0" err="1"/>
              <a:t>one</a:t>
            </a:r>
            <a:r>
              <a:rPr lang="de-DE" sz="1100" dirty="0"/>
              <a:t> </a:t>
            </a:r>
            <a:r>
              <a:rPr lang="de-DE" sz="1100" dirty="0" err="1"/>
              <a:t>nachbarn</a:t>
            </a:r>
            <a:r>
              <a:rPr lang="de-DE" sz="1100" dirty="0"/>
              <a:t> </a:t>
            </a:r>
          </a:p>
          <a:p>
            <a:r>
              <a:rPr lang="de-DE" sz="1100" dirty="0"/>
              <a:t>}</a:t>
            </a:r>
          </a:p>
          <a:p>
            <a:endParaRPr lang="de-DE" sz="1100" dirty="0"/>
          </a:p>
          <a:p>
            <a:r>
              <a:rPr lang="de-DE" sz="1100" dirty="0" err="1"/>
              <a:t>sig</a:t>
            </a:r>
            <a:r>
              <a:rPr lang="de-DE" sz="1100" dirty="0"/>
              <a:t> TUER </a:t>
            </a:r>
            <a:r>
              <a:rPr lang="de-DE" sz="1100" dirty="0" err="1"/>
              <a:t>extends</a:t>
            </a:r>
            <a:r>
              <a:rPr lang="de-DE" sz="1100" dirty="0"/>
              <a:t> ORT{</a:t>
            </a:r>
          </a:p>
          <a:p>
            <a:r>
              <a:rPr lang="de-DE" sz="1100" dirty="0"/>
              <a:t>	</a:t>
            </a:r>
            <a:r>
              <a:rPr lang="de-DE" sz="1100" dirty="0" err="1"/>
              <a:t>var</a:t>
            </a:r>
            <a:r>
              <a:rPr lang="de-DE" sz="1100" dirty="0"/>
              <a:t> offen: </a:t>
            </a:r>
            <a:r>
              <a:rPr lang="de-DE" sz="1100" dirty="0" err="1"/>
              <a:t>one</a:t>
            </a:r>
            <a:r>
              <a:rPr lang="de-DE" sz="1100" dirty="0"/>
              <a:t> Bool</a:t>
            </a:r>
          </a:p>
          <a:p>
            <a:r>
              <a:rPr lang="de-DE" sz="1100" dirty="0"/>
              <a:t>}{</a:t>
            </a:r>
          </a:p>
          <a:p>
            <a:r>
              <a:rPr lang="de-DE" sz="1100" dirty="0"/>
              <a:t>	</a:t>
            </a:r>
            <a:r>
              <a:rPr lang="de-DE" sz="1100" dirty="0" err="1"/>
              <a:t>nachbarn</a:t>
            </a:r>
            <a:r>
              <a:rPr lang="de-DE" sz="1100" dirty="0"/>
              <a:t> in RAUM</a:t>
            </a:r>
          </a:p>
          <a:p>
            <a:r>
              <a:rPr lang="de-DE" sz="1100" dirty="0"/>
              <a:t>}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243383-F72F-C5A9-95DB-C4709F2918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 1">
            <a:extLst>
              <a:ext uri="{FF2B5EF4-FFF2-40B4-BE49-F238E27FC236}">
                <a16:creationId xmlns:a16="http://schemas.microsoft.com/office/drawing/2014/main" id="{15C353D3-9517-DA42-F37B-02235FA94E23}"/>
              </a:ext>
            </a:extLst>
          </p:cNvPr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1">
            <a:extLst>
              <a:ext uri="{FF2B5EF4-FFF2-40B4-BE49-F238E27FC236}">
                <a16:creationId xmlns:a16="http://schemas.microsoft.com/office/drawing/2014/main" id="{2F8B9995-FB16-90D9-E3EB-F95D633DD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</a:t>
            </a:r>
            <a:r>
              <a:rPr lang="en-US" sz="32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der </a:t>
            </a:r>
            <a:r>
              <a:rPr lang="en-US" sz="32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Axiome</a:t>
            </a:r>
            <a:endParaRPr lang="de-DE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89;p 2">
            <a:extLst>
              <a:ext uri="{FF2B5EF4-FFF2-40B4-BE49-F238E27FC236}">
                <a16:creationId xmlns:a16="http://schemas.microsoft.com/office/drawing/2014/main" id="{F88F7066-F365-351A-27C9-7935DA025176}"/>
              </a:ext>
            </a:extLst>
          </p:cNvPr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>
            <a:extLst>
              <a:ext uri="{FF2B5EF4-FFF2-40B4-BE49-F238E27FC236}">
                <a16:creationId xmlns:a16="http://schemas.microsoft.com/office/drawing/2014/main" id="{09871EBC-1FE5-1A5F-65D2-6ECE20C272A0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EEA979D-031F-4D85-A550-B6BF4D908A5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11" name="Grafik 10">
            <a:extLst>
              <a:ext uri="{FF2B5EF4-FFF2-40B4-BE49-F238E27FC236}">
                <a16:creationId xmlns:a16="http://schemas.microsoft.com/office/drawing/2014/main" id="{501D5958-F2DE-5B1C-43C0-B57ABFCF4177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3768" y="2561623"/>
            <a:ext cx="4982270" cy="1952898"/>
          </a:xfrm>
          <a:prstGeom prst="rect">
            <a:avLst/>
          </a:prstGeom>
        </p:spPr>
      </p:pic>
      <p:sp>
        <p:nvSpPr>
          <p:cNvPr id="12" name="Textfeld 11">
            <a:extLst>
              <a:ext uri="{FF2B5EF4-FFF2-40B4-BE49-F238E27FC236}">
                <a16:creationId xmlns:a16="http://schemas.microsoft.com/office/drawing/2014/main" id="{2229773F-03D3-9ACB-249B-1438FC128774}"/>
              </a:ext>
            </a:extLst>
          </p:cNvPr>
          <p:cNvSpPr txBox="1"/>
          <p:nvPr/>
        </p:nvSpPr>
        <p:spPr>
          <a:xfrm>
            <a:off x="543960" y="1268280"/>
            <a:ext cx="5506320" cy="517064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 err="1"/>
              <a:t>fact</a:t>
            </a:r>
            <a:r>
              <a:rPr lang="de-DE" sz="1100" dirty="0"/>
              <a:t> </a:t>
            </a:r>
            <a:r>
              <a:rPr lang="de-DE" sz="1100" dirty="0" err="1"/>
              <a:t>genauEinenGarten</a:t>
            </a:r>
            <a:r>
              <a:rPr lang="de-DE" sz="1100" dirty="0"/>
              <a:t> {</a:t>
            </a:r>
          </a:p>
          <a:p>
            <a:r>
              <a:rPr lang="de-DE" sz="1100" dirty="0"/>
              <a:t>	#GARTEN = 1</a:t>
            </a:r>
          </a:p>
          <a:p>
            <a:r>
              <a:rPr lang="de-DE" sz="1100" dirty="0"/>
              <a:t>}</a:t>
            </a:r>
          </a:p>
          <a:p>
            <a:endParaRPr lang="de-DE" sz="1100" dirty="0"/>
          </a:p>
          <a:p>
            <a:r>
              <a:rPr lang="de-DE" sz="1100" dirty="0" err="1"/>
              <a:t>fact</a:t>
            </a:r>
            <a:r>
              <a:rPr lang="de-DE" sz="1100" dirty="0"/>
              <a:t> </a:t>
            </a:r>
            <a:r>
              <a:rPr lang="de-DE" sz="1100" dirty="0" err="1"/>
              <a:t>alleRaumeInEinemGebaeude</a:t>
            </a:r>
            <a:r>
              <a:rPr lang="de-DE" sz="1100" dirty="0"/>
              <a:t> {</a:t>
            </a:r>
          </a:p>
          <a:p>
            <a:r>
              <a:rPr lang="de-DE" sz="1100" dirty="0"/>
              <a:t>	all r: RAUM | r in GARTEN.^</a:t>
            </a:r>
            <a:r>
              <a:rPr lang="de-DE" sz="1100" dirty="0" err="1"/>
              <a:t>nachbarn</a:t>
            </a:r>
            <a:endParaRPr lang="de-DE" sz="1100" dirty="0"/>
          </a:p>
          <a:p>
            <a:r>
              <a:rPr lang="de-DE" sz="1100" dirty="0"/>
              <a:t>}</a:t>
            </a:r>
          </a:p>
          <a:p>
            <a:endParaRPr lang="de-DE" sz="1100" dirty="0"/>
          </a:p>
          <a:p>
            <a:r>
              <a:rPr lang="de-DE" sz="1100" dirty="0" err="1"/>
              <a:t>fact</a:t>
            </a:r>
            <a:r>
              <a:rPr lang="de-DE" sz="1100" dirty="0"/>
              <a:t> </a:t>
            </a:r>
            <a:r>
              <a:rPr lang="de-DE" sz="1100" dirty="0" err="1"/>
              <a:t>einePersonInGenauEinemOrt</a:t>
            </a:r>
            <a:r>
              <a:rPr lang="de-DE" sz="1100" dirty="0"/>
              <a:t> {</a:t>
            </a:r>
          </a:p>
          <a:p>
            <a:r>
              <a:rPr lang="de-DE" sz="1100" dirty="0"/>
              <a:t>	</a:t>
            </a:r>
            <a:r>
              <a:rPr lang="de-DE" sz="1100" dirty="0" err="1"/>
              <a:t>always</a:t>
            </a:r>
            <a:r>
              <a:rPr lang="de-DE" sz="1100" dirty="0"/>
              <a:t> (all p: PERSON | #(p.~personenImOrtGrob) = 1 and #(p.~personenImOrtFein) = 1)</a:t>
            </a:r>
          </a:p>
          <a:p>
            <a:r>
              <a:rPr lang="de-DE" sz="1100" dirty="0"/>
              <a:t>}</a:t>
            </a:r>
          </a:p>
          <a:p>
            <a:endParaRPr lang="de-DE" sz="1100" dirty="0"/>
          </a:p>
          <a:p>
            <a:r>
              <a:rPr lang="de-DE" sz="1100" dirty="0" err="1"/>
              <a:t>fact</a:t>
            </a:r>
            <a:r>
              <a:rPr lang="de-DE" sz="1100" dirty="0"/>
              <a:t> </a:t>
            </a:r>
            <a:r>
              <a:rPr lang="de-DE" sz="1100" dirty="0" err="1"/>
              <a:t>tuerImmerOffenWennPersonEnthalten</a:t>
            </a:r>
            <a:r>
              <a:rPr lang="de-DE" sz="1100" dirty="0"/>
              <a:t>{</a:t>
            </a:r>
          </a:p>
          <a:p>
            <a:r>
              <a:rPr lang="de-DE" sz="1100" dirty="0"/>
              <a:t>	</a:t>
            </a:r>
            <a:r>
              <a:rPr lang="de-DE" sz="1100" dirty="0" err="1"/>
              <a:t>always</a:t>
            </a:r>
            <a:r>
              <a:rPr lang="de-DE" sz="1100" dirty="0"/>
              <a:t> all t: TUER |  #(t.personenImOrtFein) &gt;= 1 </a:t>
            </a:r>
            <a:r>
              <a:rPr lang="de-DE" sz="1100" dirty="0" err="1"/>
              <a:t>implies</a:t>
            </a:r>
            <a:r>
              <a:rPr lang="de-DE" sz="1100" dirty="0"/>
              <a:t> </a:t>
            </a:r>
            <a:r>
              <a:rPr lang="de-DE" sz="1100" dirty="0" err="1"/>
              <a:t>t.offen</a:t>
            </a:r>
            <a:r>
              <a:rPr lang="de-DE" sz="1100" dirty="0"/>
              <a:t> = True</a:t>
            </a:r>
          </a:p>
          <a:p>
            <a:r>
              <a:rPr lang="de-DE" sz="1100" dirty="0"/>
              <a:t>}</a:t>
            </a:r>
          </a:p>
          <a:p>
            <a:endParaRPr lang="de-DE" sz="1100" dirty="0"/>
          </a:p>
          <a:p>
            <a:r>
              <a:rPr lang="de-DE" sz="1100" dirty="0" err="1"/>
              <a:t>fact</a:t>
            </a:r>
            <a:r>
              <a:rPr lang="de-DE" sz="1100" dirty="0"/>
              <a:t> </a:t>
            </a:r>
            <a:r>
              <a:rPr lang="de-DE" sz="1100" dirty="0" err="1"/>
              <a:t>personKannNurDurchOffeneTürGehen</a:t>
            </a:r>
            <a:r>
              <a:rPr lang="de-DE" sz="1100" dirty="0"/>
              <a:t> {</a:t>
            </a:r>
          </a:p>
          <a:p>
            <a:r>
              <a:rPr lang="de-DE" sz="1100" dirty="0"/>
              <a:t>	</a:t>
            </a:r>
            <a:r>
              <a:rPr lang="de-DE" sz="1100" dirty="0" err="1"/>
              <a:t>always</a:t>
            </a:r>
            <a:r>
              <a:rPr lang="de-DE" sz="1100" dirty="0"/>
              <a:t> all t: TUER, p: PERSON | p in </a:t>
            </a:r>
            <a:r>
              <a:rPr lang="de-DE" sz="1100" dirty="0" err="1"/>
              <a:t>t.personenImOrtGrob</a:t>
            </a:r>
            <a:r>
              <a:rPr lang="de-DE" sz="1100" dirty="0"/>
              <a:t> </a:t>
            </a:r>
            <a:r>
              <a:rPr lang="de-DE" sz="1100" dirty="0" err="1"/>
              <a:t>implies</a:t>
            </a:r>
            <a:r>
              <a:rPr lang="de-DE" sz="1100" dirty="0"/>
              <a:t> </a:t>
            </a:r>
            <a:r>
              <a:rPr lang="de-DE" sz="1100" dirty="0" err="1"/>
              <a:t>t.offen</a:t>
            </a:r>
            <a:r>
              <a:rPr lang="de-DE" sz="1100" dirty="0"/>
              <a:t> = True</a:t>
            </a:r>
          </a:p>
          <a:p>
            <a:r>
              <a:rPr lang="de-DE" sz="1100" dirty="0"/>
              <a:t>}</a:t>
            </a:r>
          </a:p>
          <a:p>
            <a:endParaRPr lang="de-DE" sz="1100" dirty="0"/>
          </a:p>
          <a:p>
            <a:r>
              <a:rPr lang="de-DE" sz="1100" dirty="0" err="1"/>
              <a:t>fact</a:t>
            </a:r>
            <a:r>
              <a:rPr lang="de-DE" sz="1100" dirty="0"/>
              <a:t> </a:t>
            </a:r>
            <a:r>
              <a:rPr lang="de-DE" sz="1100" dirty="0" err="1"/>
              <a:t>alleNachbarnSindSymmetrisch</a:t>
            </a:r>
            <a:r>
              <a:rPr lang="de-DE" sz="1100" dirty="0"/>
              <a:t> {</a:t>
            </a:r>
          </a:p>
          <a:p>
            <a:r>
              <a:rPr lang="de-DE" sz="1100" dirty="0"/>
              <a:t>	all r: RAUM, t: TUER | r in </a:t>
            </a:r>
            <a:r>
              <a:rPr lang="de-DE" sz="1100" dirty="0" err="1"/>
              <a:t>t.nachbarn</a:t>
            </a:r>
            <a:r>
              <a:rPr lang="de-DE" sz="1100" dirty="0"/>
              <a:t> &lt;=&gt; t in </a:t>
            </a:r>
            <a:r>
              <a:rPr lang="de-DE" sz="1100" dirty="0" err="1"/>
              <a:t>r.nachbarn</a:t>
            </a:r>
            <a:endParaRPr lang="de-DE" sz="1100" dirty="0"/>
          </a:p>
          <a:p>
            <a:r>
              <a:rPr lang="de-DE" sz="1100" dirty="0"/>
              <a:t>	all t:TUER, r: RAUM | t in </a:t>
            </a:r>
            <a:r>
              <a:rPr lang="de-DE" sz="1100" dirty="0" err="1"/>
              <a:t>r.nachbarn</a:t>
            </a:r>
            <a:r>
              <a:rPr lang="de-DE" sz="1100" dirty="0"/>
              <a:t> &lt;=&gt; r in </a:t>
            </a:r>
            <a:r>
              <a:rPr lang="de-DE" sz="1100" dirty="0" err="1"/>
              <a:t>t.nachbarn</a:t>
            </a:r>
            <a:endParaRPr lang="de-DE" sz="1100" dirty="0"/>
          </a:p>
          <a:p>
            <a:r>
              <a:rPr lang="de-DE" sz="1100" dirty="0"/>
              <a:t>}</a:t>
            </a:r>
          </a:p>
          <a:p>
            <a:endParaRPr lang="de-DE" sz="1100" dirty="0"/>
          </a:p>
          <a:p>
            <a:r>
              <a:rPr lang="de-DE" sz="1100" dirty="0" err="1"/>
              <a:t>fact</a:t>
            </a:r>
            <a:r>
              <a:rPr lang="de-DE" sz="1100" dirty="0"/>
              <a:t> </a:t>
            </a:r>
            <a:r>
              <a:rPr lang="de-DE" sz="1100" dirty="0" err="1"/>
              <a:t>tuerVerbindetZweiRaeume</a:t>
            </a:r>
            <a:r>
              <a:rPr lang="de-DE" sz="1100" dirty="0"/>
              <a:t> {</a:t>
            </a:r>
          </a:p>
          <a:p>
            <a:r>
              <a:rPr lang="de-DE" sz="1100" dirty="0"/>
              <a:t>    all t: TUER | #t.nachbarn = 2</a:t>
            </a:r>
          </a:p>
          <a:p>
            <a:r>
              <a:rPr lang="de-DE" sz="11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2388821541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DB29E2-0665-B83D-C821-0546E82805C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 1">
            <a:extLst>
              <a:ext uri="{FF2B5EF4-FFF2-40B4-BE49-F238E27FC236}">
                <a16:creationId xmlns:a16="http://schemas.microsoft.com/office/drawing/2014/main" id="{1126EEAE-4D53-76BD-5A61-0590B45910BD}"/>
              </a:ext>
            </a:extLst>
          </p:cNvPr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1">
            <a:extLst>
              <a:ext uri="{FF2B5EF4-FFF2-40B4-BE49-F238E27FC236}">
                <a16:creationId xmlns:a16="http://schemas.microsoft.com/office/drawing/2014/main" id="{DCAC9F1C-B186-933C-B353-5457CA257726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Übersicht</a:t>
            </a:r>
            <a:r>
              <a:rPr lang="en-US" sz="32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der </a:t>
            </a:r>
            <a:r>
              <a:rPr lang="en-US" sz="32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Objekte</a:t>
            </a:r>
            <a:endParaRPr lang="de-DE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89;p 2">
            <a:extLst>
              <a:ext uri="{FF2B5EF4-FFF2-40B4-BE49-F238E27FC236}">
                <a16:creationId xmlns:a16="http://schemas.microsoft.com/office/drawing/2014/main" id="{F07F9267-C3F4-6B10-A1E1-AB913490121A}"/>
              </a:ext>
            </a:extLst>
          </p:cNvPr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>
            <a:extLst>
              <a:ext uri="{FF2B5EF4-FFF2-40B4-BE49-F238E27FC236}">
                <a16:creationId xmlns:a16="http://schemas.microsoft.com/office/drawing/2014/main" id="{ED5EF8C9-E8BE-7C07-E612-0D151B7A67FF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EEA979D-031F-4D85-A550-B6BF4D908A5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11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BAE234F1-C3C8-371E-05FD-9AAC654B8422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483625" y="2086515"/>
            <a:ext cx="5134692" cy="2010056"/>
          </a:xfrm>
          <a:prstGeom prst="rect">
            <a:avLst/>
          </a:prstGeom>
        </p:spPr>
      </p:pic>
      <p:pic>
        <p:nvPicPr>
          <p:cNvPr id="5" name="Grafik 4">
            <a:extLst>
              <a:ext uri="{FF2B5EF4-FFF2-40B4-BE49-F238E27FC236}">
                <a16:creationId xmlns:a16="http://schemas.microsoft.com/office/drawing/2014/main" id="{253C324E-1DCA-31D4-D63B-A69CB5C2CE52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7413" y="4434028"/>
            <a:ext cx="5458587" cy="1876687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1F527D3-AA39-9CE3-EE8C-4F6A4927D15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003936" y="2423972"/>
            <a:ext cx="4982270" cy="1952898"/>
          </a:xfrm>
          <a:prstGeom prst="rect">
            <a:avLst/>
          </a:prstGeom>
        </p:spPr>
      </p:pic>
      <p:pic>
        <p:nvPicPr>
          <p:cNvPr id="4" name="Grafik 3">
            <a:extLst>
              <a:ext uri="{FF2B5EF4-FFF2-40B4-BE49-F238E27FC236}">
                <a16:creationId xmlns:a16="http://schemas.microsoft.com/office/drawing/2014/main" id="{943785A1-DCB8-8081-C57F-C993DA57675E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16025" y="1749058"/>
            <a:ext cx="5068007" cy="19814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0725852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EE71921-09F3-6DEC-6EFA-52E21EE9312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Erstes Grobes Modell</a:t>
            </a:r>
          </a:p>
        </p:txBody>
      </p:sp>
      <p:sp>
        <p:nvSpPr>
          <p:cNvPr id="3" name="Textplatzhalter 2">
            <a:extLst>
              <a:ext uri="{FF2B5EF4-FFF2-40B4-BE49-F238E27FC236}">
                <a16:creationId xmlns:a16="http://schemas.microsoft.com/office/drawing/2014/main" id="{9002D67A-748A-37AD-1204-6DE56BC2B6C8}"/>
              </a:ext>
            </a:extLst>
          </p:cNvPr>
          <p:cNvSpPr>
            <a:spLocks noGrp="1"/>
          </p:cNvSpPr>
          <p:nvPr>
            <p:ph type="body"/>
          </p:nvPr>
        </p:nvSpPr>
        <p:spPr/>
        <p:txBody>
          <a:bodyPr>
            <a:normAutofit/>
          </a:bodyPr>
          <a:lstStyle/>
          <a:p>
            <a:pPr marL="0" indent="0">
              <a:buNone/>
            </a:pPr>
            <a:r>
              <a:rPr lang="de-DE" dirty="0"/>
              <a:t>Grundlagen für die weiteren Schritte</a:t>
            </a:r>
          </a:p>
        </p:txBody>
      </p:sp>
    </p:spTree>
    <p:extLst>
      <p:ext uri="{BB962C8B-B14F-4D97-AF65-F5344CB8AC3E}">
        <p14:creationId xmlns:p14="http://schemas.microsoft.com/office/powerpoint/2010/main" val="2913047613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03D2467-5C21-4DF3-3BC8-89C1285FA4E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 1">
            <a:extLst>
              <a:ext uri="{FF2B5EF4-FFF2-40B4-BE49-F238E27FC236}">
                <a16:creationId xmlns:a16="http://schemas.microsoft.com/office/drawing/2014/main" id="{B16D8BEB-B382-0C95-AC6A-D330FB7D4A84}"/>
              </a:ext>
            </a:extLst>
          </p:cNvPr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1">
            <a:extLst>
              <a:ext uri="{FF2B5EF4-FFF2-40B4-BE49-F238E27FC236}">
                <a16:creationId xmlns:a16="http://schemas.microsoft.com/office/drawing/2014/main" id="{2357050D-A865-004E-5E3C-3B5ED625E5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Grobes Modell</a:t>
            </a:r>
            <a:endParaRPr lang="de-DE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89;p 2">
            <a:extLst>
              <a:ext uri="{FF2B5EF4-FFF2-40B4-BE49-F238E27FC236}">
                <a16:creationId xmlns:a16="http://schemas.microsoft.com/office/drawing/2014/main" id="{48F1556C-5E79-85B1-563E-4B2F9CF05335}"/>
              </a:ext>
            </a:extLst>
          </p:cNvPr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>
            <a:extLst>
              <a:ext uri="{FF2B5EF4-FFF2-40B4-BE49-F238E27FC236}">
                <a16:creationId xmlns:a16="http://schemas.microsoft.com/office/drawing/2014/main" id="{42357362-0AC4-2246-A1BB-4FA073B4BABD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EEA979D-031F-4D85-A550-B6BF4D908A5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13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E573A34A-7D43-0422-E767-2DD5593BF14F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260482" y="4072389"/>
            <a:ext cx="5332396" cy="1232326"/>
          </a:xfrm>
          <a:prstGeom prst="rect">
            <a:avLst/>
          </a:prstGeom>
        </p:spPr>
      </p:pic>
      <p:sp>
        <p:nvSpPr>
          <p:cNvPr id="5" name="Textfeld 4">
            <a:extLst>
              <a:ext uri="{FF2B5EF4-FFF2-40B4-BE49-F238E27FC236}">
                <a16:creationId xmlns:a16="http://schemas.microsoft.com/office/drawing/2014/main" id="{37F45138-A2F9-F60D-3F2B-EDCA22630F57}"/>
              </a:ext>
            </a:extLst>
          </p:cNvPr>
          <p:cNvSpPr txBox="1"/>
          <p:nvPr/>
        </p:nvSpPr>
        <p:spPr>
          <a:xfrm>
            <a:off x="3260482" y="1572651"/>
            <a:ext cx="6760354" cy="2123658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 err="1"/>
              <a:t>pred</a:t>
            </a:r>
            <a:r>
              <a:rPr lang="de-DE" sz="1100" dirty="0"/>
              <a:t> </a:t>
            </a:r>
            <a:r>
              <a:rPr lang="de-DE" sz="1100" dirty="0" err="1"/>
              <a:t>schrittGrob</a:t>
            </a:r>
            <a:r>
              <a:rPr lang="de-DE" sz="1100" dirty="0"/>
              <a:t>[p: PERSON, von, nach: RAUM]{</a:t>
            </a:r>
          </a:p>
          <a:p>
            <a:endParaRPr lang="de-DE" sz="1100" dirty="0"/>
          </a:p>
          <a:p>
            <a:r>
              <a:rPr lang="de-DE" sz="1100" dirty="0"/>
              <a:t>	//</a:t>
            </a:r>
            <a:r>
              <a:rPr lang="de-DE" sz="1100" dirty="0" err="1"/>
              <a:t>pre</a:t>
            </a:r>
            <a:endParaRPr lang="de-DE" sz="1100" dirty="0"/>
          </a:p>
          <a:p>
            <a:r>
              <a:rPr lang="de-DE" sz="1100" dirty="0"/>
              <a:t>	p in </a:t>
            </a:r>
            <a:r>
              <a:rPr lang="de-DE" sz="1100" dirty="0" err="1"/>
              <a:t>von.personenImOrtGrob</a:t>
            </a:r>
            <a:endParaRPr lang="de-DE" sz="1100" dirty="0"/>
          </a:p>
          <a:p>
            <a:endParaRPr lang="de-DE" sz="1100" dirty="0"/>
          </a:p>
          <a:p>
            <a:r>
              <a:rPr lang="de-DE" sz="1100" dirty="0"/>
              <a:t>	//</a:t>
            </a:r>
            <a:r>
              <a:rPr lang="de-DE" sz="1100" dirty="0" err="1"/>
              <a:t>post</a:t>
            </a:r>
            <a:endParaRPr lang="de-DE" sz="1100" dirty="0"/>
          </a:p>
          <a:p>
            <a:r>
              <a:rPr lang="de-DE" sz="1100" dirty="0"/>
              <a:t>	</a:t>
            </a:r>
            <a:r>
              <a:rPr lang="de-DE" sz="1100" dirty="0" err="1"/>
              <a:t>von.personenImOrtGrob</a:t>
            </a:r>
            <a:r>
              <a:rPr lang="de-DE" sz="1100" dirty="0"/>
              <a:t>' = </a:t>
            </a:r>
            <a:r>
              <a:rPr lang="de-DE" sz="1100" dirty="0" err="1"/>
              <a:t>von.personenImOrtGrob</a:t>
            </a:r>
            <a:r>
              <a:rPr lang="de-DE" sz="1100" dirty="0"/>
              <a:t> - p</a:t>
            </a:r>
          </a:p>
          <a:p>
            <a:r>
              <a:rPr lang="de-DE" sz="1100" dirty="0"/>
              <a:t>	</a:t>
            </a:r>
            <a:r>
              <a:rPr lang="de-DE" sz="1100" dirty="0" err="1"/>
              <a:t>nach.personenImOrtGrob</a:t>
            </a:r>
            <a:r>
              <a:rPr lang="de-DE" sz="1100" dirty="0"/>
              <a:t>' = </a:t>
            </a:r>
            <a:r>
              <a:rPr lang="de-DE" sz="1100" dirty="0" err="1"/>
              <a:t>nach.personenImOrtGrob</a:t>
            </a:r>
            <a:r>
              <a:rPr lang="de-DE" sz="1100" dirty="0"/>
              <a:t> + p</a:t>
            </a:r>
          </a:p>
          <a:p>
            <a:endParaRPr lang="de-DE" sz="1100" dirty="0"/>
          </a:p>
          <a:p>
            <a:r>
              <a:rPr lang="de-DE" sz="1100" dirty="0"/>
              <a:t>	//frame</a:t>
            </a:r>
          </a:p>
          <a:p>
            <a:r>
              <a:rPr lang="de-DE" sz="1100" dirty="0"/>
              <a:t>	all o: ORT - (von + nach) | </a:t>
            </a:r>
            <a:r>
              <a:rPr lang="de-DE" sz="1100" dirty="0" err="1"/>
              <a:t>o.personenImOrtGrob</a:t>
            </a:r>
            <a:r>
              <a:rPr lang="de-DE" sz="1100" dirty="0"/>
              <a:t>' = </a:t>
            </a:r>
            <a:r>
              <a:rPr lang="de-DE" sz="1100" dirty="0" err="1"/>
              <a:t>o.personenImOrtGrob</a:t>
            </a:r>
            <a:endParaRPr lang="de-DE" sz="1100" dirty="0"/>
          </a:p>
          <a:p>
            <a:r>
              <a:rPr lang="de-DE" sz="11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978064351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EA5F4CA-291F-22AE-77DA-A94862168EEF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 1">
            <a:extLst>
              <a:ext uri="{FF2B5EF4-FFF2-40B4-BE49-F238E27FC236}">
                <a16:creationId xmlns:a16="http://schemas.microsoft.com/office/drawing/2014/main" id="{02DAE6BA-106B-D8E0-A7F5-855CF7B67D90}"/>
              </a:ext>
            </a:extLst>
          </p:cNvPr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1">
            <a:extLst>
              <a:ext uri="{FF2B5EF4-FFF2-40B4-BE49-F238E27FC236}">
                <a16:creationId xmlns:a16="http://schemas.microsoft.com/office/drawing/2014/main" id="{F048F54F-56DD-B2DC-24FF-73776AF0418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8" name="PlaceHolder 2">
            <a:extLst>
              <a:ext uri="{FF2B5EF4-FFF2-40B4-BE49-F238E27FC236}">
                <a16:creationId xmlns:a16="http://schemas.microsoft.com/office/drawing/2014/main" id="{387D35A4-5DE1-65D4-4C8F-4A8255E1EE2A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43960" y="1484280"/>
            <a:ext cx="1110384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-228600" algn="l">
              <a:lnSpc>
                <a:spcPct val="90000"/>
              </a:lnSpc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Anforderung: Orte, Räume/Türen, Nachbarschaft symmetrisch, Person genau in einem Raum, Ereignis bewege (Tür offen, Nachbarschaft nötig)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Alloy: sigs für Ort/Raum/Tür/Person, facts für die Grundregeln, pred bewege, erste check/run-Beispiele (z. B. „keine Bewegung ohne offene Tür")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  <a:tabLst>
                <a:tab pos="0" algn="l"/>
              </a:tabLst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Lean: Zustandsdefinition, Funktion bewege, Beweis: Person bleibt nach Bewegung genau einem Raum zugeordnet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89;p 2">
            <a:extLst>
              <a:ext uri="{FF2B5EF4-FFF2-40B4-BE49-F238E27FC236}">
                <a16:creationId xmlns:a16="http://schemas.microsoft.com/office/drawing/2014/main" id="{92B8915F-C70C-3C0B-E826-0FCA496FC588}"/>
              </a:ext>
            </a:extLst>
          </p:cNvPr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>
            <a:extLst>
              <a:ext uri="{FF2B5EF4-FFF2-40B4-BE49-F238E27FC236}">
                <a16:creationId xmlns:a16="http://schemas.microsoft.com/office/drawing/2014/main" id="{95155A2E-9B40-3A4E-3F15-7F0F069DDB6D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EEA979D-031F-4D85-A550-B6BF4D908A5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14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3360268838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B4E3C46-87B2-27B7-0D5D-E3188F48420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94232A-F851-2F3C-8BE1-2C3FBE0971D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Verfeinertes Modell</a:t>
            </a:r>
          </a:p>
        </p:txBody>
      </p:sp>
      <p:sp>
        <p:nvSpPr>
          <p:cNvPr id="5" name="Textplatzhalter 2">
            <a:extLst>
              <a:ext uri="{FF2B5EF4-FFF2-40B4-BE49-F238E27FC236}">
                <a16:creationId xmlns:a16="http://schemas.microsoft.com/office/drawing/2014/main" id="{603D4211-0CD0-8B05-FDD3-78786846D16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43960" y="4689360"/>
            <a:ext cx="7622280" cy="1368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000" dirty="0"/>
              <a:t>Umsetzung der Türen</a:t>
            </a:r>
          </a:p>
          <a:p>
            <a:pPr marL="0" indent="0">
              <a:buNone/>
            </a:pPr>
            <a:endParaRPr lang="de-DE" sz="2000" dirty="0"/>
          </a:p>
          <a:p>
            <a:pPr marL="0" indent="0">
              <a:buNone/>
            </a:pPr>
            <a:endParaRPr lang="de-DE" sz="2000" dirty="0"/>
          </a:p>
          <a:p>
            <a:pPr marL="0" indent="0">
              <a:buNone/>
            </a:pP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783149372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60CD06-FD3E-ABDA-59CF-6C006DCC941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 1">
            <a:extLst>
              <a:ext uri="{FF2B5EF4-FFF2-40B4-BE49-F238E27FC236}">
                <a16:creationId xmlns:a16="http://schemas.microsoft.com/office/drawing/2014/main" id="{63206739-B0BD-645B-31C8-D5EE4D4A1F3A}"/>
              </a:ext>
            </a:extLst>
          </p:cNvPr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1">
            <a:extLst>
              <a:ext uri="{FF2B5EF4-FFF2-40B4-BE49-F238E27FC236}">
                <a16:creationId xmlns:a16="http://schemas.microsoft.com/office/drawing/2014/main" id="{87FD79BD-0F3A-2CF2-602B-C309CB9EE5C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dirty="0" err="1">
                <a:solidFill>
                  <a:srgbClr val="361E47"/>
                </a:solidFill>
                <a:ea typeface="Arial"/>
              </a:rPr>
              <a:t>Feines</a:t>
            </a:r>
            <a:r>
              <a:rPr lang="en-US" sz="32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Modell</a:t>
            </a:r>
            <a:endParaRPr lang="de-DE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89;p 2">
            <a:extLst>
              <a:ext uri="{FF2B5EF4-FFF2-40B4-BE49-F238E27FC236}">
                <a16:creationId xmlns:a16="http://schemas.microsoft.com/office/drawing/2014/main" id="{51B8E752-67DA-5E55-8E70-E1E44B74FFE4}"/>
              </a:ext>
            </a:extLst>
          </p:cNvPr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>
            <a:extLst>
              <a:ext uri="{FF2B5EF4-FFF2-40B4-BE49-F238E27FC236}">
                <a16:creationId xmlns:a16="http://schemas.microsoft.com/office/drawing/2014/main" id="{AE0CCB74-6931-649F-6488-B9CD8EC1C2EB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EEA979D-031F-4D85-A550-B6BF4D908A5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16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832E7EA6-9A84-A0BF-3C6B-23AFA90B0CF7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38256" y="3773585"/>
            <a:ext cx="4599182" cy="85733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8762C31B-BF59-ACB7-9887-C474A661AA19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84303" y="2117545"/>
            <a:ext cx="4485658" cy="1036643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C7F2A690-6423-F9FD-E553-02B443764F7B}"/>
              </a:ext>
            </a:extLst>
          </p:cNvPr>
          <p:cNvSpPr txBox="1"/>
          <p:nvPr/>
        </p:nvSpPr>
        <p:spPr>
          <a:xfrm>
            <a:off x="543960" y="2838490"/>
            <a:ext cx="546495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 err="1"/>
              <a:t>pred</a:t>
            </a:r>
            <a:r>
              <a:rPr lang="de-DE" sz="1100" dirty="0"/>
              <a:t> </a:t>
            </a:r>
            <a:r>
              <a:rPr lang="de-DE" sz="1100" dirty="0" err="1"/>
              <a:t>schrittFein</a:t>
            </a:r>
            <a:r>
              <a:rPr lang="de-DE" sz="1100" dirty="0"/>
              <a:t> {</a:t>
            </a:r>
          </a:p>
          <a:p>
            <a:r>
              <a:rPr lang="de-DE" sz="1100" dirty="0"/>
              <a:t>	</a:t>
            </a:r>
            <a:r>
              <a:rPr lang="de-DE" sz="1100" dirty="0" err="1"/>
              <a:t>some</a:t>
            </a:r>
            <a:r>
              <a:rPr lang="de-DE" sz="1100" dirty="0"/>
              <a:t> p: PERSON, r1, r2: RAUM, t: TUER | </a:t>
            </a:r>
          </a:p>
          <a:p>
            <a:r>
              <a:rPr lang="de-DE" sz="1100" dirty="0"/>
              <a:t>		((</a:t>
            </a:r>
            <a:r>
              <a:rPr lang="de-DE" sz="1100" dirty="0" err="1"/>
              <a:t>betreteTuer</a:t>
            </a:r>
            <a:r>
              <a:rPr lang="de-DE" sz="1100" dirty="0"/>
              <a:t>[p, r1, t] and StutterSchritt_2[t]) </a:t>
            </a:r>
            <a:r>
              <a:rPr lang="de-DE" sz="1100" dirty="0" err="1"/>
              <a:t>or</a:t>
            </a:r>
            <a:r>
              <a:rPr lang="de-DE" sz="1100" dirty="0"/>
              <a:t> </a:t>
            </a:r>
          </a:p>
          <a:p>
            <a:r>
              <a:rPr lang="de-DE" sz="1100" dirty="0"/>
              <a:t>		(</a:t>
            </a:r>
            <a:r>
              <a:rPr lang="de-DE" sz="1100" dirty="0" err="1"/>
              <a:t>verlasseTuer</a:t>
            </a:r>
            <a:r>
              <a:rPr lang="de-DE" sz="1100" dirty="0"/>
              <a:t>[p, r2, t] and </a:t>
            </a:r>
            <a:r>
              <a:rPr lang="de-DE" sz="1100" dirty="0" err="1"/>
              <a:t>schrittGrob</a:t>
            </a:r>
            <a:r>
              <a:rPr lang="de-DE" sz="1100" dirty="0"/>
              <a:t>[p, r1, r2])) and </a:t>
            </a:r>
          </a:p>
          <a:p>
            <a:r>
              <a:rPr lang="de-DE" sz="1100" dirty="0"/>
              <a:t>		</a:t>
            </a:r>
            <a:r>
              <a:rPr lang="de-DE" sz="1100" dirty="0" err="1"/>
              <a:t>vorbedingungenMoveFein</a:t>
            </a:r>
            <a:r>
              <a:rPr lang="de-DE" sz="1100" dirty="0"/>
              <a:t>[r1, r2, t]</a:t>
            </a:r>
          </a:p>
          <a:p>
            <a:r>
              <a:rPr lang="de-DE" sz="1100" dirty="0"/>
              <a:t>}</a:t>
            </a:r>
          </a:p>
        </p:txBody>
      </p:sp>
    </p:spTree>
    <p:extLst>
      <p:ext uri="{BB962C8B-B14F-4D97-AF65-F5344CB8AC3E}">
        <p14:creationId xmlns:p14="http://schemas.microsoft.com/office/powerpoint/2010/main" val="33000845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367DE730-9732-AE8A-F356-824863E6FFAE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Übersicht Verfeinerung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69C8A473-80A2-EE23-2FB4-40C6786B89F3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772654683"/>
              </p:ext>
            </p:extLst>
          </p:nvPr>
        </p:nvGraphicFramePr>
        <p:xfrm>
          <a:off x="2032000" y="2509294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46867419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28248823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5712854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7088373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mpd="sng"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Schritt 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Schritt 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89130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u="sng" dirty="0"/>
                        <a:t>Grobes Modell: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 err="1"/>
                        <a:t>Stutter</a:t>
                      </a:r>
                      <a:endParaRPr lang="de-DE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Betrete Raum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8940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u="sng" dirty="0"/>
                        <a:t>Verfeinerung: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Betrete Tür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Betrete Raum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dirty="0"/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22918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de-DE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1637320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414557391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6" name="Google Shape;86;p 2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8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384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Anforderung: Tür wird eigener Ort, Ereignisse betreteTuer/verlasseTuer, Zustandsdiagramm ImRaum → InTür → ImRaum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Alloy: Erweiterung der sigs/facts, neue preds betreteTuer/verlasseTuer, check dass „Bewegung ohne Zwischenzustand in der Tür" nicht mehr direkt zulässig ist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Lean: Erweiterte Zustandsdefinition, Beweis, dass Verkettung von betreteTuer und verlasseTuer dasselbe fachliche Ergebnis liefert wie bewege aus Stufe 1 (Refinement-Nachweis)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9" name="Google Shape;89;p 1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0" name="PlaceHolder 3"/>
          <p:cNvSpPr>
            <a:spLocks noGrp="1"/>
          </p:cNvSpPr>
          <p:nvPr>
            <p:ph type="sldNum" idx="20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2E3B3B65-6891-44BA-A477-EB7894D3E0BB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557349-2BD8-B0E2-171B-EA257AAF1D2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06D7341-5C9F-ECA9-1CCE-B733F295A5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59" y="3681360"/>
            <a:ext cx="8621555" cy="1007640"/>
          </a:xfrm>
        </p:spPr>
        <p:txBody>
          <a:bodyPr>
            <a:normAutofit fontScale="90000"/>
          </a:bodyPr>
          <a:lstStyle/>
          <a:p>
            <a:r>
              <a:rPr lang="de-DE" dirty="0"/>
              <a:t>Verfeinertes Modell mit Autorisierung</a:t>
            </a:r>
          </a:p>
        </p:txBody>
      </p:sp>
      <p:sp>
        <p:nvSpPr>
          <p:cNvPr id="5" name="Textplatzhalter 2">
            <a:extLst>
              <a:ext uri="{FF2B5EF4-FFF2-40B4-BE49-F238E27FC236}">
                <a16:creationId xmlns:a16="http://schemas.microsoft.com/office/drawing/2014/main" id="{3C73BD47-ED05-2AAA-7BFC-0DC99BBD785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43960" y="4689360"/>
            <a:ext cx="7622280" cy="1368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000" dirty="0"/>
              <a:t>Nur Bewohner dürfen Türen öffnen</a:t>
            </a:r>
          </a:p>
          <a:p>
            <a:pPr marL="0" indent="0">
              <a:buNone/>
            </a:pPr>
            <a:endParaRPr lang="de-DE" sz="2000" dirty="0"/>
          </a:p>
          <a:p>
            <a:pPr marL="0" indent="0">
              <a:buNone/>
            </a:pPr>
            <a:endParaRPr lang="de-DE" sz="2000" dirty="0"/>
          </a:p>
          <a:p>
            <a:pPr marL="0" indent="0">
              <a:buNone/>
            </a:pP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1730586720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838D2598-1FCA-A25F-E76C-4A975BE8FE1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 1">
            <a:extLst>
              <a:ext uri="{FF2B5EF4-FFF2-40B4-BE49-F238E27FC236}">
                <a16:creationId xmlns:a16="http://schemas.microsoft.com/office/drawing/2014/main" id="{141D5412-4C65-C32B-FE91-63B1EBA3135E}"/>
              </a:ext>
            </a:extLst>
          </p:cNvPr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7" name="PlaceHolder 1">
            <a:extLst>
              <a:ext uri="{FF2B5EF4-FFF2-40B4-BE49-F238E27FC236}">
                <a16:creationId xmlns:a16="http://schemas.microsoft.com/office/drawing/2014/main" id="{AF5B6420-6483-3712-9F0D-91074C94944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dirty="0" err="1">
                <a:solidFill>
                  <a:srgbClr val="361E47"/>
                </a:solidFill>
                <a:ea typeface="Arial"/>
              </a:rPr>
              <a:t>Feines</a:t>
            </a:r>
            <a:r>
              <a:rPr lang="en-US" sz="32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Modell </a:t>
            </a:r>
            <a:r>
              <a:rPr lang="en-US" sz="32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mit</a:t>
            </a:r>
            <a:r>
              <a:rPr lang="en-US" sz="3200" b="0" u="none" strike="noStrike" dirty="0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 </a:t>
            </a:r>
            <a:r>
              <a:rPr lang="en-US" sz="3200" b="0" u="none" strike="noStrike" dirty="0" err="1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Autorisierung</a:t>
            </a:r>
            <a:endParaRPr lang="de-DE" sz="32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89" name="Google Shape;89;p 2">
            <a:extLst>
              <a:ext uri="{FF2B5EF4-FFF2-40B4-BE49-F238E27FC236}">
                <a16:creationId xmlns:a16="http://schemas.microsoft.com/office/drawing/2014/main" id="{592FFB83-1205-56B3-124D-D178882FC736}"/>
              </a:ext>
            </a:extLst>
          </p:cNvPr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90" name="PlaceHolder 3">
            <a:extLst>
              <a:ext uri="{FF2B5EF4-FFF2-40B4-BE49-F238E27FC236}">
                <a16:creationId xmlns:a16="http://schemas.microsoft.com/office/drawing/2014/main" id="{7B35E07D-1623-9AF8-8521-F58ADE75F70A}"/>
              </a:ext>
            </a:extLst>
          </p:cNvPr>
          <p:cNvSpPr>
            <a:spLocks noGrp="1"/>
          </p:cNvSpPr>
          <p:nvPr>
            <p:ph type="sldNum" idx="18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4EEA979D-031F-4D85-A550-B6BF4D908A5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  <p:pic>
        <p:nvPicPr>
          <p:cNvPr id="4" name="Grafik 3">
            <a:extLst>
              <a:ext uri="{FF2B5EF4-FFF2-40B4-BE49-F238E27FC236}">
                <a16:creationId xmlns:a16="http://schemas.microsoft.com/office/drawing/2014/main" id="{51661E12-8740-9B76-43B4-C76A81FD1CCA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6731178" y="2932767"/>
            <a:ext cx="4599182" cy="857339"/>
          </a:xfrm>
          <a:prstGeom prst="rect">
            <a:avLst/>
          </a:prstGeom>
        </p:spPr>
      </p:pic>
      <p:pic>
        <p:nvPicPr>
          <p:cNvPr id="7" name="Grafik 6">
            <a:extLst>
              <a:ext uri="{FF2B5EF4-FFF2-40B4-BE49-F238E27FC236}">
                <a16:creationId xmlns:a16="http://schemas.microsoft.com/office/drawing/2014/main" id="{F9D06383-5A4B-D512-5043-47E47F1D5ED6}"/>
              </a:ext>
            </a:extLst>
          </p:cNvPr>
          <p:cNvPicPr>
            <a:picLocks noChangeAspect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731178" y="1519735"/>
            <a:ext cx="4599182" cy="1062879"/>
          </a:xfrm>
          <a:prstGeom prst="rect">
            <a:avLst/>
          </a:prstGeom>
        </p:spPr>
      </p:pic>
      <p:sp>
        <p:nvSpPr>
          <p:cNvPr id="9" name="Textfeld 8">
            <a:extLst>
              <a:ext uri="{FF2B5EF4-FFF2-40B4-BE49-F238E27FC236}">
                <a16:creationId xmlns:a16="http://schemas.microsoft.com/office/drawing/2014/main" id="{D223F524-076D-A561-E696-D5CFCD311354}"/>
              </a:ext>
            </a:extLst>
          </p:cNvPr>
          <p:cNvSpPr txBox="1"/>
          <p:nvPr/>
        </p:nvSpPr>
        <p:spPr>
          <a:xfrm>
            <a:off x="543960" y="2838490"/>
            <a:ext cx="5464954" cy="1107996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 err="1"/>
              <a:t>pred</a:t>
            </a:r>
            <a:r>
              <a:rPr lang="de-DE" sz="1100" dirty="0"/>
              <a:t> </a:t>
            </a:r>
            <a:r>
              <a:rPr lang="de-DE" sz="1100" dirty="0" err="1"/>
              <a:t>schrittFein</a:t>
            </a:r>
            <a:r>
              <a:rPr lang="de-DE" sz="1100" dirty="0"/>
              <a:t> {</a:t>
            </a:r>
          </a:p>
          <a:p>
            <a:r>
              <a:rPr lang="de-DE" sz="1100" dirty="0"/>
              <a:t>	</a:t>
            </a:r>
            <a:r>
              <a:rPr lang="de-DE" sz="1100" dirty="0" err="1"/>
              <a:t>some</a:t>
            </a:r>
            <a:r>
              <a:rPr lang="de-DE" sz="1100" dirty="0"/>
              <a:t> p: PERSON, r1, r2: RAUM, t: TUER | </a:t>
            </a:r>
          </a:p>
          <a:p>
            <a:r>
              <a:rPr lang="de-DE" sz="1100" dirty="0"/>
              <a:t>		((</a:t>
            </a:r>
            <a:r>
              <a:rPr lang="de-DE" sz="1100" dirty="0" err="1"/>
              <a:t>betreteTuer</a:t>
            </a:r>
            <a:r>
              <a:rPr lang="de-DE" sz="1100" dirty="0"/>
              <a:t>[p, r1, t] and StutterSchritt_2[t]) </a:t>
            </a:r>
            <a:r>
              <a:rPr lang="de-DE" sz="1100" dirty="0" err="1"/>
              <a:t>or</a:t>
            </a:r>
            <a:r>
              <a:rPr lang="de-DE" sz="1100" dirty="0"/>
              <a:t> </a:t>
            </a:r>
          </a:p>
          <a:p>
            <a:r>
              <a:rPr lang="de-DE" sz="1100" dirty="0"/>
              <a:t>		(</a:t>
            </a:r>
            <a:r>
              <a:rPr lang="de-DE" sz="1100" dirty="0" err="1"/>
              <a:t>verlasseTuer</a:t>
            </a:r>
            <a:r>
              <a:rPr lang="de-DE" sz="1100" dirty="0"/>
              <a:t>[p, r2, t] and </a:t>
            </a:r>
            <a:r>
              <a:rPr lang="de-DE" sz="1100" dirty="0" err="1"/>
              <a:t>schrittGrob</a:t>
            </a:r>
            <a:r>
              <a:rPr lang="de-DE" sz="1100" dirty="0"/>
              <a:t>[p, r1, r2])) and </a:t>
            </a:r>
          </a:p>
          <a:p>
            <a:r>
              <a:rPr lang="de-DE" sz="1100" dirty="0"/>
              <a:t>		</a:t>
            </a:r>
            <a:r>
              <a:rPr lang="de-DE" sz="1100" dirty="0" err="1"/>
              <a:t>vorbedingungenMoveFein</a:t>
            </a:r>
            <a:r>
              <a:rPr lang="de-DE" sz="1100" dirty="0"/>
              <a:t>[r1, r2, t]</a:t>
            </a:r>
          </a:p>
          <a:p>
            <a:r>
              <a:rPr lang="de-DE" sz="1100" dirty="0"/>
              <a:t>}</a:t>
            </a:r>
          </a:p>
        </p:txBody>
      </p:sp>
      <p:pic>
        <p:nvPicPr>
          <p:cNvPr id="3" name="Grafik 2">
            <a:extLst>
              <a:ext uri="{FF2B5EF4-FFF2-40B4-BE49-F238E27FC236}">
                <a16:creationId xmlns:a16="http://schemas.microsoft.com/office/drawing/2014/main" id="{D94375D0-CE3F-16F3-3131-6A75A9401011}"/>
              </a:ext>
            </a:extLst>
          </p:cNvPr>
          <p:cNvPicPr>
            <a:picLocks noChangeAspect="1"/>
          </p:cNvPicPr>
          <p:nvPr/>
        </p:nvPicPr>
        <p:blipFill>
          <a:blip>
            <a:extLst>
              <a:ext uri="{96DAC541-7B7A-43D3-8B79-37D633B846F1}">
                <asvg:svgBlip xmlns:asvg="http://schemas.microsoft.com/office/drawing/2016/SVG/main" r:embed="rId5"/>
              </a:ext>
            </a:extLst>
          </a:blip>
          <a:stretch>
            <a:fillRect/>
          </a:stretch>
        </p:blipFill>
        <p:spPr>
          <a:xfrm>
            <a:off x="6731178" y="4244965"/>
            <a:ext cx="4599182" cy="85733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311855609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90B83AD-32F7-1944-1A1B-D4F7378B5ED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EF079FA-496A-9C3F-A492-657E6FC8190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59" y="3681360"/>
            <a:ext cx="8621555" cy="1007640"/>
          </a:xfrm>
        </p:spPr>
        <p:txBody>
          <a:bodyPr>
            <a:normAutofit/>
          </a:bodyPr>
          <a:lstStyle/>
          <a:p>
            <a:r>
              <a:rPr lang="de-DE" dirty="0"/>
              <a:t>Synchronisierung der Modelle</a:t>
            </a:r>
          </a:p>
        </p:txBody>
      </p:sp>
      <p:sp>
        <p:nvSpPr>
          <p:cNvPr id="5" name="Textplatzhalter 2">
            <a:extLst>
              <a:ext uri="{FF2B5EF4-FFF2-40B4-BE49-F238E27FC236}">
                <a16:creationId xmlns:a16="http://schemas.microsoft.com/office/drawing/2014/main" id="{D4460C83-DF0A-D3D1-DED1-3176DC2424BB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543960" y="4689360"/>
            <a:ext cx="7622280" cy="1368000"/>
          </a:xfrm>
        </p:spPr>
        <p:txBody>
          <a:bodyPr>
            <a:normAutofit/>
          </a:bodyPr>
          <a:lstStyle/>
          <a:p>
            <a:pPr marL="0" indent="0">
              <a:buNone/>
            </a:pPr>
            <a:r>
              <a:rPr lang="de-DE" sz="2000" dirty="0"/>
              <a:t>Nur Bewohner dürfen Türen öffnen</a:t>
            </a:r>
          </a:p>
          <a:p>
            <a:pPr marL="0" indent="0">
              <a:buNone/>
            </a:pPr>
            <a:endParaRPr lang="de-DE" sz="2000" dirty="0"/>
          </a:p>
          <a:p>
            <a:pPr marL="0" indent="0">
              <a:buNone/>
            </a:pPr>
            <a:endParaRPr lang="de-DE" sz="2000" dirty="0"/>
          </a:p>
          <a:p>
            <a:pPr marL="0" indent="0">
              <a:buNone/>
            </a:pPr>
            <a:endParaRPr lang="de-DE" sz="2000" dirty="0"/>
          </a:p>
        </p:txBody>
      </p:sp>
    </p:spTree>
    <p:extLst>
      <p:ext uri="{BB962C8B-B14F-4D97-AF65-F5344CB8AC3E}">
        <p14:creationId xmlns:p14="http://schemas.microsoft.com/office/powerpoint/2010/main" val="884601447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CE6360D-666B-2314-F2F8-22BBA46DAA6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A382AE92-1DF8-AD25-20AB-DA649862468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Übersicht Verfeinerung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3ADAD8FF-960E-E443-EDE1-0D37DCB584DB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2760157320"/>
              </p:ext>
            </p:extLst>
          </p:nvPr>
        </p:nvGraphicFramePr>
        <p:xfrm>
          <a:off x="2031880" y="1592895"/>
          <a:ext cx="8128000" cy="14833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1468674191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4282488230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3657128543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70883736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mpd="sng"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Schritt 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Schritt 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Schritt 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89130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u="sng" dirty="0"/>
                        <a:t>Grobes Modell: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 err="1"/>
                        <a:t>Stutter</a:t>
                      </a:r>
                      <a:endParaRPr lang="de-DE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 err="1"/>
                        <a:t>Stutter</a:t>
                      </a:r>
                      <a:endParaRPr lang="de-DE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Betrete Raum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8940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u="sng" dirty="0"/>
                        <a:t>Verfeinerung: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Stutter</a:t>
                      </a:r>
                      <a:endParaRPr lang="de-DE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Betrete Tür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Betrete Raum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22918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u="sng" dirty="0"/>
                        <a:t>Autorisierung: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Öffne Tür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Betrete Tür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Betrete Raum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1637320"/>
                  </a:ext>
                </a:extLst>
              </a:tr>
            </a:tbl>
          </a:graphicData>
        </a:graphic>
      </p:graphicFrame>
      <p:sp>
        <p:nvSpPr>
          <p:cNvPr id="5" name="Textfeld 4">
            <a:extLst>
              <a:ext uri="{FF2B5EF4-FFF2-40B4-BE49-F238E27FC236}">
                <a16:creationId xmlns:a16="http://schemas.microsoft.com/office/drawing/2014/main" id="{A2643895-5616-47F2-FF48-A68A6E38C3CC}"/>
              </a:ext>
            </a:extLst>
          </p:cNvPr>
          <p:cNvSpPr txBox="1"/>
          <p:nvPr/>
        </p:nvSpPr>
        <p:spPr>
          <a:xfrm>
            <a:off x="631046" y="4645519"/>
            <a:ext cx="4953325" cy="93871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 err="1"/>
              <a:t>pred</a:t>
            </a:r>
            <a:r>
              <a:rPr lang="de-DE" sz="1100" dirty="0"/>
              <a:t> StutterSchritt_1 [</a:t>
            </a:r>
            <a:r>
              <a:rPr lang="de-DE" sz="1100" dirty="0" err="1"/>
              <a:t>tuer</a:t>
            </a:r>
            <a:r>
              <a:rPr lang="de-DE" sz="1100" dirty="0"/>
              <a:t>: TUER] {</a:t>
            </a:r>
          </a:p>
          <a:p>
            <a:r>
              <a:rPr lang="de-DE" sz="1100" dirty="0"/>
              <a:t>	all o: ORT | </a:t>
            </a:r>
            <a:r>
              <a:rPr lang="de-DE" sz="1100" dirty="0" err="1"/>
              <a:t>o.personenImOrtFein</a:t>
            </a:r>
            <a:r>
              <a:rPr lang="de-DE" sz="1100" dirty="0"/>
              <a:t>' = </a:t>
            </a:r>
            <a:r>
              <a:rPr lang="de-DE" sz="1100" dirty="0" err="1"/>
              <a:t>o.personenImOrtFein</a:t>
            </a:r>
            <a:endParaRPr lang="de-DE" sz="1100" dirty="0"/>
          </a:p>
          <a:p>
            <a:r>
              <a:rPr lang="de-DE" sz="1100" dirty="0"/>
              <a:t>	all o: ORT | </a:t>
            </a:r>
            <a:r>
              <a:rPr lang="de-DE" sz="1100" dirty="0" err="1"/>
              <a:t>o.personenImOrtGrob</a:t>
            </a:r>
            <a:r>
              <a:rPr lang="de-DE" sz="1100" dirty="0"/>
              <a:t>' = </a:t>
            </a:r>
            <a:r>
              <a:rPr lang="de-DE" sz="1100" dirty="0" err="1"/>
              <a:t>o.personenImOrtGrob</a:t>
            </a:r>
            <a:endParaRPr lang="de-DE" sz="1100" dirty="0"/>
          </a:p>
          <a:p>
            <a:r>
              <a:rPr lang="de-DE" sz="1100" dirty="0"/>
              <a:t>	all t: TUER - </a:t>
            </a:r>
            <a:r>
              <a:rPr lang="de-DE" sz="1100" dirty="0" err="1"/>
              <a:t>tuer</a:t>
            </a:r>
            <a:r>
              <a:rPr lang="de-DE" sz="1100" dirty="0"/>
              <a:t> | </a:t>
            </a:r>
            <a:r>
              <a:rPr lang="de-DE" sz="1100" dirty="0" err="1"/>
              <a:t>t.offen</a:t>
            </a:r>
            <a:r>
              <a:rPr lang="de-DE" sz="1100" dirty="0"/>
              <a:t>' = </a:t>
            </a:r>
            <a:r>
              <a:rPr lang="de-DE" sz="1100" dirty="0" err="1"/>
              <a:t>t.offen</a:t>
            </a:r>
            <a:endParaRPr lang="de-DE" sz="1100" dirty="0"/>
          </a:p>
          <a:p>
            <a:r>
              <a:rPr lang="de-DE" sz="1100" dirty="0"/>
              <a:t>}</a:t>
            </a:r>
          </a:p>
        </p:txBody>
      </p:sp>
      <p:sp>
        <p:nvSpPr>
          <p:cNvPr id="7" name="Textfeld 6">
            <a:extLst>
              <a:ext uri="{FF2B5EF4-FFF2-40B4-BE49-F238E27FC236}">
                <a16:creationId xmlns:a16="http://schemas.microsoft.com/office/drawing/2014/main" id="{5DEB1D68-4A8B-E472-1279-FD2120B1FB34}"/>
              </a:ext>
            </a:extLst>
          </p:cNvPr>
          <p:cNvSpPr txBox="1"/>
          <p:nvPr/>
        </p:nvSpPr>
        <p:spPr>
          <a:xfrm>
            <a:off x="6607629" y="4645519"/>
            <a:ext cx="4953325" cy="60016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sz="1100" dirty="0" err="1"/>
              <a:t>pred</a:t>
            </a:r>
            <a:r>
              <a:rPr lang="de-DE" sz="1100" dirty="0"/>
              <a:t> StutterSchritt_2{</a:t>
            </a:r>
          </a:p>
          <a:p>
            <a:r>
              <a:rPr lang="de-DE" sz="1100" dirty="0"/>
              <a:t>	all o: ORT | </a:t>
            </a:r>
            <a:r>
              <a:rPr lang="de-DE" sz="1100" dirty="0" err="1"/>
              <a:t>o.personenImOrtGrob</a:t>
            </a:r>
            <a:r>
              <a:rPr lang="de-DE" sz="1100" dirty="0"/>
              <a:t>' = </a:t>
            </a:r>
            <a:r>
              <a:rPr lang="de-DE" sz="1100" dirty="0" err="1"/>
              <a:t>o.personenImOrtGrob</a:t>
            </a:r>
            <a:endParaRPr lang="de-DE" sz="1100" dirty="0"/>
          </a:p>
          <a:p>
            <a:r>
              <a:rPr lang="de-DE" sz="1100" dirty="0"/>
              <a:t>}</a:t>
            </a:r>
          </a:p>
        </p:txBody>
      </p:sp>
      <p:sp>
        <p:nvSpPr>
          <p:cNvPr id="8" name="Textfeld 7">
            <a:extLst>
              <a:ext uri="{FF2B5EF4-FFF2-40B4-BE49-F238E27FC236}">
                <a16:creationId xmlns:a16="http://schemas.microsoft.com/office/drawing/2014/main" id="{4BDB31E2-EA9D-2A98-D6D6-3D61C00D1999}"/>
              </a:ext>
            </a:extLst>
          </p:cNvPr>
          <p:cNvSpPr txBox="1"/>
          <p:nvPr/>
        </p:nvSpPr>
        <p:spPr>
          <a:xfrm>
            <a:off x="631046" y="4169229"/>
            <a:ext cx="23077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Stutter</a:t>
            </a:r>
            <a:r>
              <a:rPr lang="de-DE" dirty="0"/>
              <a:t> Schritt 1</a:t>
            </a:r>
          </a:p>
        </p:txBody>
      </p:sp>
      <p:sp>
        <p:nvSpPr>
          <p:cNvPr id="10" name="Textfeld 9">
            <a:extLst>
              <a:ext uri="{FF2B5EF4-FFF2-40B4-BE49-F238E27FC236}">
                <a16:creationId xmlns:a16="http://schemas.microsoft.com/office/drawing/2014/main" id="{0FF60668-4C52-79E9-72D5-62FDFA62C04B}"/>
              </a:ext>
            </a:extLst>
          </p:cNvPr>
          <p:cNvSpPr txBox="1"/>
          <p:nvPr/>
        </p:nvSpPr>
        <p:spPr>
          <a:xfrm>
            <a:off x="6607629" y="4169229"/>
            <a:ext cx="2307772" cy="369332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r>
              <a:rPr lang="de-DE" dirty="0" err="1"/>
              <a:t>Stutter</a:t>
            </a:r>
            <a:r>
              <a:rPr lang="de-DE" dirty="0"/>
              <a:t> Schritt 2</a:t>
            </a:r>
          </a:p>
        </p:txBody>
      </p:sp>
      <p:sp>
        <p:nvSpPr>
          <p:cNvPr id="11" name="Pfeil: nach unten 10">
            <a:extLst>
              <a:ext uri="{FF2B5EF4-FFF2-40B4-BE49-F238E27FC236}">
                <a16:creationId xmlns:a16="http://schemas.microsoft.com/office/drawing/2014/main" id="{72C237B7-8732-E74C-ED1C-B6800D1F91A2}"/>
              </a:ext>
            </a:extLst>
          </p:cNvPr>
          <p:cNvSpPr/>
          <p:nvPr/>
        </p:nvSpPr>
        <p:spPr>
          <a:xfrm rot="2929018">
            <a:off x="3646714" y="3216730"/>
            <a:ext cx="478971" cy="85919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  <p:sp>
        <p:nvSpPr>
          <p:cNvPr id="13" name="Pfeil: nach unten 12">
            <a:extLst>
              <a:ext uri="{FF2B5EF4-FFF2-40B4-BE49-F238E27FC236}">
                <a16:creationId xmlns:a16="http://schemas.microsoft.com/office/drawing/2014/main" id="{E81A8CAA-6004-55B6-F30E-5CBB81AA738C}"/>
              </a:ext>
            </a:extLst>
          </p:cNvPr>
          <p:cNvSpPr/>
          <p:nvPr/>
        </p:nvSpPr>
        <p:spPr>
          <a:xfrm rot="19295337">
            <a:off x="6716484" y="3213005"/>
            <a:ext cx="478971" cy="859190"/>
          </a:xfrm>
          <a:prstGeom prst="downArrow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de-DE"/>
          </a:p>
        </p:txBody>
      </p:sp>
    </p:spTree>
    <p:extLst>
      <p:ext uri="{BB962C8B-B14F-4D97-AF65-F5344CB8AC3E}">
        <p14:creationId xmlns:p14="http://schemas.microsoft.com/office/powerpoint/2010/main" val="1831824900"/>
      </p:ext>
    </p:extLst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EDF6A5D-4C95-4AC6-E60E-BC29A3905D1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88D6716-FC6F-2870-65DA-4A4134048EB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Übersicht Verfeinerung</a:t>
            </a:r>
          </a:p>
        </p:txBody>
      </p:sp>
      <p:graphicFrame>
        <p:nvGraphicFramePr>
          <p:cNvPr id="4" name="Tabelle 3">
            <a:extLst>
              <a:ext uri="{FF2B5EF4-FFF2-40B4-BE49-F238E27FC236}">
                <a16:creationId xmlns:a16="http://schemas.microsoft.com/office/drawing/2014/main" id="{C67E998C-4A25-371F-1DDB-C59AA60E32B6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42752788"/>
              </p:ext>
            </p:extLst>
          </p:nvPr>
        </p:nvGraphicFramePr>
        <p:xfrm>
          <a:off x="1196602" y="2053723"/>
          <a:ext cx="9798795" cy="18491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59759">
                  <a:extLst>
                    <a:ext uri="{9D8B030D-6E8A-4147-A177-3AD203B41FA5}">
                      <a16:colId xmlns:a16="http://schemas.microsoft.com/office/drawing/2014/main" val="1468674191"/>
                    </a:ext>
                  </a:extLst>
                </a:gridCol>
                <a:gridCol w="1959759">
                  <a:extLst>
                    <a:ext uri="{9D8B030D-6E8A-4147-A177-3AD203B41FA5}">
                      <a16:colId xmlns:a16="http://schemas.microsoft.com/office/drawing/2014/main" val="4282488230"/>
                    </a:ext>
                  </a:extLst>
                </a:gridCol>
                <a:gridCol w="1959759">
                  <a:extLst>
                    <a:ext uri="{9D8B030D-6E8A-4147-A177-3AD203B41FA5}">
                      <a16:colId xmlns:a16="http://schemas.microsoft.com/office/drawing/2014/main" val="3657128543"/>
                    </a:ext>
                  </a:extLst>
                </a:gridCol>
                <a:gridCol w="1959759">
                  <a:extLst>
                    <a:ext uri="{9D8B030D-6E8A-4147-A177-3AD203B41FA5}">
                      <a16:colId xmlns:a16="http://schemas.microsoft.com/office/drawing/2014/main" val="2708837365"/>
                    </a:ext>
                  </a:extLst>
                </a:gridCol>
                <a:gridCol w="1959759">
                  <a:extLst>
                    <a:ext uri="{9D8B030D-6E8A-4147-A177-3AD203B41FA5}">
                      <a16:colId xmlns:a16="http://schemas.microsoft.com/office/drawing/2014/main" val="1138682161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endParaRPr lang="de-DE" dirty="0">
                        <a:solidFill>
                          <a:schemeClr val="tx1"/>
                        </a:solidFill>
                      </a:endParaRPr>
                    </a:p>
                  </a:txBody>
                  <a:tcPr>
                    <a:lnR w="12700" cmpd="sng">
                      <a:noFill/>
                    </a:lnR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Schritt 1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Schritt 2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solidFill>
                            <a:schemeClr val="tx1"/>
                          </a:solidFill>
                        </a:rPr>
                        <a:t>Schritt 3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4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b="0" dirty="0">
                          <a:solidFill>
                            <a:schemeClr val="tx1"/>
                          </a:solidFill>
                        </a:rPr>
                        <a:t>Frame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6489130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u="sng" dirty="0"/>
                        <a:t>Grobes Modell: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 err="1"/>
                        <a:t>Stutter</a:t>
                      </a:r>
                      <a:endParaRPr lang="de-DE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 err="1"/>
                        <a:t>Stutter</a:t>
                      </a:r>
                      <a:endParaRPr lang="de-DE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/>
                        <a:t>Betrete Raum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de-DE" dirty="0" err="1">
                          <a:highlight>
                            <a:srgbClr val="FFFF00"/>
                          </a:highlight>
                        </a:rPr>
                        <a:t>personenGrob</a:t>
                      </a:r>
                      <a:endParaRPr lang="de-DE" dirty="0">
                        <a:highlight>
                          <a:srgbClr val="FFFF00"/>
                        </a:highlight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88940088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u="sng" dirty="0"/>
                        <a:t>Verfeinerung:</a:t>
                      </a:r>
                    </a:p>
                  </a:txBody>
                  <a:tcPr>
                    <a:lnL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 err="1"/>
                        <a:t>Stutter</a:t>
                      </a:r>
                      <a:endParaRPr lang="de-DE" dirty="0"/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Betrete Tür</a:t>
                      </a:r>
                    </a:p>
                  </a:txBody>
                  <a:tcPr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Betrete Raum</a:t>
                      </a: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highlight>
                            <a:srgbClr val="FFFF00"/>
                          </a:highlight>
                        </a:rPr>
                        <a:t>personenFein</a:t>
                      </a:r>
                      <a:endParaRPr lang="de-DE" dirty="0">
                        <a:highlight>
                          <a:srgbClr val="FFFF00"/>
                        </a:highlight>
                      </a:endParaRPr>
                    </a:p>
                  </a:txBody>
                  <a:tcPr>
                    <a:lnL w="12700" cmpd="sng">
                      <a:noFill/>
                    </a:lnL>
                    <a:lnR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4422918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u="sng" dirty="0"/>
                        <a:t>Autorisierung: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Öffne Tür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Betrete Tür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/>
                        <a:t>Betrete Raum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 err="1">
                          <a:highlight>
                            <a:srgbClr val="FFFF00"/>
                          </a:highlight>
                        </a:rPr>
                        <a:t>türFälltZu</a:t>
                      </a:r>
                      <a:endParaRPr lang="de-DE" dirty="0">
                        <a:highlight>
                          <a:srgbClr val="FFFF00"/>
                        </a:highlight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80163732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r>
                        <a:rPr lang="de-DE" u="none" dirty="0" err="1"/>
                        <a:t>Stutter</a:t>
                      </a:r>
                      <a:endParaRPr lang="de-DE" u="none" dirty="0"/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highlight>
                            <a:srgbClr val="FFFF00"/>
                          </a:highlight>
                        </a:rPr>
                        <a:t>Stutter_1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r>
                        <a:rPr lang="de-DE" dirty="0">
                          <a:highlight>
                            <a:srgbClr val="FFFF00"/>
                          </a:highlight>
                        </a:rPr>
                        <a:t>Stutter_2</a:t>
                      </a: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dirty="0">
                        <a:highlight>
                          <a:srgbClr val="FFFF00"/>
                        </a:highlight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endParaRPr lang="de-DE" dirty="0">
                        <a:highlight>
                          <a:srgbClr val="FFFF00"/>
                        </a:highlight>
                      </a:endParaRPr>
                    </a:p>
                  </a:txBody>
                  <a:tcP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642602933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1351084073"/>
      </p:ext>
    </p:extLst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8846E93D-0952-ECE9-FDD8-53A67B58736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Beispiel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7BC86811-0630-4CE6-262F-B4496D5C66B3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973" y="2148279"/>
            <a:ext cx="6633598" cy="259358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643352633"/>
      </p:ext>
    </p:extLst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E979AF0C-DAB7-2368-9E4F-F9FBEF29B3E5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Beispiel</a:t>
            </a:r>
          </a:p>
        </p:txBody>
      </p:sp>
      <p:pic>
        <p:nvPicPr>
          <p:cNvPr id="5" name="Grafik 4">
            <a:extLst>
              <a:ext uri="{FF2B5EF4-FFF2-40B4-BE49-F238E27FC236}">
                <a16:creationId xmlns:a16="http://schemas.microsoft.com/office/drawing/2014/main" id="{BF09E39F-58BE-FD05-D335-FC277B1AF07C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853" y="2115049"/>
            <a:ext cx="6518053" cy="2554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61319577"/>
      </p:ext>
    </p:extLst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97B657D-25A8-96EC-B9D9-D4685A322FA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26388F60-691E-0A2F-D32E-4CBA498AAD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Beispiel</a:t>
            </a:r>
          </a:p>
        </p:txBody>
      </p:sp>
      <p:pic>
        <p:nvPicPr>
          <p:cNvPr id="7" name="Grafik 6">
            <a:extLst>
              <a:ext uri="{FF2B5EF4-FFF2-40B4-BE49-F238E27FC236}">
                <a16:creationId xmlns:a16="http://schemas.microsoft.com/office/drawing/2014/main" id="{A703573B-DCD4-B4FA-0C39-AB622DF501A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973" y="2115049"/>
            <a:ext cx="6526441" cy="255487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285879249"/>
      </p:ext>
    </p:extLst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6673E8D-B5E5-F5CD-B22B-F4BAC9101FD1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el 1">
            <a:extLst>
              <a:ext uri="{FF2B5EF4-FFF2-40B4-BE49-F238E27FC236}">
                <a16:creationId xmlns:a16="http://schemas.microsoft.com/office/drawing/2014/main" id="{724264E5-7506-0BCB-AE1F-431237367EC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de-DE" dirty="0"/>
              <a:t>Beispiel</a:t>
            </a:r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D702481C-2283-1717-4E25-3DC823D18EB5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836973" y="2115049"/>
            <a:ext cx="7431191" cy="255487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62779171"/>
      </p:ext>
    </p:extLst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6" name="Google Shape;86;p 3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8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384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Anforderung: Authentifizierungsgerät pro Tür, Bewohner:in vs. Gast, Ereignis authentifizieren, Vor-/Nachbedingungen bei Erfolg/Misserfolg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Alloy: sigs für Authentifizierung/Bewohner/Gast, pred authentifizieren, checks wie „geschlossene Tür kann nicht ohne gültige Berechtigung passiert werden", Gegenbeispielsuche für Gast-Versuch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Lean: Beweis, dass fehlgeschlagene Authentifizierung den Zustand nicht verändert; Beweis der Invariante „geschlossene Türen bleiben ohne Berechtigung geschlossen“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09" name="Google Shape;89;p 3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0" name="PlaceHolder 3"/>
          <p:cNvSpPr>
            <a:spLocks noGrp="1"/>
          </p:cNvSpPr>
          <p:nvPr>
            <p:ph type="sldNum" idx="22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87EDA6C-6AF0-4300-8371-54FB16D8F05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28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95;p 5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1025604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Konsistenz zwischen Modellen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228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Anforderungen, Umsetzung in Alloy und Lean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98;p 5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3"/>
          <p:cNvSpPr>
            <a:spLocks noGrp="1"/>
          </p:cNvSpPr>
          <p:nvPr>
            <p:ph type="sldNum" idx="23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9AA853D-9C80-40BA-9B9E-64BAEA0160A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29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86;p 4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8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384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Anforderung: Verfeinerung muss auf-/abwärtskompatibel sein — was in Stufe 3 möglich ist, muss (von außen betrachtet) auch in Stufe 1 gültig sein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Alloy: wie die Modellprüfung das für begrenzte Instanzen stichprobenartig zeigt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Lean: der allgemeine Beweis, dass alle drei Modelle dasselbe fachliche Ergebnis liefert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9" name="Google Shape;89;p 4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0" name="PlaceHolder 3"/>
          <p:cNvSpPr>
            <a:spLocks noGrp="1"/>
          </p:cNvSpPr>
          <p:nvPr>
            <p:ph type="sldNum" idx="24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C5126BD-A769-49BA-A77F-45FAC6CA2E48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30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A98AA07-711F-0D8F-214C-385CF8E3903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95;p 5">
            <a:extLst>
              <a:ext uri="{FF2B5EF4-FFF2-40B4-BE49-F238E27FC236}">
                <a16:creationId xmlns:a16="http://schemas.microsoft.com/office/drawing/2014/main" id="{4F0F9D16-2878-949C-99FE-37186AE00C9D}"/>
              </a:ext>
            </a:extLst>
          </p:cNvPr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2" name="PlaceHolder 1">
            <a:extLst>
              <a:ext uri="{FF2B5EF4-FFF2-40B4-BE49-F238E27FC236}">
                <a16:creationId xmlns:a16="http://schemas.microsoft.com/office/drawing/2014/main" id="{6C345EB6-4A66-54C5-4D72-A5CB1285213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43960" y="3681360"/>
            <a:ext cx="1025604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Beweisen</a:t>
            </a:r>
            <a:r>
              <a:rPr lang="en-US" sz="4400" b="0" u="none" strike="noStrike" dirty="0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des </a:t>
            </a:r>
            <a:r>
              <a:rPr lang="en-US" sz="4400" b="0" u="none" strike="noStrike" dirty="0" err="1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Modells</a:t>
            </a:r>
            <a:r>
              <a:rPr lang="en-US" sz="4400" b="0" u="none" strike="noStrike" dirty="0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 in Lean</a:t>
            </a:r>
            <a:endParaRPr lang="de-DE" sz="44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3" name="PlaceHolder 2">
            <a:extLst>
              <a:ext uri="{FF2B5EF4-FFF2-40B4-BE49-F238E27FC236}">
                <a16:creationId xmlns:a16="http://schemas.microsoft.com/office/drawing/2014/main" id="{46460D4D-EB6E-E977-8A69-9C6050E19C08}"/>
              </a:ext>
            </a:extLst>
          </p:cNvPr>
          <p:cNvSpPr>
            <a:spLocks noGrp="1"/>
          </p:cNvSpPr>
          <p:nvPr>
            <p:ph/>
          </p:nvPr>
        </p:nvSpPr>
        <p:spPr>
          <a:xfrm>
            <a:off x="543960" y="4689360"/>
            <a:ext cx="762228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endParaRPr lang="de-DE" sz="20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14" name="Google Shape;98;p 5">
            <a:extLst>
              <a:ext uri="{FF2B5EF4-FFF2-40B4-BE49-F238E27FC236}">
                <a16:creationId xmlns:a16="http://schemas.microsoft.com/office/drawing/2014/main" id="{2DA2C707-1585-2878-044B-16DCBF3737F4}"/>
              </a:ext>
            </a:extLst>
          </p:cNvPr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15" name="PlaceHolder 3">
            <a:extLst>
              <a:ext uri="{FF2B5EF4-FFF2-40B4-BE49-F238E27FC236}">
                <a16:creationId xmlns:a16="http://schemas.microsoft.com/office/drawing/2014/main" id="{365CBA93-7DA2-6CA4-76F0-462D8B4EB4A2}"/>
              </a:ext>
            </a:extLst>
          </p:cNvPr>
          <p:cNvSpPr>
            <a:spLocks noGrp="1"/>
          </p:cNvSpPr>
          <p:nvPr>
            <p:ph type="sldNum" idx="23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59AA853D-9C80-40BA-9B9E-64BAEA0160A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31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  <p:extLst>
      <p:ext uri="{BB962C8B-B14F-4D97-AF65-F5344CB8AC3E}">
        <p14:creationId xmlns:p14="http://schemas.microsoft.com/office/powerpoint/2010/main" val="1263378976"/>
      </p:ext>
    </p:extLst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95;p 6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2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1025604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Alloy vs Lean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3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228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Vergleich von Vor- und Nachteilen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4" name="Google Shape;98;p 6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25" name="PlaceHolder 3"/>
          <p:cNvSpPr>
            <a:spLocks noGrp="1"/>
          </p:cNvSpPr>
          <p:nvPr>
            <p:ph type="sldNum" idx="25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B412A9EA-D753-4E19-B0B6-1EC0138D149C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32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86;p 5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8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384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Vergleichstabelle aus UMSETZUNG.md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29" name="Google Shape;89;p 5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0" name="PlaceHolder 3"/>
          <p:cNvSpPr>
            <a:spLocks noGrp="1"/>
          </p:cNvSpPr>
          <p:nvPr>
            <p:ph type="sldNum" idx="26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F89E0C05-A1E9-4841-8CBE-6A6C006EDDAC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33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95;p3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2" name="PlaceHolder 1"/>
          <p:cNvSpPr>
            <a:spLocks noGrp="1"/>
          </p:cNvSpPr>
          <p:nvPr>
            <p:ph type="title"/>
          </p:nvPr>
        </p:nvSpPr>
        <p:spPr>
          <a:xfrm>
            <a:off x="543960" y="3681360"/>
            <a:ext cx="7622280" cy="10076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44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Fazit und Ausblick</a:t>
            </a:r>
            <a:endParaRPr lang="de-DE" sz="44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3" name="PlaceHolder 2"/>
          <p:cNvSpPr>
            <a:spLocks noGrp="1"/>
          </p:cNvSpPr>
          <p:nvPr>
            <p:ph/>
          </p:nvPr>
        </p:nvSpPr>
        <p:spPr>
          <a:xfrm>
            <a:off x="543960" y="4689360"/>
            <a:ext cx="7622280" cy="1368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2000" b="0" u="none" strike="noStrike">
                <a:solidFill>
                  <a:srgbClr val="FFFFFF"/>
                </a:solidFill>
                <a:effectLst/>
                <a:uFillTx/>
                <a:latin typeface="Arial"/>
                <a:ea typeface="Arial"/>
              </a:rPr>
              <a:t>Was getan ist und was als nächstes möglich wäre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4" name="Google Shape;98;p3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FFFFFF"/>
              </a:solidFill>
              <a:effectLst/>
              <a:uFillTx/>
              <a:latin typeface="Arial"/>
            </a:endParaRPr>
          </a:p>
        </p:txBody>
      </p:sp>
      <p:sp>
        <p:nvSpPr>
          <p:cNvPr id="135" name="PlaceHolder 3"/>
          <p:cNvSpPr>
            <a:spLocks noGrp="1"/>
          </p:cNvSpPr>
          <p:nvPr>
            <p:ph type="sldNum" idx="27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1A304693-83CA-4079-B8EA-8654522E441F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34</a:t>
            </a:fld>
            <a:endParaRPr lang="de-DE" sz="1000" b="0" u="none" strike="noStrike">
              <a:solidFill>
                <a:srgbClr val="FFFFFF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78;p8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7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Inhalt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8" name="PlaceHolder 2"/>
          <p:cNvSpPr>
            <a:spLocks noGrp="1"/>
          </p:cNvSpPr>
          <p:nvPr>
            <p:ph/>
          </p:nvPr>
        </p:nvSpPr>
        <p:spPr>
          <a:xfrm>
            <a:off x="543960" y="1484280"/>
            <a:ext cx="1110384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Zusammenfassung der drei Stufen und ihrer Garantien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Erweiterungsideen aus IDEE.md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39" name="Google Shape;181;p8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0" name="PlaceHolder 3"/>
          <p:cNvSpPr>
            <a:spLocks noGrp="1"/>
          </p:cNvSpPr>
          <p:nvPr>
            <p:ph type="sldNum" idx="28"/>
          </p:nvPr>
        </p:nvSpPr>
        <p:spPr>
          <a:xfrm>
            <a:off x="11473200" y="6416640"/>
            <a:ext cx="17424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C35C0622-9106-4BA3-9BA3-1E580F727749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35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232;p14"/>
          <p:cNvSpPr/>
          <p:nvPr/>
        </p:nvSpPr>
        <p:spPr>
          <a:xfrm>
            <a:off x="1569600" y="6417000"/>
            <a:ext cx="435708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Smart Home – Zugangskontrollsystem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2" name="PlaceHolder 1"/>
          <p:cNvSpPr>
            <a:spLocks noGrp="1"/>
          </p:cNvSpPr>
          <p:nvPr>
            <p:ph type="title"/>
          </p:nvPr>
        </p:nvSpPr>
        <p:spPr>
          <a:xfrm>
            <a:off x="543960" y="692280"/>
            <a:ext cx="11103840" cy="57600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b">
            <a:normAutofit/>
          </a:bodyPr>
          <a:lstStyle/>
          <a:p>
            <a:pPr indent="0" algn="l">
              <a:lnSpc>
                <a:spcPct val="90000"/>
              </a:lnSpc>
              <a:buNone/>
              <a:tabLst>
                <a:tab pos="0" algn="l"/>
              </a:tabLst>
            </a:pPr>
            <a:r>
              <a:rPr lang="en-US" sz="32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Sources</a:t>
            </a:r>
            <a:endParaRPr lang="de-DE" sz="32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3" name="PlaceHolder 2"/>
          <p:cNvSpPr>
            <a:spLocks noGrp="1"/>
          </p:cNvSpPr>
          <p:nvPr>
            <p:ph/>
          </p:nvPr>
        </p:nvSpPr>
        <p:spPr>
          <a:xfrm>
            <a:off x="543960" y="1471680"/>
            <a:ext cx="11103840" cy="457308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t">
            <a:normAutofit/>
          </a:bodyPr>
          <a:lstStyle/>
          <a:p>
            <a:pPr marL="228600" indent="-228600" algn="l">
              <a:lnSpc>
                <a:spcPct val="90000"/>
              </a:lnSpc>
              <a:spcBef>
                <a:spcPts val="1191"/>
              </a:spcBef>
              <a:spcAft>
                <a:spcPts val="992"/>
              </a:spcAft>
              <a:buClr>
                <a:srgbClr val="E00514"/>
              </a:buClr>
              <a:buFont typeface="Arial"/>
              <a:buChar char="•"/>
            </a:pPr>
            <a:r>
              <a:rPr lang="en-US" sz="2000" b="0" u="none" strike="noStrike">
                <a:solidFill>
                  <a:srgbClr val="361E47"/>
                </a:solidFill>
                <a:effectLst/>
                <a:uFillTx/>
                <a:latin typeface="Arial"/>
                <a:ea typeface="Arial"/>
              </a:rPr>
              <a:t>Bla bla</a:t>
            </a:r>
            <a:endParaRPr lang="de-DE" sz="2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4" name="Google Shape;235;p14"/>
          <p:cNvSpPr/>
          <p:nvPr/>
        </p:nvSpPr>
        <p:spPr>
          <a:xfrm>
            <a:off x="589680" y="6417000"/>
            <a:ext cx="748440" cy="2433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45720" rIns="45720" anchor="ctr">
            <a:spAutoFit/>
          </a:bodyPr>
          <a:lstStyle/>
          <a:p>
            <a:pPr>
              <a:lnSpc>
                <a:spcPct val="100000"/>
              </a:lnSpc>
              <a:tabLst>
                <a:tab pos="0" algn="l"/>
              </a:tabLst>
            </a:pPr>
            <a:r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19.08.2026</a:t>
            </a:r>
            <a:endParaRPr lang="de-DE" sz="10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145" name="PlaceHolder 3"/>
          <p:cNvSpPr>
            <a:spLocks noGrp="1"/>
          </p:cNvSpPr>
          <p:nvPr>
            <p:ph type="sldNum" idx="29"/>
          </p:nvPr>
        </p:nvSpPr>
        <p:spPr>
          <a:xfrm>
            <a:off x="11402640" y="6416640"/>
            <a:ext cx="245160" cy="244440"/>
          </a:xfrm>
          <a:prstGeom prst="rect">
            <a:avLst/>
          </a:prstGeom>
          <a:noFill/>
          <a:ln w="0">
            <a:noFill/>
          </a:ln>
        </p:spPr>
        <p:txBody>
          <a:bodyPr lIns="45720" tIns="45720" rIns="45720" bIns="45720" anchor="ctr">
            <a:spAutoFit/>
          </a:bodyPr>
          <a:lstStyle>
            <a:lvl1pPr indent="0" algn="r">
              <a:lnSpc>
                <a:spcPct val="100000"/>
              </a:lnSpc>
              <a:buNone/>
              <a:tabLst>
                <a:tab pos="0" algn="l"/>
              </a:tabLst>
              <a:def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defRPr>
            </a:lvl1pPr>
          </a:lstStyle>
          <a:p>
            <a:pPr indent="0" algn="r">
              <a:lnSpc>
                <a:spcPct val="100000"/>
              </a:lnSpc>
              <a:buNone/>
              <a:tabLst>
                <a:tab pos="0" algn="l"/>
              </a:tabLst>
            </a:pPr>
            <a:fld id="{EB85C331-FD1B-4C4B-B53D-CD52F544C583}" type="slidenum">
              <a:rPr lang="en-US" sz="1000" b="0" u="none" strike="noStrike">
                <a:solidFill>
                  <a:srgbClr val="C4B9C8"/>
                </a:solidFill>
                <a:effectLst/>
                <a:uFillTx/>
                <a:latin typeface="Arial"/>
                <a:ea typeface="Arial"/>
              </a:rPr>
              <a:t>36</a:t>
            </a:fld>
            <a:endParaRPr lang="de-DE" sz="1000" b="0" u="none" strike="noStrike">
              <a:solidFill>
                <a:srgbClr val="000000"/>
              </a:solidFill>
              <a:effectLst/>
              <a:uFillTx/>
              <a:latin typeface="Times New Roman"/>
            </a:endParaRP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">
  <a:themeElements>
    <a:clrScheme name="Office">
      <a:dk1>
        <a:srgbClr val="361E47"/>
      </a:dk1>
      <a:lt1>
        <a:srgbClr val="FFFFFF"/>
      </a:lt1>
      <a:dk2>
        <a:srgbClr val="A7A7A7"/>
      </a:dk2>
      <a:lt2>
        <a:srgbClr val="535353"/>
      </a:lt2>
      <a:accent1>
        <a:srgbClr val="E00514"/>
      </a:accent1>
      <a:accent2>
        <a:srgbClr val="A42564"/>
      </a:accent2>
      <a:accent3>
        <a:srgbClr val="5E3EE1"/>
      </a:accent3>
      <a:accent4>
        <a:srgbClr val="F6D0F1"/>
      </a:accent4>
      <a:accent5>
        <a:srgbClr val="B44D79"/>
      </a:accent5>
      <a:accent6>
        <a:srgbClr val="7E63E8"/>
      </a:accent6>
      <a:hlink>
        <a:srgbClr val="0000FF"/>
      </a:hlink>
      <a:folHlink>
        <a:srgbClr val="FF00FF"/>
      </a:folHlink>
    </a:clrScheme>
    <a:fontScheme name="Office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tint val="50000"/>
              </a:schemeClr>
            </a:gs>
            <a:gs pos="35000">
              <a:schemeClr val="phClr">
                <a:tint val="37000"/>
              </a:schemeClr>
            </a:gs>
            <a:gs pos="100000">
              <a:schemeClr val="phClr">
                <a:tint val="15000"/>
              </a:schemeClr>
            </a:gs>
          </a:gsLst>
          <a:lin ang="16200000" scaled="1"/>
          <a:tileRect/>
        </a:gradFill>
        <a:gradFill>
          <a:gsLst>
            <a:gs pos="0">
              <a:schemeClr val="phClr">
                <a:tint val="100000"/>
                <a:shade val="100000"/>
              </a:schemeClr>
            </a:gs>
            <a:gs pos="100000">
              <a:schemeClr val="phClr">
                <a:tint val="50000"/>
                <a:shade val="100000"/>
              </a:schemeClr>
            </a:gs>
          </a:gsLst>
          <a:lin ang="16200000" scaled="0"/>
          <a:tileRect/>
        </a:gradFill>
      </a:fillStyleLst>
      <a:lnStyleLst>
        <a:ln w="9525" cap="flat" cmpd="sng" algn="ctr">
          <a:prstDash val="solid"/>
        </a:ln>
        <a:ln w="25400" cap="flat" cmpd="sng" algn="ctr">
          <a:prstDash val="solid"/>
        </a:ln>
        <a:ln w="38100" cap="flat" cmpd="sng" algn="ctr"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gradFill>
          <a:gsLst>
            <a:gs pos="0">
              <a:schemeClr val="phClr">
                <a:tint val="40000"/>
              </a:schemeClr>
            </a:gs>
            <a:gs pos="40000">
              <a:schemeClr val="phClr">
                <a:tint val="45000"/>
                <a:shade val="99000"/>
              </a:schemeClr>
            </a:gs>
            <a:gs pos="100000">
              <a:schemeClr val="phClr">
                <a:shade val="20000"/>
              </a:schemeClr>
            </a:gs>
          </a:gsLst>
          <a:path path="circle">
            <a:fillToRect l="50000" t="-80000" r="50000" b="180000"/>
          </a:path>
          <a:tileRect/>
        </a:gradFill>
        <a:gradFill>
          <a:gsLst>
            <a:gs pos="0">
              <a:schemeClr val="phClr">
                <a:tint val="80000"/>
              </a:schemeClr>
            </a:gs>
            <a:gs pos="100000">
              <a:schemeClr val="phClr">
                <a:shade val="30000"/>
              </a:schemeClr>
            </a:gs>
          </a:gsLst>
          <a:path path="circle">
            <a:fillToRect l="50000" t="50000" r="50000" b="50000"/>
          </a:path>
          <a:tileRect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Theme">
  <a:themeElements>
    <a:clrScheme name="LibreOffice">
      <a:dk1>
        <a:srgbClr val="000000"/>
      </a:dk1>
      <a:lt1>
        <a:srgbClr val="FFFFFF"/>
      </a:lt1>
      <a:dk2>
        <a:srgbClr val="000000"/>
      </a:dk2>
      <a:lt2>
        <a:srgbClr val="FFFFFF"/>
      </a:lt2>
      <a:accent1>
        <a:srgbClr val="18A303"/>
      </a:accent1>
      <a:accent2>
        <a:srgbClr val="0369A3"/>
      </a:accent2>
      <a:accent3>
        <a:srgbClr val="A33E03"/>
      </a:accent3>
      <a:accent4>
        <a:srgbClr val="8E03A3"/>
      </a:accent4>
      <a:accent5>
        <a:srgbClr val="C99C00"/>
      </a:accent5>
      <a:accent6>
        <a:srgbClr val="C9211E"/>
      </a:accent6>
      <a:hlink>
        <a:srgbClr val="0000EE"/>
      </a:hlink>
      <a:folHlink>
        <a:srgbClr val="551A8B"/>
      </a:folHlink>
    </a:clrScheme>
    <a:fontScheme name="Office">
      <a:majorFont>
        <a:latin typeface="Arial"/>
        <a:ea typeface="DejaVu Sans"/>
        <a:cs typeface="DejaVu Sans"/>
      </a:majorFont>
      <a:minorFont>
        <a:latin typeface="Arial"/>
        <a:ea typeface="DejaVu Sans"/>
        <a:cs typeface="DejaVu Sans"/>
      </a:minorFont>
    </a:fontScheme>
    <a:fmtScheme>
      <a:fillStyleLst>
        <a:solidFill>
          <a:schemeClr val="phClr"/>
        </a:solidFill>
        <a:solidFill>
          <a:schemeClr val="phClr"/>
        </a:solidFill>
        <a:solidFill>
          <a:schemeClr val="phClr"/>
        </a:solidFill>
      </a:fillStyleLst>
      <a:lnStyleLst>
        <a:ln w="6350" cap="flat" cmpd="sng" algn="ctr">
          <a:prstDash val="solid"/>
          <a:miter/>
        </a:ln>
        <a:ln w="6350" cap="flat" cmpd="sng" algn="ctr">
          <a:prstDash val="solid"/>
          <a:miter/>
        </a:ln>
        <a:ln w="6350" cap="flat" cmpd="sng" algn="ctr">
          <a:prstDash val="solid"/>
          <a:miter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/>
        </a:solidFill>
        <a:solidFill>
          <a:schemeClr val="phClr"/>
        </a:soli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0</TotalTime>
  <Words>2031</Words>
  <Application>Microsoft Office PowerPoint</Application>
  <PresentationFormat>Breitbild</PresentationFormat>
  <Paragraphs>405</Paragraphs>
  <Slides>36</Slides>
  <Notes>18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5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36</vt:i4>
      </vt:variant>
    </vt:vector>
  </HeadingPairs>
  <TitlesOfParts>
    <vt:vector size="42" baseType="lpstr">
      <vt:lpstr>Arial</vt:lpstr>
      <vt:lpstr>Symbol</vt:lpstr>
      <vt:lpstr>Times New Roman</vt:lpstr>
      <vt:lpstr>Wingdings</vt:lpstr>
      <vt:lpstr>Wingdings 2</vt:lpstr>
      <vt:lpstr>Office</vt:lpstr>
      <vt:lpstr>Reliable Software –  Smart Home System</vt:lpstr>
      <vt:lpstr>Inhalt</vt:lpstr>
      <vt:lpstr>Einleitung in das Thema</vt:lpstr>
      <vt:lpstr>Grobes Thema</vt:lpstr>
      <vt:lpstr>Ziel</vt:lpstr>
      <vt:lpstr>Spezifikation</vt:lpstr>
      <vt:lpstr>Spezifikationsschritte</vt:lpstr>
      <vt:lpstr>Umsetzung in Alloy</vt:lpstr>
      <vt:lpstr>Übersicht der Objekte</vt:lpstr>
      <vt:lpstr>Übersicht der Axiome</vt:lpstr>
      <vt:lpstr>Übersicht der Objekte</vt:lpstr>
      <vt:lpstr>Erstes Grobes Modell</vt:lpstr>
      <vt:lpstr>Grobes Modell</vt:lpstr>
      <vt:lpstr>Inhalt</vt:lpstr>
      <vt:lpstr>Verfeinertes Modell</vt:lpstr>
      <vt:lpstr>Feines Modell</vt:lpstr>
      <vt:lpstr>Übersicht Verfeinerung</vt:lpstr>
      <vt:lpstr>Inhalt</vt:lpstr>
      <vt:lpstr>Verfeinertes Modell mit Autorisierung</vt:lpstr>
      <vt:lpstr>Feines Modell mit Autorisierung</vt:lpstr>
      <vt:lpstr>Synchronisierung der Modelle</vt:lpstr>
      <vt:lpstr>Übersicht Verfeinerung</vt:lpstr>
      <vt:lpstr>Übersicht Verfeinerung</vt:lpstr>
      <vt:lpstr>Beispiel</vt:lpstr>
      <vt:lpstr>Beispiel</vt:lpstr>
      <vt:lpstr>Beispiel</vt:lpstr>
      <vt:lpstr>Beispiel</vt:lpstr>
      <vt:lpstr>Inhalt</vt:lpstr>
      <vt:lpstr>Konsistenz zwischen Modellen</vt:lpstr>
      <vt:lpstr>Inhalt</vt:lpstr>
      <vt:lpstr>Beweisen des Modells in Lean</vt:lpstr>
      <vt:lpstr>Alloy vs Lean</vt:lpstr>
      <vt:lpstr>Inhalt</vt:lpstr>
      <vt:lpstr>Fazit und Ausblick</vt:lpstr>
      <vt:lpstr>Inhalt</vt:lpstr>
      <vt:lpstr>Sources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dc:description/>
  <cp:lastModifiedBy>_r_m66r71o@hsrheinmain.onmicrosoft.com</cp:lastModifiedBy>
  <cp:revision>19</cp:revision>
  <dcterms:modified xsi:type="dcterms:W3CDTF">2026-08-15T19:25:39Z</dcterms:modified>
  <dc:language>de-DE</dc:language>
</cp:coreProperties>
</file>