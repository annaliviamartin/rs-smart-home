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4.svg" ContentType="image/svg"/>
  <Override PartName="/ppt/media/image16.svg" ContentType="image/svg"/>
  <Override PartName="/ppt/media/image18.svg" ContentType="image/svg"/>
  <Override PartName="/ppt/media/image22.svg" ContentType="image/svg"/>
  <Override PartName="/ppt/media/image24.svg" ContentType="image/svg"/>
  <Override PartName="/ppt/media/image35.svg" ContentType="image/svg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1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ftr" idx="1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21E591B-51E7-45BB-AD1E-9E51E172BFBD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210BFAB-F29A-4AE2-A69F-08E4BE3929FB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172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5000" cy="2295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5000" cy="2295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52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5160" cy="10749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5160" cy="10749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7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85E375-62ED-4C1C-87C0-74C290531E2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sldNum" idx="3"/>
          </p:nvPr>
        </p:nvSpPr>
        <p:spPr>
          <a:xfrm>
            <a:off x="5892840" y="6233760"/>
            <a:ext cx="28432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DE1193-919C-4EDF-A5D4-46934E2DA78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48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48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Google Shape;13;p16" descr="Grafik 7"/>
          <p:cNvPicPr/>
          <p:nvPr/>
        </p:nvPicPr>
        <p:blipFill>
          <a:blip r:embed="rId3"/>
          <a:srcRect l="0" t="33694" r="9034" b="0"/>
          <a:stretch/>
        </p:blipFill>
        <p:spPr>
          <a:xfrm>
            <a:off x="4588200" y="0"/>
            <a:ext cx="7602480" cy="65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3"/>
          <p:cNvSpPr>
            <a:spLocks noGrp="1"/>
          </p:cNvSpPr>
          <p:nvPr>
            <p:ph type="sldNum" idx="4"/>
          </p:nvPr>
        </p:nvSpPr>
        <p:spPr>
          <a:xfrm>
            <a:off x="5892840" y="6233760"/>
            <a:ext cx="28432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832ED1-E911-4E23-82A4-626A6B36BDD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DB4372-03A1-4430-BBBF-734415BD4D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4A902A-1F5A-457A-8476-F0762751543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20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3"/>
          <p:cNvSpPr>
            <a:spLocks noGrp="1"/>
          </p:cNvSpPr>
          <p:nvPr>
            <p:ph type="sldNum" idx="7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B1CE3E-1DC0-4F42-A651-A0CDA39628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052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52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FEFEA1-3D84-46A9-83BE-9F3FDA56E98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600" cy="520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52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4664C1-C075-4FFA-A9F6-47A440880CB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5080" cy="219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508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3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01F7F7-9E41-4B58-9127-FDA146E7A3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6080" cy="6856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6080" cy="6856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48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48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1"/>
          </p:nvPr>
        </p:nvSpPr>
        <p:spPr>
          <a:xfrm>
            <a:off x="5892840" y="6233760"/>
            <a:ext cx="28432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D93D7D-72C3-45E0-BC76-0674F0732F2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20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D79E91-4EFB-4228-B0AF-E62E760F7977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48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48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600" cy="520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3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7EE2A9-F069-416D-9D7E-8BAC3A7C4A4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760" cy="9669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oogle Shape;57;p25"/>
          <p:cNvGrpSpPr/>
          <p:nvPr/>
        </p:nvGrpSpPr>
        <p:grpSpPr>
          <a:xfrm>
            <a:off x="10884240" y="488880"/>
            <a:ext cx="889920" cy="213480"/>
            <a:chOff x="10884240" y="488880"/>
            <a:chExt cx="889920" cy="213480"/>
          </a:xfrm>
        </p:grpSpPr>
        <p:sp>
          <p:nvSpPr>
            <p:cNvPr id="7" name="Google Shape;58;p25"/>
            <p:cNvSpPr/>
            <p:nvPr/>
          </p:nvSpPr>
          <p:spPr>
            <a:xfrm>
              <a:off x="10884240" y="490680"/>
              <a:ext cx="675360" cy="211680"/>
            </a:xfrm>
            <a:custGeom>
              <a:avLst/>
              <a:gdLst>
                <a:gd name="textAreaLeft" fmla="*/ 0 w 675360"/>
                <a:gd name="textAreaRight" fmla="*/ 676800 w 675360"/>
                <a:gd name="textAreaTop" fmla="*/ 0 h 211680"/>
                <a:gd name="textAreaBottom" fmla="*/ 213120 h 21168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Google Shape;59;p25"/>
            <p:cNvSpPr/>
            <p:nvPr/>
          </p:nvSpPr>
          <p:spPr>
            <a:xfrm>
              <a:off x="11617920" y="488880"/>
              <a:ext cx="156240" cy="149400"/>
            </a:xfrm>
            <a:custGeom>
              <a:avLst/>
              <a:gdLst>
                <a:gd name="textAreaLeft" fmla="*/ 0 w 156240"/>
                <a:gd name="textAreaRight" fmla="*/ 157680 w 156240"/>
                <a:gd name="textAreaTop" fmla="*/ 0 h 149400"/>
                <a:gd name="textAreaBottom" fmla="*/ 150840 h 14940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" name="PlaceHolder 4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408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8FE3F9-01FA-4307-8AC3-C7AC4B55899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1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Relationship Id="rId9" Type="http://schemas.openxmlformats.org/officeDocument/2006/relationships/slideLayout" Target="../slideLayouts/slideLayout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12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5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5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5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5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5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slideLayout" Target="../slideLayouts/slideLayout12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slideLayout" Target="../slideLayouts/slideLayout5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48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048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80;p1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6600" cy="44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6;p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 &amp; Problemstellung: Zugangskontrollsystem, Beispiel Bernd &amp; Sandmännchen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Grober Gebäude-/Raumplan zur Veranschaulichung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Ankündigung des Vorgehens: drei Verfeinerungsstufen nach Event-B, jeweils formal geprüft mit Alloy (Modellprüfung) und bewiesen mit Lean (Beweis)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Kurzer Überblick über das abstrakte Datenmodell (Person/Bewohner:in/Gast, Ort/Raum/Zimmer/Garten/Tür) — Klassendiagramm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89;p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17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FCBECE-6166-4D71-A215-41340F73D4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95;p 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9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Einleitung in das Thema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98;p 3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5077EF-EEAD-48B1-9A6D-21B51B939F7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86;p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Thema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89;p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19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7ECD04-D66E-4680-A92A-4582D7228BE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4" name="Grafik 4"/>
          <p:cNvPicPr/>
          <p:nvPr/>
        </p:nvPicPr>
        <p:blipFill>
          <a:blip r:embed="rId1"/>
          <a:stretch/>
        </p:blipFill>
        <p:spPr>
          <a:xfrm>
            <a:off x="4101120" y="1268280"/>
            <a:ext cx="3988440" cy="475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86;p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Bewegungsmodellierung in Räumen von Unterschiedlichen Personen mit unterschiedlichen Berechtigungen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89;p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B1F622-1B5C-4422-AB6B-F1DAA9BBC36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95;p 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9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Spezifikation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 für die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98;p 3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21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F9EBCF-C61F-4229-A514-CBCB318F9A5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86;p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Spezifikationsschritte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Hier die Spezifikationsschritte für die Zielerreichung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89;p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4B6BDD-9BE5-48A0-A270-46706232850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95;p 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9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98;p 3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97741D-4C2B-4953-B96E-40D6B9AECDC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24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58E3D7-1308-4522-A7FB-1FC302AF88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" name="Grafik 2"/>
          <p:cNvPicPr/>
          <p:nvPr/>
        </p:nvPicPr>
        <p:blipFill>
          <a:blip r:embed="rId1"/>
          <a:stretch/>
        </p:blipFill>
        <p:spPr>
          <a:xfrm>
            <a:off x="2303640" y="1268280"/>
            <a:ext cx="7583400" cy="457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ldNum" idx="25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1F637A-A244-4146-8270-36CA530C5C2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4" name="Grafik 10"/>
          <p:cNvPicPr/>
          <p:nvPr/>
        </p:nvPicPr>
        <p:blipFill>
          <a:blip r:embed="rId1"/>
          <a:stretch/>
        </p:blipFill>
        <p:spPr>
          <a:xfrm>
            <a:off x="6013800" y="2561760"/>
            <a:ext cx="4981320" cy="19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feld 11"/>
          <p:cNvSpPr/>
          <p:nvPr/>
        </p:nvSpPr>
        <p:spPr>
          <a:xfrm>
            <a:off x="589680" y="1268280"/>
            <a:ext cx="4250160" cy="43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PERSON{}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BEWOHNER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GAST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personenImOrtGrob: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personenImOrtFein: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nachbarn: some ORT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RAUM extends ORT 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TUER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GARTEN extends RAUM{}{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nachbarn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TUER extends ORT{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offen: one Bool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RAUM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3992A1-76D8-42EF-9D48-1904B9B5F86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0" name="Grafik 10"/>
          <p:cNvPicPr/>
          <p:nvPr/>
        </p:nvPicPr>
        <p:blipFill>
          <a:blip r:embed="rId1"/>
          <a:stretch/>
        </p:blipFill>
        <p:spPr>
          <a:xfrm>
            <a:off x="6490800" y="1574280"/>
            <a:ext cx="4981320" cy="19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extfeld 11"/>
          <p:cNvSpPr/>
          <p:nvPr/>
        </p:nvSpPr>
        <p:spPr>
          <a:xfrm>
            <a:off x="543960" y="1873080"/>
            <a:ext cx="6821640" cy="33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3032AA-165A-4F1B-91A4-6D1D8ED6802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6" name="Grafik 2"/>
          <p:cNvPicPr/>
          <p:nvPr/>
        </p:nvPicPr>
        <p:blipFill>
          <a:blip r:embed="rId1"/>
          <a:stretch/>
        </p:blipFill>
        <p:spPr>
          <a:xfrm>
            <a:off x="2483640" y="2086560"/>
            <a:ext cx="5133600" cy="200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Grafik 4"/>
          <p:cNvPicPr/>
          <p:nvPr/>
        </p:nvPicPr>
        <p:blipFill>
          <a:blip r:embed="rId2"/>
          <a:stretch/>
        </p:blipFill>
        <p:spPr>
          <a:xfrm>
            <a:off x="637560" y="4434120"/>
            <a:ext cx="5457600" cy="1875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8" name="Grafik 6"/>
          <p:cNvPicPr/>
          <p:nvPr/>
        </p:nvPicPr>
        <p:blipFill>
          <a:blip r:embed="rId3"/>
          <a:stretch/>
        </p:blipFill>
        <p:spPr>
          <a:xfrm>
            <a:off x="6004080" y="2423880"/>
            <a:ext cx="4981320" cy="195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Grafik 3"/>
          <p:cNvPicPr/>
          <p:nvPr/>
        </p:nvPicPr>
        <p:blipFill>
          <a:blip r:embed="rId4"/>
          <a:stretch/>
        </p:blipFill>
        <p:spPr>
          <a:xfrm>
            <a:off x="416160" y="1748880"/>
            <a:ext cx="5067000" cy="198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200" cy="879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itel 1"/>
          <p:cNvSpPr/>
          <p:nvPr/>
        </p:nvSpPr>
        <p:spPr>
          <a:xfrm>
            <a:off x="696240" y="3833640"/>
            <a:ext cx="7621200" cy="10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Grobes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"/>
          <p:cNvPicPr/>
          <p:nvPr/>
        </p:nvPicPr>
        <p:blipFill>
          <a:blip r:embed="rId1"/>
          <a:stretch/>
        </p:blipFill>
        <p:spPr>
          <a:xfrm>
            <a:off x="5760000" y="3916800"/>
            <a:ext cx="5866560" cy="135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8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BF3CF7-76B5-4DD3-9FAE-8CD4D84A709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7" name="Grafik 2"/>
          <p:cNvPicPr/>
          <p:nvPr/>
        </p:nvPicPr>
        <p:blipFill>
          <a:blip r:embed="rId1"/>
          <a:stretch/>
        </p:blipFill>
        <p:spPr>
          <a:xfrm>
            <a:off x="3260520" y="4072320"/>
            <a:ext cx="5331240" cy="123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feld 4"/>
          <p:cNvSpPr/>
          <p:nvPr/>
        </p:nvSpPr>
        <p:spPr>
          <a:xfrm>
            <a:off x="2715840" y="1553400"/>
            <a:ext cx="6759360" cy="22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feld 1"/>
          <p:cNvSpPr/>
          <p:nvPr/>
        </p:nvSpPr>
        <p:spPr>
          <a:xfrm>
            <a:off x="3260520" y="5493600"/>
            <a:ext cx="18781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feld 5"/>
          <p:cNvSpPr/>
          <p:nvPr/>
        </p:nvSpPr>
        <p:spPr>
          <a:xfrm>
            <a:off x="6713640" y="5491440"/>
            <a:ext cx="18781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feil: nach rechts 6"/>
          <p:cNvSpPr/>
          <p:nvPr/>
        </p:nvSpPr>
        <p:spPr>
          <a:xfrm rot="9762600">
            <a:off x="8504280" y="17888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feld 8"/>
          <p:cNvSpPr/>
          <p:nvPr/>
        </p:nvSpPr>
        <p:spPr>
          <a:xfrm>
            <a:off x="9334800" y="1457280"/>
            <a:ext cx="18781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29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8F317-BBF8-48EC-8669-5AB85093A84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20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1200" cy="12016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43320" y="3696480"/>
            <a:ext cx="5475960" cy="152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7CBB4B-6AF6-430F-ACB9-6A6E8ABB0E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520" cy="1035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ldNum" idx="31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EA5FAA-AEC6-4FD8-BF58-782D0D8FC64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fik 8"/>
          <p:cNvPicPr/>
          <p:nvPr/>
        </p:nvPicPr>
        <p:blipFill>
          <a:blip r:embed="rId6"/>
          <a:stretch/>
        </p:blipFill>
        <p:spPr>
          <a:xfrm>
            <a:off x="4397040" y="3187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5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280" cy="120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C20CA8-084F-420B-BF47-C5986DBA23E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4" name="Grafik 8"/>
          <p:cNvPicPr/>
          <p:nvPr/>
        </p:nvPicPr>
        <p:blipFill>
          <a:blip r:embed="rId6"/>
          <a:stretch/>
        </p:blipFill>
        <p:spPr>
          <a:xfrm>
            <a:off x="5572440" y="3187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5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Pfeil: nach rechts 4"/>
          <p:cNvSpPr/>
          <p:nvPr/>
        </p:nvSpPr>
        <p:spPr>
          <a:xfrm rot="20607000">
            <a:off x="2684520" y="2282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feld 7"/>
          <p:cNvSpPr/>
          <p:nvPr/>
        </p:nvSpPr>
        <p:spPr>
          <a:xfrm>
            <a:off x="355680" y="2547000"/>
            <a:ext cx="33008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sldNum" idx="33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448BEF-75A2-43ED-BD68-DC76A67166C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3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Grafik 5"/>
          <p:cNvPicPr/>
          <p:nvPr/>
        </p:nvPicPr>
        <p:blipFill>
          <a:blip r:embed="rId5"/>
          <a:stretch/>
        </p:blipFill>
        <p:spPr>
          <a:xfrm>
            <a:off x="7570440" y="1478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rafik 8"/>
          <p:cNvPicPr/>
          <p:nvPr/>
        </p:nvPicPr>
        <p:blipFill>
          <a:blip r:embed="rId6"/>
          <a:stretch/>
        </p:blipFill>
        <p:spPr>
          <a:xfrm>
            <a:off x="7570440" y="3187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7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feil: nach rechts 4"/>
          <p:cNvSpPr/>
          <p:nvPr/>
        </p:nvSpPr>
        <p:spPr>
          <a:xfrm rot="20607000">
            <a:off x="2684520" y="2282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feld 7"/>
          <p:cNvSpPr/>
          <p:nvPr/>
        </p:nvSpPr>
        <p:spPr>
          <a:xfrm>
            <a:off x="355680" y="2547000"/>
            <a:ext cx="33008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ldNum" idx="34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DB2420-6606-4353-BDC3-D72FD577A47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520" cy="103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feld 8"/>
          <p:cNvSpPr/>
          <p:nvPr/>
        </p:nvSpPr>
        <p:spPr>
          <a:xfrm>
            <a:off x="543960" y="2838600"/>
            <a:ext cx="5463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9" name="Tabelle 3"/>
          <p:cNvGraphicFramePr/>
          <p:nvPr/>
        </p:nvGraphicFramePr>
        <p:xfrm>
          <a:off x="2031840" y="25092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86;p 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89;p 1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35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F0EB73-2244-4310-A5E2-A0EE1487826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5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 mit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142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80000" y="4860000"/>
            <a:ext cx="5466240" cy="160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CBC904-F030-4FC5-BE58-0D19FEB1A80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2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8280" cy="106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Textfeld 8"/>
          <p:cNvSpPr/>
          <p:nvPr/>
        </p:nvSpPr>
        <p:spPr>
          <a:xfrm>
            <a:off x="543960" y="2838600"/>
            <a:ext cx="5463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Grafik 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8280" cy="856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970901-4190-4781-9D69-33549599818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0" name="Grafik 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1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280" cy="10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2" name="Grafik 7"/>
          <p:cNvPicPr/>
          <p:nvPr/>
        </p:nvPicPr>
        <p:blipFill>
          <a:blip r:embed="rId5"/>
          <a:stretch/>
        </p:blipFill>
        <p:spPr>
          <a:xfrm>
            <a:off x="4574160" y="184212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rafik 10"/>
          <p:cNvPicPr/>
          <p:nvPr/>
        </p:nvPicPr>
        <p:blipFill>
          <a:blip r:embed="rId6"/>
          <a:stretch/>
        </p:blipFill>
        <p:spPr>
          <a:xfrm>
            <a:off x="3727800" y="15681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Multiplikationszeichen 11"/>
          <p:cNvSpPr/>
          <p:nvPr/>
        </p:nvSpPr>
        <p:spPr>
          <a:xfrm>
            <a:off x="5635080" y="4209840"/>
            <a:ext cx="920520" cy="92052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35" name="Grafik 13"/>
          <p:cNvPicPr/>
          <p:nvPr/>
        </p:nvPicPr>
        <p:blipFill>
          <a:blip r:embed="rId7"/>
          <a:stretch/>
        </p:blipFill>
        <p:spPr>
          <a:xfrm>
            <a:off x="4475880" y="367740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6" name="Grafik 15"/>
          <p:cNvPicPr/>
          <p:nvPr/>
        </p:nvPicPr>
        <p:blipFill>
          <a:blip r:embed="rId8"/>
          <a:stretch/>
        </p:blipFill>
        <p:spPr>
          <a:xfrm>
            <a:off x="3629520" y="3403080"/>
            <a:ext cx="845280" cy="120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BA605C-BC2B-4404-9F11-3E362DA420E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280" cy="10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4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5" name="Grafik 15"/>
          <p:cNvPicPr/>
          <p:nvPr/>
        </p:nvPicPr>
        <p:blipFill>
          <a:blip r:embed="rId7"/>
          <a:stretch/>
        </p:blipFill>
        <p:spPr>
          <a:xfrm>
            <a:off x="4475880" y="367740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Pfeil: nach rechts 27"/>
          <p:cNvSpPr/>
          <p:nvPr/>
        </p:nvSpPr>
        <p:spPr>
          <a:xfrm rot="20607000">
            <a:off x="2576520" y="4478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feld 29"/>
          <p:cNvSpPr/>
          <p:nvPr/>
        </p:nvSpPr>
        <p:spPr>
          <a:xfrm>
            <a:off x="459000" y="5141160"/>
            <a:ext cx="60937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88E92D-E218-42B4-9673-EC3BE9552C4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3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280" cy="10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Grafik 15"/>
          <p:cNvPicPr/>
          <p:nvPr/>
        </p:nvPicPr>
        <p:blipFill>
          <a:blip r:embed="rId7"/>
          <a:stretch/>
        </p:blipFill>
        <p:spPr>
          <a:xfrm>
            <a:off x="5346000" y="367740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feil: nach rechts 2"/>
          <p:cNvSpPr/>
          <p:nvPr/>
        </p:nvSpPr>
        <p:spPr>
          <a:xfrm rot="20607000">
            <a:off x="2576520" y="4478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feld 5"/>
          <p:cNvSpPr/>
          <p:nvPr/>
        </p:nvSpPr>
        <p:spPr>
          <a:xfrm>
            <a:off x="459000" y="5141160"/>
            <a:ext cx="60937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sldNum" idx="40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16383B-E0BD-45AF-8932-F9D466FFD2E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8280" cy="106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Grafik 11"/>
          <p:cNvPicPr/>
          <p:nvPr/>
        </p:nvPicPr>
        <p:blipFill>
          <a:blip r:embed="rId5"/>
          <a:stretch/>
        </p:blipFill>
        <p:spPr>
          <a:xfrm>
            <a:off x="6697800" y="184212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9" name="Grafik 17"/>
          <p:cNvPicPr/>
          <p:nvPr/>
        </p:nvPicPr>
        <p:blipFill>
          <a:blip r:embed="rId7"/>
          <a:stretch/>
        </p:blipFill>
        <p:spPr>
          <a:xfrm>
            <a:off x="3629520" y="340308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0" name="Grafik 1"/>
          <p:cNvPicPr/>
          <p:nvPr/>
        </p:nvPicPr>
        <p:blipFill>
          <a:blip r:embed="rId8"/>
          <a:stretch/>
        </p:blipFill>
        <p:spPr>
          <a:xfrm>
            <a:off x="6891480" y="3677400"/>
            <a:ext cx="823680" cy="99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5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4" name="Tabelle 3"/>
          <p:cNvGraphicFramePr/>
          <p:nvPr/>
        </p:nvGraphicFramePr>
        <p:xfrm>
          <a:off x="2031840" y="15930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5" name="Textfeld 4"/>
          <p:cNvSpPr/>
          <p:nvPr/>
        </p:nvSpPr>
        <p:spPr>
          <a:xfrm>
            <a:off x="631080" y="4645440"/>
            <a:ext cx="495216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feld 6"/>
          <p:cNvSpPr/>
          <p:nvPr/>
        </p:nvSpPr>
        <p:spPr>
          <a:xfrm>
            <a:off x="6607800" y="4645440"/>
            <a:ext cx="495216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feld 7"/>
          <p:cNvSpPr/>
          <p:nvPr/>
        </p:nvSpPr>
        <p:spPr>
          <a:xfrm>
            <a:off x="631080" y="4169160"/>
            <a:ext cx="23065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feld 9"/>
          <p:cNvSpPr/>
          <p:nvPr/>
        </p:nvSpPr>
        <p:spPr>
          <a:xfrm>
            <a:off x="6607800" y="4169160"/>
            <a:ext cx="23065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feil: nach unten 10"/>
          <p:cNvSpPr/>
          <p:nvPr/>
        </p:nvSpPr>
        <p:spPr>
          <a:xfrm rot="2929200">
            <a:off x="3646800" y="3215880"/>
            <a:ext cx="477720" cy="858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0" name="Pfeil: nach unten 12"/>
          <p:cNvSpPr/>
          <p:nvPr/>
        </p:nvSpPr>
        <p:spPr>
          <a:xfrm rot="19296000">
            <a:off x="6715800" y="3213000"/>
            <a:ext cx="477720" cy="858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2" name="Tabelle 3"/>
          <p:cNvGraphicFramePr/>
          <p:nvPr/>
        </p:nvGraphicFramePr>
        <p:xfrm>
          <a:off x="1196640" y="2053800"/>
          <a:ext cx="9797040" cy="1849320"/>
        </p:xfrm>
        <a:graphic>
          <a:graphicData uri="http://schemas.openxmlformats.org/drawingml/2006/table">
            <a:tbl>
              <a:tblPr/>
              <a:tblGrid>
                <a:gridCol w="1959480"/>
                <a:gridCol w="1959480"/>
                <a:gridCol w="1959480"/>
                <a:gridCol w="1959480"/>
                <a:gridCol w="1959480"/>
              </a:tblGrid>
              <a:tr h="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türFälltZu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Grafik 4"/>
          <p:cNvPicPr/>
          <p:nvPr/>
        </p:nvPicPr>
        <p:blipFill>
          <a:blip r:embed="rId1"/>
          <a:stretch/>
        </p:blipFill>
        <p:spPr>
          <a:xfrm>
            <a:off x="2836800" y="2148120"/>
            <a:ext cx="6632640" cy="259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Grafik 4"/>
          <p:cNvPicPr/>
          <p:nvPr/>
        </p:nvPicPr>
        <p:blipFill>
          <a:blip r:embed="rId1"/>
          <a:stretch/>
        </p:blipFill>
        <p:spPr>
          <a:xfrm>
            <a:off x="2836800" y="2115000"/>
            <a:ext cx="6517080" cy="2553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8" name="Grafik 6"/>
          <p:cNvPicPr/>
          <p:nvPr/>
        </p:nvPicPr>
        <p:blipFill>
          <a:blip r:embed="rId1"/>
          <a:stretch/>
        </p:blipFill>
        <p:spPr>
          <a:xfrm>
            <a:off x="2836800" y="2115000"/>
            <a:ext cx="6525360" cy="2553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Grafik 5"/>
          <p:cNvPicPr/>
          <p:nvPr/>
        </p:nvPicPr>
        <p:blipFill>
          <a:blip r:embed="rId1"/>
          <a:stretch/>
        </p:blipFill>
        <p:spPr>
          <a:xfrm>
            <a:off x="2836800" y="2115000"/>
            <a:ext cx="7430040" cy="2553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86;p 3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9;p 3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41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FF25B6-10DE-4599-B5DA-4EFB7B352D0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95;p 5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49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98;p 5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42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D9D3EF-F871-47B2-B6D4-5FE31F8ACE6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86;p 5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89;p 5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 type="sldNum" idx="43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70FABE-0247-4D7B-927E-B84BA5F0668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5" name="Grafik 9"/>
          <p:cNvPicPr/>
          <p:nvPr/>
        </p:nvPicPr>
        <p:blipFill>
          <a:blip r:embed="rId1"/>
          <a:stretch/>
        </p:blipFill>
        <p:spPr>
          <a:xfrm>
            <a:off x="3756240" y="1440000"/>
            <a:ext cx="776304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PlaceHolder 8"/>
          <p:cNvSpPr/>
          <p:nvPr/>
        </p:nvSpPr>
        <p:spPr>
          <a:xfrm>
            <a:off x="544320" y="1484280"/>
            <a:ext cx="4854960" cy="45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86;p 18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89;p 18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 type="sldNum" idx="44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DF7532-1F55-4E6C-BB3E-88276FE3D77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1" name="Grafik 64"/>
          <p:cNvPicPr/>
          <p:nvPr/>
        </p:nvPicPr>
        <p:blipFill>
          <a:blip r:embed="rId1"/>
          <a:stretch/>
        </p:blipFill>
        <p:spPr>
          <a:xfrm>
            <a:off x="5637960" y="2340000"/>
            <a:ext cx="5341320" cy="20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60"/>
          <p:cNvSpPr/>
          <p:nvPr/>
        </p:nvSpPr>
        <p:spPr>
          <a:xfrm>
            <a:off x="544320" y="1484280"/>
            <a:ext cx="4854960" cy="45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letzterRaum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5637960" y="2628000"/>
            <a:ext cx="2461320" cy="431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7740000" y="3960000"/>
            <a:ext cx="899280" cy="17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7740000" y="3960000"/>
            <a:ext cx="899280" cy="179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86;p 4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Google Shape;89;p 4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sldNum" idx="45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80F458-E9D2-415F-82A7-AF750512ECD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0" name=""/>
          <p:cNvPicPr/>
          <p:nvPr/>
        </p:nvPicPr>
        <p:blipFill>
          <a:blip r:embed="rId1"/>
          <a:stretch/>
        </p:blipFill>
        <p:spPr>
          <a:xfrm>
            <a:off x="900000" y="1734480"/>
            <a:ext cx="7559280" cy="24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/>
          <p:cNvPicPr/>
          <p:nvPr/>
        </p:nvPicPr>
        <p:blipFill>
          <a:blip r:embed="rId2"/>
          <a:stretch/>
        </p:blipFill>
        <p:spPr>
          <a:xfrm>
            <a:off x="891000" y="2160000"/>
            <a:ext cx="4148280" cy="111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Pfeil: nach rechts 8"/>
          <p:cNvSpPr/>
          <p:nvPr/>
        </p:nvSpPr>
        <p:spPr>
          <a:xfrm rot="9762600">
            <a:off x="6335640" y="12110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feld 17"/>
          <p:cNvSpPr/>
          <p:nvPr/>
        </p:nvSpPr>
        <p:spPr>
          <a:xfrm>
            <a:off x="7301160" y="102492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feil: nach rechts 9"/>
          <p:cNvSpPr/>
          <p:nvPr/>
        </p:nvSpPr>
        <p:spPr>
          <a:xfrm rot="9762600">
            <a:off x="4715640" y="23670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feld 18"/>
          <p:cNvSpPr/>
          <p:nvPr/>
        </p:nvSpPr>
        <p:spPr>
          <a:xfrm>
            <a:off x="5364000" y="227700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Raumstruktur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"/>
          <p:cNvPicPr/>
          <p:nvPr/>
        </p:nvPicPr>
        <p:blipFill>
          <a:blip r:embed="rId3"/>
          <a:stretch/>
        </p:blipFill>
        <p:spPr>
          <a:xfrm>
            <a:off x="865440" y="3960000"/>
            <a:ext cx="9664560" cy="14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" name="Pfeil: nach rechts 11"/>
          <p:cNvSpPr/>
          <p:nvPr/>
        </p:nvSpPr>
        <p:spPr>
          <a:xfrm rot="12480000">
            <a:off x="6694920" y="54176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feld 20"/>
          <p:cNvSpPr/>
          <p:nvPr/>
        </p:nvSpPr>
        <p:spPr>
          <a:xfrm>
            <a:off x="7380000" y="576000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86;p 6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9;p 6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sldNum" idx="46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B4D8A7-45CA-4988-9EAF-F89885D30EF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4" name=""/>
          <p:cNvPicPr/>
          <p:nvPr/>
        </p:nvPicPr>
        <p:blipFill>
          <a:blip r:embed="rId1"/>
          <a:stretch/>
        </p:blipFill>
        <p:spPr>
          <a:xfrm>
            <a:off x="1260000" y="2070720"/>
            <a:ext cx="9763920" cy="260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"/>
          <p:cNvSpPr/>
          <p:nvPr/>
        </p:nvSpPr>
        <p:spPr>
          <a:xfrm>
            <a:off x="1317960" y="2232000"/>
            <a:ext cx="4981320" cy="79128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feil: nach rechts 10"/>
          <p:cNvSpPr/>
          <p:nvPr/>
        </p:nvSpPr>
        <p:spPr>
          <a:xfrm rot="12480000">
            <a:off x="6514920" y="48776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feld 19"/>
          <p:cNvSpPr/>
          <p:nvPr/>
        </p:nvSpPr>
        <p:spPr>
          <a:xfrm>
            <a:off x="7200000" y="522000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200" cy="879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itel 3"/>
          <p:cNvSpPr/>
          <p:nvPr/>
        </p:nvSpPr>
        <p:spPr>
          <a:xfrm>
            <a:off x="696240" y="3833640"/>
            <a:ext cx="7621200" cy="10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86;p 19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9;p 19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47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85D60B-411F-4F4A-BC22-954EF65A946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Textfeld 21"/>
          <p:cNvSpPr/>
          <p:nvPr/>
        </p:nvSpPr>
        <p:spPr>
          <a:xfrm>
            <a:off x="3320280" y="2340000"/>
            <a:ext cx="585936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feil: nach rechts 13"/>
          <p:cNvSpPr/>
          <p:nvPr/>
        </p:nvSpPr>
        <p:spPr>
          <a:xfrm rot="10800000">
            <a:off x="9323640" y="29664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6" name="Pfeil: nach rechts 14"/>
          <p:cNvSpPr/>
          <p:nvPr/>
        </p:nvSpPr>
        <p:spPr>
          <a:xfrm>
            <a:off x="3132000" y="34920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7" name="Pfeil: nach rechts 15"/>
          <p:cNvSpPr/>
          <p:nvPr/>
        </p:nvSpPr>
        <p:spPr>
          <a:xfrm rot="13020000">
            <a:off x="7580880" y="474300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feld 22"/>
          <p:cNvSpPr/>
          <p:nvPr/>
        </p:nvSpPr>
        <p:spPr>
          <a:xfrm>
            <a:off x="8129520" y="515772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feld 23"/>
          <p:cNvSpPr/>
          <p:nvPr/>
        </p:nvSpPr>
        <p:spPr>
          <a:xfrm>
            <a:off x="9936000" y="302400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feld 24"/>
          <p:cNvSpPr/>
          <p:nvPr/>
        </p:nvSpPr>
        <p:spPr>
          <a:xfrm>
            <a:off x="1325520" y="3537720"/>
            <a:ext cx="1878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86;p 20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568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89;p 20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48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277E47-C703-42C8-BC73-2A0C3ED7752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PlaceHolder 6"/>
          <p:cNvSpPr/>
          <p:nvPr/>
        </p:nvSpPr>
        <p:spPr>
          <a:xfrm>
            <a:off x="7616880" y="1404000"/>
            <a:ext cx="2102760" cy="26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11"/>
          <p:cNvSpPr/>
          <p:nvPr/>
        </p:nvSpPr>
        <p:spPr>
          <a:xfrm>
            <a:off x="8100000" y="1484640"/>
            <a:ext cx="3546720" cy="24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200" cy="879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itel 8"/>
          <p:cNvSpPr/>
          <p:nvPr/>
        </p:nvSpPr>
        <p:spPr>
          <a:xfrm>
            <a:off x="696240" y="3833640"/>
            <a:ext cx="7621200" cy="10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5960" cy="152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86;p 9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betrete Tür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Google Shape;89;p 9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sldNum" idx="49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043CB1-8F61-4E88-9DFE-1471ADF5B7D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5" name="Grafik 2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208200" y="4271040"/>
            <a:ext cx="4598280" cy="85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Grafik 25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302880" y="2457360"/>
            <a:ext cx="4408920" cy="10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Grafik 26"/>
          <p:cNvPicPr/>
          <p:nvPr/>
        </p:nvPicPr>
        <p:blipFill>
          <a:blip r:embed="rId5"/>
          <a:stretch/>
        </p:blipFill>
        <p:spPr>
          <a:xfrm>
            <a:off x="6993360" y="194688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Grafik 27"/>
          <p:cNvPicPr/>
          <p:nvPr/>
        </p:nvPicPr>
        <p:blipFill>
          <a:blip r:embed="rId6"/>
          <a:stretch/>
        </p:blipFill>
        <p:spPr>
          <a:xfrm>
            <a:off x="7984440" y="3655440"/>
            <a:ext cx="823680" cy="99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9" name="Grafik 28"/>
          <p:cNvPicPr/>
          <p:nvPr/>
        </p:nvPicPr>
        <p:blipFill>
          <a:blip r:embed="rId7"/>
          <a:stretch/>
        </p:blipFill>
        <p:spPr>
          <a:xfrm>
            <a:off x="6147360" y="167256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0" name="Grafik 29"/>
          <p:cNvPicPr/>
          <p:nvPr/>
        </p:nvPicPr>
        <p:blipFill>
          <a:blip r:embed="rId8"/>
          <a:stretch/>
        </p:blipFill>
        <p:spPr>
          <a:xfrm>
            <a:off x="5964840" y="3484440"/>
            <a:ext cx="845280" cy="120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Pfeil: nach rechts 3"/>
          <p:cNvSpPr/>
          <p:nvPr/>
        </p:nvSpPr>
        <p:spPr>
          <a:xfrm rot="1500000">
            <a:off x="4786920" y="3239640"/>
            <a:ext cx="935280" cy="38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feld 2"/>
          <p:cNvSpPr/>
          <p:nvPr/>
        </p:nvSpPr>
        <p:spPr>
          <a:xfrm>
            <a:off x="211680" y="2223000"/>
            <a:ext cx="5475960" cy="26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betreteTuer[p: PERSON, von: RAUM, t: TUER]{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 in von.nachbarn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//nur eine Person darf die Tür betreten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#(t.personenImOrtFein) = 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von.personenImOrtFein' = von.personenImOrtFein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t.personenImOrtFein' = t.personenImOrtFein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t)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800000" y="594000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86;p 14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89;p 14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sldNum" idx="50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6D5E52-C63F-4ECE-BA72-C00A917BF0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8" name=""/>
          <p:cNvPicPr/>
          <p:nvPr/>
        </p:nvPicPr>
        <p:blipFill>
          <a:blip r:embed="rId1"/>
          <a:stretch/>
        </p:blipFill>
        <p:spPr>
          <a:xfrm>
            <a:off x="1577520" y="2340000"/>
            <a:ext cx="9042120" cy="21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"/>
          <p:cNvSpPr txBox="1"/>
          <p:nvPr/>
        </p:nvSpPr>
        <p:spPr>
          <a:xfrm>
            <a:off x="1800000" y="587412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1606680" y="5724000"/>
            <a:ext cx="1381320" cy="54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86;p 10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89;p 10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4D155E-9416-41EC-9BDC-8D750379FAF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800000" y="587448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3528000" y="5760000"/>
            <a:ext cx="1381320" cy="54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7" name=""/>
          <p:cNvPicPr/>
          <p:nvPr/>
        </p:nvPicPr>
        <p:blipFill>
          <a:blip r:embed="rId1"/>
          <a:stretch/>
        </p:blipFill>
        <p:spPr>
          <a:xfrm>
            <a:off x="2122920" y="2340000"/>
            <a:ext cx="8317080" cy="175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86;p 7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89;p 7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6FD71E-0083-4B9B-9CBB-7F70F8C8E64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2" name=""/>
          <p:cNvPicPr/>
          <p:nvPr/>
        </p:nvPicPr>
        <p:blipFill>
          <a:blip r:embed="rId1"/>
          <a:stretch/>
        </p:blipFill>
        <p:spPr>
          <a:xfrm>
            <a:off x="1337760" y="2483280"/>
            <a:ext cx="9281880" cy="165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"/>
          <p:cNvSpPr txBox="1"/>
          <p:nvPr/>
        </p:nvSpPr>
        <p:spPr>
          <a:xfrm>
            <a:off x="1800000" y="587448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5328000" y="5760000"/>
            <a:ext cx="1381320" cy="54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86;p 1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Google Shape;89;p 11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41C551-2BF0-45D8-8674-0FD666CFA3D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9" name=""/>
          <p:cNvPicPr/>
          <p:nvPr/>
        </p:nvPicPr>
        <p:blipFill>
          <a:blip r:embed="rId1"/>
          <a:stretch/>
        </p:blipFill>
        <p:spPr>
          <a:xfrm>
            <a:off x="1707120" y="1932840"/>
            <a:ext cx="8552520" cy="269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"/>
          <p:cNvSpPr txBox="1"/>
          <p:nvPr/>
        </p:nvSpPr>
        <p:spPr>
          <a:xfrm>
            <a:off x="1800000" y="587448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1620000" y="5760000"/>
            <a:ext cx="5089680" cy="54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86;p 12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Google Shape;89;p 1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B53FF7-E218-4777-A466-0226F23C87D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800000" y="587448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"/>
          <p:cNvPicPr/>
          <p:nvPr/>
        </p:nvPicPr>
        <p:blipFill>
          <a:blip r:embed="rId1"/>
          <a:srcRect l="0" t="0" r="0" b="50863"/>
          <a:stretch/>
        </p:blipFill>
        <p:spPr>
          <a:xfrm>
            <a:off x="1980000" y="1675800"/>
            <a:ext cx="8100000" cy="282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"/>
          <p:cNvSpPr/>
          <p:nvPr/>
        </p:nvSpPr>
        <p:spPr>
          <a:xfrm>
            <a:off x="1620000" y="5760000"/>
            <a:ext cx="8820000" cy="54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56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142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9480" cy="158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86;p 16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89;p 16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3E6356-9278-4743-8B2D-BCADC9AD088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9480" cy="158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86;p 13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89;p 13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7B7284-9937-4246-8D5C-04ACB0451CF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1" name=""/>
          <p:cNvPicPr/>
          <p:nvPr/>
        </p:nvPicPr>
        <p:blipFill>
          <a:blip r:embed="rId1"/>
          <a:srcRect l="0" t="58606" r="0" b="0"/>
          <a:stretch/>
        </p:blipFill>
        <p:spPr>
          <a:xfrm>
            <a:off x="1440000" y="2340000"/>
            <a:ext cx="9037800" cy="193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"/>
          <p:cNvSpPr txBox="1"/>
          <p:nvPr/>
        </p:nvSpPr>
        <p:spPr>
          <a:xfrm>
            <a:off x="1800000" y="5874480"/>
            <a:ext cx="8543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</a:t>
            </a: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95;p3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200" cy="100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200" cy="1366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Google Shape;98;p3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57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0B83A5-FEC2-4DBC-B16A-8372776E1A5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178;p8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Zusammenfassung der drei Stufen und ihrer Garantien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Erweiterungsideen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Google Shape;181;p8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58"/>
          </p:nvPr>
        </p:nvSpPr>
        <p:spPr>
          <a:xfrm>
            <a:off x="11473200" y="6415560"/>
            <a:ext cx="17316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B5C1E8-1A57-488F-B209-A9449CE71F2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232;p14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Sources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2760" cy="4572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Bla bla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235;p14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59"/>
          </p:nvPr>
        </p:nvSpPr>
        <p:spPr>
          <a:xfrm>
            <a:off x="11402640" y="6415560"/>
            <a:ext cx="24408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915520-C6AF-4F06-AD07-953B1E0847D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Application>LibreOffice/26.2.5.2$Windows_X86_64 LibreOffice_project/cd7284b4cbbfeb507e630c1aac019f4157393acb</Application>
  <AppVersion>15.0000</AppVersion>
  <Words>2324</Words>
  <Paragraphs>463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2026-08-18T11:33:39Z</dcterms:modified>
  <cp:revision>56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45</vt:i4>
  </property>
</Properties>
</file>