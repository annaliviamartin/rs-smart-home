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75" r:id="rId5"/>
    <p:sldId id="277" r:id="rId6"/>
    <p:sldId id="272" r:id="rId7"/>
    <p:sldId id="276" r:id="rId8"/>
    <p:sldId id="273" r:id="rId9"/>
    <p:sldId id="295" r:id="rId10"/>
    <p:sldId id="259" r:id="rId11"/>
    <p:sldId id="284" r:id="rId12"/>
    <p:sldId id="283" r:id="rId13"/>
    <p:sldId id="278" r:id="rId14"/>
    <p:sldId id="282" r:id="rId15"/>
    <p:sldId id="281" r:id="rId16"/>
    <p:sldId id="279" r:id="rId17"/>
    <p:sldId id="286" r:id="rId18"/>
    <p:sldId id="297" r:id="rId19"/>
    <p:sldId id="298" r:id="rId20"/>
    <p:sldId id="299" r:id="rId21"/>
    <p:sldId id="296" r:id="rId22"/>
    <p:sldId id="285" r:id="rId23"/>
    <p:sldId id="261" r:id="rId24"/>
    <p:sldId id="280" r:id="rId25"/>
    <p:sldId id="287" r:id="rId26"/>
    <p:sldId id="300" r:id="rId27"/>
    <p:sldId id="301" r:id="rId28"/>
    <p:sldId id="302" r:id="rId29"/>
    <p:sldId id="303" r:id="rId30"/>
    <p:sldId id="293" r:id="rId31"/>
    <p:sldId id="288" r:id="rId32"/>
    <p:sldId id="294" r:id="rId33"/>
    <p:sldId id="291" r:id="rId34"/>
    <p:sldId id="289" r:id="rId35"/>
    <p:sldId id="290" r:id="rId36"/>
    <p:sldId id="292" r:id="rId37"/>
    <p:sldId id="263" r:id="rId38"/>
    <p:sldId id="264" r:id="rId39"/>
    <p:sldId id="265" r:id="rId40"/>
    <p:sldId id="274" r:id="rId41"/>
    <p:sldId id="266" r:id="rId42"/>
    <p:sldId id="267" r:id="rId43"/>
    <p:sldId id="268" r:id="rId44"/>
    <p:sldId id="269" r:id="rId45"/>
    <p:sldId id="270" r:id="rId4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982" autoAdjust="0"/>
  </p:normalViewPr>
  <p:slideViewPr>
    <p:cSldViewPr snapToGrid="0" showGuides="1">
      <p:cViewPr varScale="1">
        <p:scale>
          <a:sx n="130" d="100"/>
          <a:sy n="130" d="100"/>
        </p:scale>
        <p:origin x="1374" y="12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</a:p>
        </p:txBody>
      </p:sp>
      <p:sp>
        <p:nvSpPr>
          <p:cNvPr id="70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</a:p>
        </p:txBody>
      </p:sp>
      <p:sp>
        <p:nvSpPr>
          <p:cNvPr id="71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42522A0-FB72-412F-8104-6059EB8B3500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‹Nr.›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423A5-2109-C6A9-95B6-BBCCF5C6C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8BA3E81E-CCB9-ABA2-E921-327FFB12CA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688222DC-E2F2-6804-F38E-B5926CAF40E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86381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8DFDE-40E4-3496-5D70-6D2BDF2EC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07095EC7-E8AF-9096-A988-F16D4ADC7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3261A21C-4305-9540-31D0-581619F3056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26596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206EA-967A-12A4-3F15-A52315E18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C7B01C34-3973-5444-99D9-EE57CB1BCD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6CFD2700-B702-EB71-6745-464190FADE2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824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C8799-26FE-DD8C-9E94-B07189DE8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904E5959-1398-F893-A354-8F945ADCD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D4C6A508-1A51-03F2-192B-0B3F9E6A65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93008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50620-90A6-C162-F99B-4E9A28A69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3567F8E4-2228-9B7C-0BC6-20475A847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DA2E0A66-0AB6-6AAF-DE07-2D356EAAAED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26178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2E015-09D6-C086-A59F-98CC1A0AB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C6664904-CE3A-1391-B8B5-D958BFF69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1EB84B28-4629-3108-7436-AB4D22F10CA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8396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56AB-9711-4CAF-EF24-F144264B6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4A7199E4-5925-8BD6-DE7B-3379EBAD3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31401AA2-970F-82F8-F111-831C2C5ED00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95224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CBBD1-3D6F-253F-37C6-C65C0E415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87955B36-52D1-4166-D326-A00922488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FA79FE76-8F98-6B0D-8AD5-AA1A5FFCEDB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84741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B0695-4922-874F-F7FB-1EAB9763F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DF9946B3-E35E-C9AC-2C08-7E744B2D6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DBA89D60-50F0-E068-FAB9-40FC34AE08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457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60FFA-A8C1-8579-A2E3-56A6A955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AC3A9179-D6A7-2465-B93A-374798978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2A091E90-9DB0-94C8-D218-5BBD08C3591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17341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E7F68-8651-3070-49B5-5BC13686F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28167BAE-A51E-D324-870B-D8C0122D6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A50B1CE8-08E5-4EF5-71A3-8C9222852BE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694595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8ACCF-0526-30B1-1CB1-E7AAEAEA6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32A8E4DD-0FBE-4B15-78AB-8F2FDDAA6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B1EE5B2F-36AF-AE64-F566-CEEFFE41598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26741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9CE95-20D3-01C9-55C2-AAD675C60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800C7FB1-CFD2-AAE0-8D15-94BED98D2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A3ADF468-484B-6655-D0ED-0D371DCDBB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72998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D9F78-2086-F17B-8138-70FC8B7B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E97EBD98-8385-AB84-7379-240AA4EE7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559347FD-9F53-3913-50BD-4F3A79CAE1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022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EDC91-5127-687C-79C2-53C36D87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27E49C7A-54A6-68E4-F615-61E4799599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46C52D09-61AD-75B8-A962-D11D5418B4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79503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7BA04-7F29-C690-7DA1-CFEC91063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9BEFAB0A-E981-52A7-5F91-8BF75A685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CD8E84FD-9B6B-CE4A-82B8-96BF2CD3842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3174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F8AA8-0EEC-2CF2-E2C9-5ADEB47CF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10890C95-5E04-7485-29F6-7AFCF7B29B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1D2F2CAE-A537-2410-E279-8FC89E83503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236033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85DE0-4496-878A-291B-E0EA5CF4B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4B7D3AA0-178A-80FF-938D-658D08E708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956845A9-8A2A-C846-D338-4BE50805099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07760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bschnitts-&#10;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6160" cy="2196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61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5" name="Google Shape;51;p24" descr="Grafik 6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9370AA-74D7-400B-914D-D66B9CF699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lstStyle>
            <a:lvl1pPr indent="0" algn="l">
              <a:buNone/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840" cy="968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grpSp>
        <p:nvGrpSpPr>
          <p:cNvPr id="11" name="Google Shape;57;p25"/>
          <p:cNvGrpSpPr/>
          <p:nvPr/>
        </p:nvGrpSpPr>
        <p:grpSpPr>
          <a:xfrm>
            <a:off x="10884240" y="488880"/>
            <a:ext cx="891000" cy="214560"/>
            <a:chOff x="10884240" y="488880"/>
            <a:chExt cx="891000" cy="214560"/>
          </a:xfrm>
        </p:grpSpPr>
        <p:sp>
          <p:nvSpPr>
            <p:cNvPr id="12" name="Google Shape;58;p25"/>
            <p:cNvSpPr/>
            <p:nvPr/>
          </p:nvSpPr>
          <p:spPr>
            <a:xfrm>
              <a:off x="10884240" y="490680"/>
              <a:ext cx="676440" cy="212760"/>
            </a:xfrm>
            <a:custGeom>
              <a:avLst/>
              <a:gdLst>
                <a:gd name="textAreaLeft" fmla="*/ 0 w 676440"/>
                <a:gd name="textAreaRight" fmla="*/ 676800 w 676440"/>
                <a:gd name="textAreaTop" fmla="*/ 0 h 212760"/>
                <a:gd name="textAreaBottom" fmla="*/ 213120 h 21276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5720" rIns="45720" anchor="ctr">
              <a:noAutofit/>
            </a:bodyPr>
            <a:lstStyle/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Google Shape;59;p25"/>
            <p:cNvSpPr/>
            <p:nvPr/>
          </p:nvSpPr>
          <p:spPr>
            <a:xfrm>
              <a:off x="11617920" y="488880"/>
              <a:ext cx="157320" cy="150480"/>
            </a:xfrm>
            <a:custGeom>
              <a:avLst/>
              <a:gdLst>
                <a:gd name="textAreaLeft" fmla="*/ 0 w 157320"/>
                <a:gd name="textAreaRight" fmla="*/ 157680 w 15732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5720" rIns="45720" anchor="ctr">
              <a:noAutofit/>
            </a:bodyPr>
            <a:lstStyle/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" name="PlaceHolder 4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50C295-D981-4514-B319-445FEB96ABC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lstStyle>
            <a:lvl1pPr indent="0" algn="l">
              <a:buNone/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pic>
        <p:nvPicPr>
          <p:cNvPr id="17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2800" cy="70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6080" cy="2296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6080" cy="2296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6240" cy="1076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6240" cy="1076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23" name="Google Shape;69;p26" descr="Grafik 2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7"/>
          <p:cNvSpPr>
            <a:spLocks noGrp="1"/>
          </p:cNvSpPr>
          <p:nvPr>
            <p:ph type="sldNum" idx="3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DD9373-F441-4C6D-B63C-3EE13223FA8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Google Shape;72;p27" descr="Grafik 2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sldNum" idx="4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63BE82-50F6-4F40-A935-1CBFAB4FCD8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31" name="Google Shape;13;p16" descr="Grafik 7"/>
          <p:cNvPicPr/>
          <p:nvPr/>
        </p:nvPicPr>
        <p:blipFill>
          <a:blip r:embed="rId3"/>
          <a:srcRect t="33686" r="9034"/>
          <a:stretch/>
        </p:blipFill>
        <p:spPr>
          <a:xfrm>
            <a:off x="4588200" y="0"/>
            <a:ext cx="7603560" cy="653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PlaceHolder 3"/>
          <p:cNvSpPr>
            <a:spLocks noGrp="1"/>
          </p:cNvSpPr>
          <p:nvPr>
            <p:ph type="sldNum" idx="5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DE80E0-A155-426C-A5D1-5B55A8FCA23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6" name="PlaceHolder 3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5AAEBC-E8BA-4E3C-A77B-71F55E15B6F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Titelfoli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40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3"/>
          <p:cNvSpPr>
            <a:spLocks noGrp="1"/>
          </p:cNvSpPr>
          <p:nvPr>
            <p:ph type="sldNum" idx="7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D4EF8E-EA85-4C59-BF38-0EBF413A724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160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55000" lnSpcReduction="1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sldNum" idx="8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B9555C-FEFA-4F54-AB7F-6C08979D96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5680" cy="520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AFD7E0E-1163-473C-AEFE-4DC43A8590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71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71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10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38419C-EEC1-421E-A394-363A4B9B64A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Titelfoli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60" name="PlaceHolder 3"/>
          <p:cNvSpPr>
            <a:spLocks noGrp="1"/>
          </p:cNvSpPr>
          <p:nvPr>
            <p:ph type="sldNum" idx="11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65D8F8-21A1-4965-9601-92265B8CA464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5680" cy="520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65" name="PlaceHolder 4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6E017E-6B4F-41FA-B920-3DA1E7F9010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sv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80;p1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Google Shape;81;p1" descr="Grafik 7"/>
          <p:cNvPicPr/>
          <p:nvPr/>
        </p:nvPicPr>
        <p:blipFill>
          <a:blip r:embed="rId3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 &amp; Problemstellung: Zugangskontrollsystem, Beispiel Bernd &amp; Sandmännchen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Grober Gebäude-/Raumplan zur Veranschaulichung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Ankündigung des Vorgehens: drei Verfeinerungsstufen nach Event-B, jeweils formal geprüft mit Alloy (Modellprüfung) und bewiesen mit Lean (Beweis)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Kurzer Überblick über das abstrakte Datenmodell (Person/Bewohner:in/Gast, Ort/Raum/Zimmer/Garten/Tür) — Klassendiagramm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dirty="0" err="1">
                <a:solidFill>
                  <a:srgbClr val="FFFFFF"/>
                </a:solidFill>
              </a:rPr>
              <a:t>Einleitung</a:t>
            </a:r>
            <a:r>
              <a:rPr lang="en-US" dirty="0">
                <a:solidFill>
                  <a:srgbClr val="FFFFFF"/>
                </a:solidFill>
              </a:rPr>
              <a:t> in das Thema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dirty="0" err="1">
                <a:solidFill>
                  <a:srgbClr val="FFFFFF"/>
                </a:solidFill>
              </a:rPr>
              <a:t>Übersicht</a:t>
            </a:r>
            <a:r>
              <a:rPr lang="en-US" sz="2000" dirty="0">
                <a:solidFill>
                  <a:srgbClr val="FFFFFF"/>
                </a:solidFill>
              </a:rPr>
              <a:t> </a:t>
            </a:r>
            <a:r>
              <a:rPr lang="en-US" sz="2000" dirty="0" err="1">
                <a:solidFill>
                  <a:srgbClr val="FFFFFF"/>
                </a:solidFill>
              </a:rPr>
              <a:t>Gebäudestruktur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1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39E2F-FA3D-4078-9441-A1708DB933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EBEAF-A006-F7AC-4267-C3A2E20FE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>
            <a:extLst>
              <a:ext uri="{FF2B5EF4-FFF2-40B4-BE49-F238E27FC236}">
                <a16:creationId xmlns:a16="http://schemas.microsoft.com/office/drawing/2014/main" id="{0D04043A-F9AA-47D7-F870-8098A204468D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>
            <a:extLst>
              <a:ext uri="{FF2B5EF4-FFF2-40B4-BE49-F238E27FC236}">
                <a16:creationId xmlns:a16="http://schemas.microsoft.com/office/drawing/2014/main" id="{D3D835B5-77E5-4D0B-DE1A-70BE83DDD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Thema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>
            <a:extLst>
              <a:ext uri="{FF2B5EF4-FFF2-40B4-BE49-F238E27FC236}">
                <a16:creationId xmlns:a16="http://schemas.microsoft.com/office/drawing/2014/main" id="{020CAD8C-0FB1-A18B-53C0-D0112BF1FCCF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>
            <a:extLst>
              <a:ext uri="{FF2B5EF4-FFF2-40B4-BE49-F238E27FC236}">
                <a16:creationId xmlns:a16="http://schemas.microsoft.com/office/drawing/2014/main" id="{BFEB3323-8C7C-F4E7-0197-2DC58167B8CB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2F8EAC2-3A5B-D6B2-6807-A85EB274F8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1147" y="1268280"/>
            <a:ext cx="3989465" cy="4753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613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CC94D-EFB2-230B-056A-333CE249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>
            <a:extLst>
              <a:ext uri="{FF2B5EF4-FFF2-40B4-BE49-F238E27FC236}">
                <a16:creationId xmlns:a16="http://schemas.microsoft.com/office/drawing/2014/main" id="{B3CAD96C-4F43-BE3A-77B8-BBAAEF1C9D7A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>
            <a:extLst>
              <a:ext uri="{FF2B5EF4-FFF2-40B4-BE49-F238E27FC236}">
                <a16:creationId xmlns:a16="http://schemas.microsoft.com/office/drawing/2014/main" id="{F34F8823-A2C1-930E-47D4-58F0F895F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Ziel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0F1D5D5D-5F27-2B52-E3A8-59668999B69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Bewegungsmodellierung in Räumen von Unterschiedlichen Personen mit unterschiedlichen Berechtigungen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>
            <a:extLst>
              <a:ext uri="{FF2B5EF4-FFF2-40B4-BE49-F238E27FC236}">
                <a16:creationId xmlns:a16="http://schemas.microsoft.com/office/drawing/2014/main" id="{48DFFA9E-82FC-5F35-2133-1FDE5F503DEB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>
            <a:extLst>
              <a:ext uri="{FF2B5EF4-FFF2-40B4-BE49-F238E27FC236}">
                <a16:creationId xmlns:a16="http://schemas.microsoft.com/office/drawing/2014/main" id="{749B2D5B-6BEC-F0FA-9234-BA24D2363100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1399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6022B-22AB-C3F9-704B-A3908EB6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>
            <a:extLst>
              <a:ext uri="{FF2B5EF4-FFF2-40B4-BE49-F238E27FC236}">
                <a16:creationId xmlns:a16="http://schemas.microsoft.com/office/drawing/2014/main" id="{8A0B82B9-C4DA-1D25-9A51-5C4A5A7491F5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>
            <a:extLst>
              <a:ext uri="{FF2B5EF4-FFF2-40B4-BE49-F238E27FC236}">
                <a16:creationId xmlns:a16="http://schemas.microsoft.com/office/drawing/2014/main" id="{9D49B0EB-66FE-E178-232B-9A2FE4B3F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Spezifikation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>
            <a:extLst>
              <a:ext uri="{FF2B5EF4-FFF2-40B4-BE49-F238E27FC236}">
                <a16:creationId xmlns:a16="http://schemas.microsoft.com/office/drawing/2014/main" id="{923DEC76-65D3-4610-35F5-958DBA4C699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</a:t>
            </a:r>
            <a:r>
              <a:rPr lang="en-US" sz="2000" dirty="0">
                <a:solidFill>
                  <a:srgbClr val="FFFFFF"/>
                </a:solidFill>
                <a:ea typeface="Arial"/>
              </a:rPr>
              <a:t> für die</a:t>
            </a:r>
            <a:r>
              <a:rPr lang="en-US" sz="20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</a:t>
            </a:r>
            <a:r>
              <a:rPr lang="en-US" sz="20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in Alloy und Lean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>
            <a:extLst>
              <a:ext uri="{FF2B5EF4-FFF2-40B4-BE49-F238E27FC236}">
                <a16:creationId xmlns:a16="http://schemas.microsoft.com/office/drawing/2014/main" id="{ACA08943-0C8B-403C-FEFB-FB0401C5F0BE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>
            <a:extLst>
              <a:ext uri="{FF2B5EF4-FFF2-40B4-BE49-F238E27FC236}">
                <a16:creationId xmlns:a16="http://schemas.microsoft.com/office/drawing/2014/main" id="{F3B45895-07C9-3341-8C85-511F0D226E1F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39E2F-FA3D-4078-9441-A1708DB933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67278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86380-B48A-694F-F6D5-15063BCE8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>
            <a:extLst>
              <a:ext uri="{FF2B5EF4-FFF2-40B4-BE49-F238E27FC236}">
                <a16:creationId xmlns:a16="http://schemas.microsoft.com/office/drawing/2014/main" id="{B53063F6-8AF7-1BB1-B63D-ACA2EBCE8C90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>
            <a:extLst>
              <a:ext uri="{FF2B5EF4-FFF2-40B4-BE49-F238E27FC236}">
                <a16:creationId xmlns:a16="http://schemas.microsoft.com/office/drawing/2014/main" id="{599D93B7-05E4-10A6-4755-FB93572F9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Spezifikationsschritte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8331AB12-CFD6-EB98-D2A2-2D17E2E5AEF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Hier die Spezifikationsschritte für die Zielerreichung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>
            <a:extLst>
              <a:ext uri="{FF2B5EF4-FFF2-40B4-BE49-F238E27FC236}">
                <a16:creationId xmlns:a16="http://schemas.microsoft.com/office/drawing/2014/main" id="{A67037E5-DEE3-1352-E152-17073BE267FB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>
            <a:extLst>
              <a:ext uri="{FF2B5EF4-FFF2-40B4-BE49-F238E27FC236}">
                <a16:creationId xmlns:a16="http://schemas.microsoft.com/office/drawing/2014/main" id="{923011CD-F7D2-AC7B-2F07-3F86B1F44CC6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1947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9678D-8795-B997-5C0E-FB23CDA74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>
            <a:extLst>
              <a:ext uri="{FF2B5EF4-FFF2-40B4-BE49-F238E27FC236}">
                <a16:creationId xmlns:a16="http://schemas.microsoft.com/office/drawing/2014/main" id="{93329BC3-D652-01B5-D353-306E822C5688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>
            <a:extLst>
              <a:ext uri="{FF2B5EF4-FFF2-40B4-BE49-F238E27FC236}">
                <a16:creationId xmlns:a16="http://schemas.microsoft.com/office/drawing/2014/main" id="{219713C6-BC17-935B-73AB-B50E6B25D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</a:t>
            </a:r>
            <a:r>
              <a:rPr lang="en-US" sz="44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in Alloy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>
            <a:extLst>
              <a:ext uri="{FF2B5EF4-FFF2-40B4-BE49-F238E27FC236}">
                <a16:creationId xmlns:a16="http://schemas.microsoft.com/office/drawing/2014/main" id="{D2CDD6FC-DABC-927C-2613-C18E40487D3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000" dirty="0">
                <a:solidFill>
                  <a:schemeClr val="bg1"/>
                </a:solidFill>
              </a:rPr>
              <a:t>Event B: Aufbau und schrittweise Verfeinerung des Modells</a:t>
            </a:r>
            <a:endParaRPr lang="de-DE" sz="2000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>
            <a:extLst>
              <a:ext uri="{FF2B5EF4-FFF2-40B4-BE49-F238E27FC236}">
                <a16:creationId xmlns:a16="http://schemas.microsoft.com/office/drawing/2014/main" id="{F698B1F2-A4FC-01ED-717B-887CC0B4B253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>
            <a:extLst>
              <a:ext uri="{FF2B5EF4-FFF2-40B4-BE49-F238E27FC236}">
                <a16:creationId xmlns:a16="http://schemas.microsoft.com/office/drawing/2014/main" id="{D6E5B55C-131D-DF30-1C6D-D85529170E5D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39E2F-FA3D-4078-9441-A1708DB933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89021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68C50-9B06-C1F9-222D-202F6B699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30A34AD8-4FCA-81FF-CFD9-4E0ED7DFC6DF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AC71BE42-B01C-D6B7-19F8-16C2874AC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Objekte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D6FEF5CC-5510-BC76-1434-5FBFF64B1076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3BE5F457-DE1C-90BC-2996-84BCFDE42B2E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30D112A-2163-69FC-DAA4-D47221C58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706" y="1268280"/>
            <a:ext cx="7584588" cy="4572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9538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Objekte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47F0B3C-AAFB-5FB9-30A6-9A88B7EC7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768" y="2561623"/>
            <a:ext cx="4982270" cy="1952898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D905DBE-699E-C0B6-8BC5-79FE81667AE7}"/>
              </a:ext>
            </a:extLst>
          </p:cNvPr>
          <p:cNvSpPr txBox="1"/>
          <p:nvPr/>
        </p:nvSpPr>
        <p:spPr>
          <a:xfrm>
            <a:off x="589680" y="1268280"/>
            <a:ext cx="4251109" cy="4324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abstract</a:t>
            </a:r>
            <a:r>
              <a:rPr lang="de-DE" sz="1100" dirty="0"/>
              <a:t> </a:t>
            </a:r>
            <a:r>
              <a:rPr lang="de-DE" sz="1100" dirty="0" err="1"/>
              <a:t>sig</a:t>
            </a:r>
            <a:r>
              <a:rPr lang="de-DE" sz="1100" dirty="0"/>
              <a:t> PERSON{}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BEWOHNER </a:t>
            </a:r>
            <a:r>
              <a:rPr lang="de-DE" sz="1100" dirty="0" err="1"/>
              <a:t>extends</a:t>
            </a:r>
            <a:r>
              <a:rPr lang="de-DE" sz="1100" dirty="0"/>
              <a:t> PERSON {}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GAST </a:t>
            </a:r>
            <a:r>
              <a:rPr lang="de-DE" sz="1100" dirty="0" err="1"/>
              <a:t>extends</a:t>
            </a:r>
            <a:r>
              <a:rPr lang="de-DE" sz="1100" dirty="0"/>
              <a:t> PERSON {}</a:t>
            </a:r>
          </a:p>
          <a:p>
            <a:endParaRPr lang="de-DE" sz="1100" dirty="0"/>
          </a:p>
          <a:p>
            <a:r>
              <a:rPr lang="de-DE" sz="1100" dirty="0" err="1"/>
              <a:t>abstract</a:t>
            </a:r>
            <a:r>
              <a:rPr lang="de-DE" sz="1100" dirty="0"/>
              <a:t> </a:t>
            </a:r>
            <a:r>
              <a:rPr lang="de-DE" sz="1100" dirty="0" err="1"/>
              <a:t>sig</a:t>
            </a:r>
            <a:r>
              <a:rPr lang="de-DE" sz="1100" dirty="0"/>
              <a:t> ORT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var</a:t>
            </a:r>
            <a:r>
              <a:rPr lang="de-DE" sz="1100" dirty="0"/>
              <a:t> </a:t>
            </a:r>
            <a:r>
              <a:rPr lang="de-DE" sz="1100" dirty="0" err="1"/>
              <a:t>personenImOrtGrob</a:t>
            </a:r>
            <a:r>
              <a:rPr lang="de-DE" sz="1100" dirty="0"/>
              <a:t>: </a:t>
            </a:r>
            <a:r>
              <a:rPr lang="de-DE" sz="1100" dirty="0" err="1"/>
              <a:t>set</a:t>
            </a:r>
            <a:r>
              <a:rPr lang="de-DE" sz="1100" dirty="0"/>
              <a:t> PERSON,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var</a:t>
            </a:r>
            <a:r>
              <a:rPr lang="de-DE" sz="1100" dirty="0"/>
              <a:t> </a:t>
            </a:r>
            <a:r>
              <a:rPr lang="de-DE" sz="1100" dirty="0" err="1"/>
              <a:t>personenImOrtFein</a:t>
            </a:r>
            <a:r>
              <a:rPr lang="de-DE" sz="1100" dirty="0"/>
              <a:t>: </a:t>
            </a:r>
            <a:r>
              <a:rPr lang="de-DE" sz="1100" dirty="0" err="1"/>
              <a:t>set</a:t>
            </a:r>
            <a:r>
              <a:rPr lang="de-DE" sz="1100" dirty="0"/>
              <a:t> PERSON,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nachbarn</a:t>
            </a:r>
            <a:r>
              <a:rPr lang="de-DE" sz="1100" dirty="0"/>
              <a:t>: </a:t>
            </a:r>
            <a:r>
              <a:rPr lang="de-DE" sz="1100" dirty="0" err="1"/>
              <a:t>some</a:t>
            </a:r>
            <a:r>
              <a:rPr lang="de-DE" sz="1100" dirty="0"/>
              <a:t> ORT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RAUM </a:t>
            </a:r>
            <a:r>
              <a:rPr lang="de-DE" sz="1100" dirty="0" err="1"/>
              <a:t>extends</a:t>
            </a:r>
            <a:r>
              <a:rPr lang="de-DE" sz="1100" dirty="0"/>
              <a:t> ORT {}{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nachbarn</a:t>
            </a:r>
            <a:r>
              <a:rPr lang="de-DE" sz="1100" dirty="0"/>
              <a:t> in TUER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GARTEN </a:t>
            </a:r>
            <a:r>
              <a:rPr lang="de-DE" sz="1100" dirty="0" err="1"/>
              <a:t>extends</a:t>
            </a:r>
            <a:r>
              <a:rPr lang="de-DE" sz="1100" dirty="0"/>
              <a:t> RAUM{}{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one</a:t>
            </a:r>
            <a:r>
              <a:rPr lang="de-DE" sz="1100" dirty="0"/>
              <a:t> </a:t>
            </a:r>
            <a:r>
              <a:rPr lang="de-DE" sz="1100" dirty="0" err="1"/>
              <a:t>nachbarn</a:t>
            </a:r>
            <a:r>
              <a:rPr lang="de-DE" sz="1100" dirty="0"/>
              <a:t> 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TUER </a:t>
            </a:r>
            <a:r>
              <a:rPr lang="de-DE" sz="1100" dirty="0" err="1"/>
              <a:t>extends</a:t>
            </a:r>
            <a:r>
              <a:rPr lang="de-DE" sz="1100" dirty="0"/>
              <a:t> ORT{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var</a:t>
            </a:r>
            <a:r>
              <a:rPr lang="de-DE" sz="1100" dirty="0"/>
              <a:t> offen: </a:t>
            </a:r>
            <a:r>
              <a:rPr lang="de-DE" sz="1100" dirty="0" err="1"/>
              <a:t>one</a:t>
            </a:r>
            <a:r>
              <a:rPr lang="de-DE" sz="1100" dirty="0"/>
              <a:t> Bool</a:t>
            </a:r>
          </a:p>
          <a:p>
            <a:r>
              <a:rPr lang="de-DE" sz="1100" dirty="0"/>
              <a:t>}{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nachbarn</a:t>
            </a:r>
            <a:r>
              <a:rPr lang="de-DE" sz="1100" dirty="0"/>
              <a:t> in RAUM</a:t>
            </a:r>
          </a:p>
          <a:p>
            <a:r>
              <a:rPr lang="de-DE" sz="1100" dirty="0"/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43383-F72F-C5A9-95DB-C4709F29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15C353D3-9517-DA42-F37B-02235FA94E23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2F8B9995-FB16-90D9-E3EB-F95D633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Axiome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F88F7066-F365-351A-27C9-7935DA025176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09871EBC-1FE5-1A5F-65D2-6ECE20C272A0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501D5958-F2DE-5B1C-43C0-B57ABFCF4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930" y="1574365"/>
            <a:ext cx="4982270" cy="1952898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2229773F-03D3-9ACB-249B-1438FC128774}"/>
              </a:ext>
            </a:extLst>
          </p:cNvPr>
          <p:cNvSpPr txBox="1"/>
          <p:nvPr/>
        </p:nvSpPr>
        <p:spPr>
          <a:xfrm>
            <a:off x="543960" y="1872964"/>
            <a:ext cx="6822859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genauEinenGarten</a:t>
            </a:r>
            <a:r>
              <a:rPr lang="de-DE" sz="1100" dirty="0"/>
              <a:t> { #GARTEN = 1}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alleRaumeInEinemGebaeude</a:t>
            </a:r>
            <a:r>
              <a:rPr lang="de-DE" sz="1100" dirty="0"/>
              <a:t> {all r: RAUM | r in GARTEN.^</a:t>
            </a:r>
            <a:r>
              <a:rPr lang="de-DE" sz="1100" dirty="0" err="1"/>
              <a:t>nachbarn</a:t>
            </a:r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einePersonInGenauEinemOrt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always</a:t>
            </a:r>
            <a:r>
              <a:rPr lang="de-DE" sz="1100" dirty="0"/>
              <a:t> (all p: PERSON | #(p.~personenImOrtGrob) = 1 </a:t>
            </a:r>
          </a:p>
          <a:p>
            <a:r>
              <a:rPr lang="de-DE" sz="1100" dirty="0"/>
              <a:t>	and #(p.~personenImOrtFein) = 1)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tuerImmerOffenWennPersonEnthalten</a:t>
            </a:r>
            <a:r>
              <a:rPr lang="de-DE" sz="1100" dirty="0"/>
              <a:t>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always</a:t>
            </a:r>
            <a:r>
              <a:rPr lang="de-DE" sz="1100" dirty="0"/>
              <a:t> all t: TUER |  #(t.personenImOrtFein) &gt;= 1 </a:t>
            </a:r>
            <a:r>
              <a:rPr lang="de-DE" sz="1100" dirty="0" err="1"/>
              <a:t>implies</a:t>
            </a:r>
            <a:r>
              <a:rPr lang="de-DE" sz="1100" dirty="0"/>
              <a:t> </a:t>
            </a:r>
            <a:r>
              <a:rPr lang="de-DE" sz="1100" dirty="0" err="1"/>
              <a:t>t.offen</a:t>
            </a:r>
            <a:r>
              <a:rPr lang="de-DE" sz="1100" dirty="0"/>
              <a:t> = True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alleNachbarnSindSymmetrisch</a:t>
            </a:r>
            <a:r>
              <a:rPr lang="de-DE" sz="1100" dirty="0"/>
              <a:t> {</a:t>
            </a:r>
          </a:p>
          <a:p>
            <a:r>
              <a:rPr lang="de-DE" sz="1100" dirty="0"/>
              <a:t>	all r: RAUM, t: TUER | r in </a:t>
            </a:r>
            <a:r>
              <a:rPr lang="de-DE" sz="1100" dirty="0" err="1"/>
              <a:t>t.nachbarn</a:t>
            </a:r>
            <a:r>
              <a:rPr lang="de-DE" sz="1100" dirty="0"/>
              <a:t> &lt;=&gt; t in </a:t>
            </a:r>
            <a:r>
              <a:rPr lang="de-DE" sz="1100" dirty="0" err="1"/>
              <a:t>r.nachbarn</a:t>
            </a:r>
            <a:endParaRPr lang="de-DE" sz="1100" dirty="0"/>
          </a:p>
          <a:p>
            <a:r>
              <a:rPr lang="de-DE" sz="1100" dirty="0"/>
              <a:t>	all t:TUER, r: RAUM | t in </a:t>
            </a:r>
            <a:r>
              <a:rPr lang="de-DE" sz="1100" dirty="0" err="1"/>
              <a:t>r.nachbarn</a:t>
            </a:r>
            <a:r>
              <a:rPr lang="de-DE" sz="1100" dirty="0"/>
              <a:t> &lt;=&gt; r in </a:t>
            </a:r>
            <a:r>
              <a:rPr lang="de-DE" sz="1100" dirty="0" err="1"/>
              <a:t>t.nachbarn</a:t>
            </a:r>
            <a:endParaRPr lang="de-DE" sz="1100" dirty="0"/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tuerVerbindetZweiRaeume</a:t>
            </a:r>
            <a:r>
              <a:rPr lang="de-DE" sz="1100" dirty="0"/>
              <a:t> {all t: TUER | #t.nachbarn = 2}</a:t>
            </a:r>
          </a:p>
        </p:txBody>
      </p:sp>
    </p:spTree>
    <p:extLst>
      <p:ext uri="{BB962C8B-B14F-4D97-AF65-F5344CB8AC3E}">
        <p14:creationId xmlns:p14="http://schemas.microsoft.com/office/powerpoint/2010/main" val="2388821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2DB29E2-0665-B83D-C821-0546E8280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1126EEAE-4D53-76BD-5A61-0590B45910BD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DCAC9F1C-B186-933C-B353-5457CA257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Objekte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F07F9267-C3F4-6B10-A1E1-AB913490121A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ED5EF8C9-E8BE-7C07-E612-0D151B7A67FF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AE234F1-C3C8-371E-05FD-9AAC654B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625" y="2086515"/>
            <a:ext cx="5134692" cy="20100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53C324E-1DCA-31D4-D63B-A69CB5C2CE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413" y="4434028"/>
            <a:ext cx="5458587" cy="187668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1F527D3-AA39-9CE3-EE8C-4F6A4927D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3936" y="2423972"/>
            <a:ext cx="4982270" cy="195289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943785A1-DCB8-8081-C57F-C993DA5767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25" y="1749058"/>
            <a:ext cx="5068007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9002D67A-748A-37AD-1204-6DE56BC2B6C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96360" y="4841400"/>
            <a:ext cx="7622280" cy="8809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/>
              <a:t>Grundlagen für die weiteren Schritte</a:t>
            </a:r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5A81BCC-7C2D-B04B-E10B-0C3FAB62B2E0}"/>
              </a:ext>
            </a:extLst>
          </p:cNvPr>
          <p:cNvSpPr txBox="1">
            <a:spLocks/>
          </p:cNvSpPr>
          <p:nvPr/>
        </p:nvSpPr>
        <p:spPr>
          <a:xfrm>
            <a:off x="696360" y="38337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de-DE" dirty="0"/>
              <a:t>Grobes Modell</a:t>
            </a:r>
          </a:p>
        </p:txBody>
      </p:sp>
    </p:spTree>
    <p:extLst>
      <p:ext uri="{BB962C8B-B14F-4D97-AF65-F5344CB8AC3E}">
        <p14:creationId xmlns:p14="http://schemas.microsoft.com/office/powerpoint/2010/main" val="2913047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D2467-5C21-4DF3-3BC8-89C1285F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B16D8BEB-B382-0C95-AC6A-D330FB7D4A84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2357050D-A865-004E-5E3C-3B5ED625E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48F1556C-5E79-85B1-563E-4B2F9CF05335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42357362-0AC4-2246-A1BB-4FA073B4BABD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573A34A-7D43-0422-E767-2DD5593BF1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0482" y="4072389"/>
            <a:ext cx="5332396" cy="1232326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7F45138-A2F9-F60D-3F2B-EDCA22630F57}"/>
              </a:ext>
            </a:extLst>
          </p:cNvPr>
          <p:cNvSpPr txBox="1"/>
          <p:nvPr/>
        </p:nvSpPr>
        <p:spPr>
          <a:xfrm>
            <a:off x="2715823" y="1553285"/>
            <a:ext cx="6760354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schrittGrob</a:t>
            </a:r>
            <a:r>
              <a:rPr lang="de-DE" sz="1100" dirty="0"/>
              <a:t>[p: PERSON, von, nach: RAUM]{</a:t>
            </a:r>
          </a:p>
          <a:p>
            <a:endParaRPr lang="de-DE" sz="1100" dirty="0"/>
          </a:p>
          <a:p>
            <a:r>
              <a:rPr lang="de-DE" sz="1100" dirty="0"/>
              <a:t>	//</a:t>
            </a:r>
            <a:r>
              <a:rPr lang="de-DE" sz="1100" dirty="0" err="1"/>
              <a:t>pre</a:t>
            </a:r>
            <a:endParaRPr lang="de-DE" sz="1100" dirty="0"/>
          </a:p>
          <a:p>
            <a:r>
              <a:rPr lang="de-DE" sz="1100" dirty="0"/>
              <a:t>	p in </a:t>
            </a:r>
            <a:r>
              <a:rPr lang="de-DE" sz="1100" dirty="0" err="1"/>
              <a:t>von.personenImOrtGrob</a:t>
            </a:r>
            <a:endParaRPr lang="de-DE" sz="1100" dirty="0"/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t: TUER | t in </a:t>
            </a:r>
            <a:r>
              <a:rPr lang="de-DE" sz="1100" dirty="0" err="1"/>
              <a:t>von.nachbarn</a:t>
            </a:r>
            <a:r>
              <a:rPr lang="de-DE" sz="1100" dirty="0"/>
              <a:t> and t in </a:t>
            </a:r>
            <a:r>
              <a:rPr lang="de-DE" sz="1100" dirty="0" err="1"/>
              <a:t>nach.nachbarn</a:t>
            </a:r>
            <a:r>
              <a:rPr lang="de-DE" sz="1100" dirty="0"/>
              <a:t> and </a:t>
            </a:r>
            <a:r>
              <a:rPr lang="de-DE" sz="1100" dirty="0" err="1"/>
              <a:t>t.offen</a:t>
            </a:r>
            <a:r>
              <a:rPr lang="de-DE" sz="1100" dirty="0"/>
              <a:t> in True</a:t>
            </a:r>
          </a:p>
          <a:p>
            <a:endParaRPr lang="de-DE" sz="1100" dirty="0"/>
          </a:p>
          <a:p>
            <a:r>
              <a:rPr lang="de-DE" sz="1100" dirty="0"/>
              <a:t>	//</a:t>
            </a:r>
            <a:r>
              <a:rPr lang="de-DE" sz="1100" dirty="0" err="1"/>
              <a:t>post</a:t>
            </a:r>
            <a:endParaRPr lang="de-DE" sz="1100" dirty="0"/>
          </a:p>
          <a:p>
            <a:r>
              <a:rPr lang="de-DE" sz="1100" dirty="0"/>
              <a:t>	</a:t>
            </a:r>
            <a:r>
              <a:rPr lang="de-DE" sz="1100" dirty="0" err="1"/>
              <a:t>von.personenImOrtGrob</a:t>
            </a:r>
            <a:r>
              <a:rPr lang="de-DE" sz="1100" dirty="0"/>
              <a:t>' = </a:t>
            </a:r>
            <a:r>
              <a:rPr lang="de-DE" sz="1100" dirty="0" err="1"/>
              <a:t>von.personenImOrtGrob</a:t>
            </a:r>
            <a:r>
              <a:rPr lang="de-DE" sz="1100" dirty="0"/>
              <a:t> - p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nach.personenImOrtGrob</a:t>
            </a:r>
            <a:r>
              <a:rPr lang="de-DE" sz="1100" dirty="0"/>
              <a:t>' = </a:t>
            </a:r>
            <a:r>
              <a:rPr lang="de-DE" sz="1100" dirty="0" err="1"/>
              <a:t>nach.personenImOrtGrob</a:t>
            </a:r>
            <a:r>
              <a:rPr lang="de-DE" sz="1100" dirty="0"/>
              <a:t> + p</a:t>
            </a:r>
          </a:p>
          <a:p>
            <a:endParaRPr lang="de-DE" sz="1100" dirty="0"/>
          </a:p>
          <a:p>
            <a:r>
              <a:rPr lang="de-DE" sz="1100" dirty="0"/>
              <a:t>	//frame</a:t>
            </a:r>
          </a:p>
          <a:p>
            <a:r>
              <a:rPr lang="de-DE" sz="1100" dirty="0"/>
              <a:t>	all o: ORT - (von + nach) | </a:t>
            </a:r>
            <a:r>
              <a:rPr lang="de-DE" sz="1100" dirty="0" err="1"/>
              <a:t>o.personenImOrtGrob</a:t>
            </a:r>
            <a:r>
              <a:rPr lang="de-DE" sz="1100" dirty="0"/>
              <a:t>'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D92D822-70E6-DB39-0C98-D7DF3AB4C821}"/>
              </a:ext>
            </a:extLst>
          </p:cNvPr>
          <p:cNvSpPr txBox="1"/>
          <p:nvPr/>
        </p:nvSpPr>
        <p:spPr>
          <a:xfrm>
            <a:off x="3260482" y="5493774"/>
            <a:ext cx="1879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von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C25855-63D1-E3CF-A726-DF804117EA85}"/>
              </a:ext>
            </a:extLst>
          </p:cNvPr>
          <p:cNvSpPr txBox="1"/>
          <p:nvPr/>
        </p:nvSpPr>
        <p:spPr>
          <a:xfrm>
            <a:off x="6713547" y="5491525"/>
            <a:ext cx="1879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nach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C973C8A5-3729-1BE4-5D1F-69ECCD70C22E}"/>
              </a:ext>
            </a:extLst>
          </p:cNvPr>
          <p:cNvSpPr/>
          <p:nvPr/>
        </p:nvSpPr>
        <p:spPr>
          <a:xfrm rot="9762723">
            <a:off x="8503832" y="1787938"/>
            <a:ext cx="936523" cy="3834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AEB2BDF-9300-D8D0-A9B8-AB5C8775D01A}"/>
              </a:ext>
            </a:extLst>
          </p:cNvPr>
          <p:cNvSpPr txBox="1"/>
          <p:nvPr/>
        </p:nvSpPr>
        <p:spPr>
          <a:xfrm>
            <a:off x="9334681" y="1457389"/>
            <a:ext cx="18793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Später von Verfeinerungen definiert</a:t>
            </a:r>
          </a:p>
        </p:txBody>
      </p:sp>
    </p:spTree>
    <p:extLst>
      <p:ext uri="{BB962C8B-B14F-4D97-AF65-F5344CB8AC3E}">
        <p14:creationId xmlns:p14="http://schemas.microsoft.com/office/powerpoint/2010/main" val="9780643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EA5F4CA-291F-22AE-77DA-A94862168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02DAE6BA-106B-D8E0-A7F5-855CF7B67D90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F048F54F-56DD-B2DC-24FF-73776AF04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>
            <a:extLst>
              <a:ext uri="{FF2B5EF4-FFF2-40B4-BE49-F238E27FC236}">
                <a16:creationId xmlns:a16="http://schemas.microsoft.com/office/drawing/2014/main" id="{387D35A4-5DE1-65D4-4C8F-4A8255E1EE2A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92B8915F-C70C-3C0B-E826-0FCA496FC588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95155A2E-9B40-3A4E-3F15-7F0F069DDB6D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60268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E3C46-87B2-27B7-0D5D-E3188F484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94232A-F851-2F3C-8BE1-2C3FBE097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Verfeinertes Modell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603D4211-0CD0-8B05-FDD3-78786846D16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3960" y="4689000"/>
            <a:ext cx="7622280" cy="12026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/>
              <a:t>Umsetzung der Türen</a:t>
            </a:r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783149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E60CD06-FD3E-ABDA-59CF-6C006DCC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63206739-B0BD-645B-31C8-D5EE4D4A1F3A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87FD79BD-0F3A-2CF2-602B-C309CB9EE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51B8E752-67DA-5E55-8E70-E1E44B74FFE4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AE0CCB74-6931-649F-6488-B9CD8EC1C2EB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32E7EA6-9A84-A0BF-3C6B-23AFA90B0C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8256" y="3773585"/>
            <a:ext cx="4599182" cy="85733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762C31B-BF59-ACB7-9887-C474A661AA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03" y="2117545"/>
            <a:ext cx="4485658" cy="1036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0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66A04-4D62-8B20-C31B-40E4976BD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DF0A4B7C-8D4B-78F1-AFF1-8F6529775585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22DB0645-3E55-B4F5-A11C-A552BFFDA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Modell: Initialer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2672A9F9-2DCC-1B19-66DF-E5EDE37154AB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6CA95AA1-CE32-8AF9-E5D9-A9DBF641AF84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BA3C694-44D0-87E6-ED66-128666741A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6289" y="3803127"/>
            <a:ext cx="4599182" cy="85733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748AE1E4-2E6F-83B6-823B-5C451ADAB6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90842" y="1989233"/>
            <a:ext cx="4410075" cy="101917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6E531A4-6DC4-772A-153E-A0877C01883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424" y="1478922"/>
            <a:ext cx="824906" cy="99597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C5E1A68-79B9-A17C-C756-44292CD39F6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069" y="3187430"/>
            <a:ext cx="824906" cy="995976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DDD861-EB07-CA93-3B36-B00E0099090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5237" y="1204680"/>
            <a:ext cx="846187" cy="1211061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4F1011A4-ADC2-7E8A-EC1F-DCC5B9C6D6F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932" y="3016408"/>
            <a:ext cx="846187" cy="121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906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1AE09-1717-39E6-693F-E28F2EFDD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5D9A43CD-87E0-634E-559B-0A264542107F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72C09CB5-F8B0-FB4A-6F99-33A72C5CA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Modell: Schritt 1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3B8DC06C-E0F9-646A-8E3D-87E18C60BB11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EB005561-E250-8D67-4D87-B2D4AE2BED20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17A3488-97A0-D83D-69B2-93C9F51C87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6289" y="3803127"/>
            <a:ext cx="4599182" cy="85733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89AE7D0-FD22-E4FE-36AC-F59B83131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90842" y="1989233"/>
            <a:ext cx="4410075" cy="101917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6EF3C2F-DC3B-46C6-68F5-3BC829A40CC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424" y="1478922"/>
            <a:ext cx="824906" cy="99597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44098AA-C346-A584-7C3B-B9275A4FDBF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2389" y="3187430"/>
            <a:ext cx="824906" cy="995976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66C9976-540D-BBCA-493D-3589F4EACE2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5237" y="1204680"/>
            <a:ext cx="846187" cy="1211061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04E7DCDC-D6B8-8377-0BDA-8E4FC25366C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932" y="3016408"/>
            <a:ext cx="846187" cy="1211061"/>
          </a:xfrm>
          <a:prstGeom prst="rect">
            <a:avLst/>
          </a:prstGeom>
        </p:spPr>
      </p:pic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737EB15B-FB01-86EB-9D0B-55B2F9FDE775}"/>
              </a:ext>
            </a:extLst>
          </p:cNvPr>
          <p:cNvSpPr/>
          <p:nvPr/>
        </p:nvSpPr>
        <p:spPr>
          <a:xfrm rot="20607194">
            <a:off x="2685699" y="2283168"/>
            <a:ext cx="936523" cy="3834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EAFDD32-4E43-B61F-E078-5560F86374C6}"/>
              </a:ext>
            </a:extLst>
          </p:cNvPr>
          <p:cNvSpPr txBox="1"/>
          <p:nvPr/>
        </p:nvSpPr>
        <p:spPr>
          <a:xfrm>
            <a:off x="355509" y="2547048"/>
            <a:ext cx="33019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StutterSchritt_2{</a:t>
            </a:r>
          </a:p>
          <a:p>
            <a:r>
              <a:rPr lang="de-DE" sz="1100" dirty="0"/>
              <a:t>    all o: ORT | </a:t>
            </a:r>
          </a:p>
          <a:p>
            <a:r>
              <a:rPr lang="de-DE" sz="1100" dirty="0"/>
              <a:t>    </a:t>
            </a:r>
            <a:r>
              <a:rPr lang="de-DE" sz="1100" dirty="0" err="1"/>
              <a:t>o.personenImOrtGrob</a:t>
            </a:r>
            <a:r>
              <a:rPr lang="de-DE" sz="1100" dirty="0"/>
              <a:t>‘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0737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1DCBD-558E-1B02-6B97-45912967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0DFF4176-29E6-228D-8248-2E93EDE01D3D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81DD37C3-7EF6-CBE0-E513-ADEE17D51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Modell: Schritt 2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8AC8B624-9753-5319-6432-6E092ECA7F0E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3CDBC6B6-48A2-DBDD-28F3-C78EF4054765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1FA3CDA-3FBE-584D-DEA5-FADF81E95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6289" y="3803127"/>
            <a:ext cx="4599182" cy="85733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21574BE1-E884-BE14-555C-99ED29BD37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90842" y="1989233"/>
            <a:ext cx="4410075" cy="101917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029D01C-7B1B-3B4B-7A0A-90A50924DB1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565" y="1478922"/>
            <a:ext cx="824906" cy="99597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66B2B730-7EC4-5E4D-CA3A-4688172FE64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565" y="3187430"/>
            <a:ext cx="824906" cy="995976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06BFECE-A117-BC94-CCDB-D0F79D9D4CB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5237" y="1204680"/>
            <a:ext cx="846187" cy="1211061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C761752C-C972-C230-9689-5B06D2C1581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932" y="3016408"/>
            <a:ext cx="846187" cy="1211061"/>
          </a:xfrm>
          <a:prstGeom prst="rect">
            <a:avLst/>
          </a:prstGeom>
        </p:spPr>
      </p:pic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806F3375-FF0B-AAC4-97E3-949703543979}"/>
              </a:ext>
            </a:extLst>
          </p:cNvPr>
          <p:cNvSpPr/>
          <p:nvPr/>
        </p:nvSpPr>
        <p:spPr>
          <a:xfrm rot="20607194">
            <a:off x="2685699" y="2283168"/>
            <a:ext cx="936523" cy="3834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D1BDAC6-C9F3-0023-896C-13274D87D1C0}"/>
              </a:ext>
            </a:extLst>
          </p:cNvPr>
          <p:cNvSpPr txBox="1"/>
          <p:nvPr/>
        </p:nvSpPr>
        <p:spPr>
          <a:xfrm>
            <a:off x="355509" y="2547048"/>
            <a:ext cx="33019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StutterSchritt_2{</a:t>
            </a:r>
          </a:p>
          <a:p>
            <a:r>
              <a:rPr lang="de-DE" sz="1100" dirty="0"/>
              <a:t>    all o: ORT | </a:t>
            </a:r>
          </a:p>
          <a:p>
            <a:r>
              <a:rPr lang="de-DE" sz="1100" dirty="0"/>
              <a:t>    </a:t>
            </a:r>
            <a:r>
              <a:rPr lang="de-DE" sz="1100" dirty="0" err="1"/>
              <a:t>o.personenImOrtGrob</a:t>
            </a:r>
            <a:r>
              <a:rPr lang="de-DE" sz="1100" dirty="0"/>
              <a:t>‘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07957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A9A7EE5-08CE-482B-4A86-9F598C7B9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7A7FBDA7-9CF9-7976-AFD3-2A742218E956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990FA0B9-383E-39ED-4BAE-E2241CB48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1BE21C42-8FD4-AC54-C029-B317AEC088BE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B0D57CA8-BA8E-23DF-67DA-CF9D25121721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56AD55E-B47B-EEEB-8669-562C3CB10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8256" y="3773585"/>
            <a:ext cx="4599182" cy="85733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810D630-D29E-9D3B-A904-E4AD1F3096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03" y="2117545"/>
            <a:ext cx="4485658" cy="103664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B36DA90-2AD1-C372-A1F3-FE349E750BE3}"/>
              </a:ext>
            </a:extLst>
          </p:cNvPr>
          <p:cNvSpPr txBox="1"/>
          <p:nvPr/>
        </p:nvSpPr>
        <p:spPr>
          <a:xfrm>
            <a:off x="543960" y="2838490"/>
            <a:ext cx="546495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StutterSchritt_2[t])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6486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7DE730-9732-AE8A-F356-824863E6F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Übersicht Verfeinerung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9C8A473-80A2-EE23-2FB4-40C6786B89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654683"/>
              </p:ext>
            </p:extLst>
          </p:nvPr>
        </p:nvGraphicFramePr>
        <p:xfrm>
          <a:off x="2032000" y="2509294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46867419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8248823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5712854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08837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mpd="sng"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913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Grobes Modell: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940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Verfeinerung: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291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637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5739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86;p 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89;p 1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E3B3B65-6891-44BA-A477-EB7894D3E0B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7349-2BD8-B0E2-171B-EA257AAF1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6D7341-5C9F-ECA9-1CCE-B733F295A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59" y="3681360"/>
            <a:ext cx="8621555" cy="1007640"/>
          </a:xfrm>
        </p:spPr>
        <p:txBody>
          <a:bodyPr>
            <a:normAutofit fontScale="90000"/>
          </a:bodyPr>
          <a:lstStyle/>
          <a:p>
            <a:r>
              <a:rPr lang="de-DE" dirty="0"/>
              <a:t>Verfeinertes Modell mit Autorisierung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3C73BD47-ED05-2AAA-7BFC-0DC99BBD78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1436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/>
              <a:t>Nur Bewohner dürfen Türen öffnen</a:t>
            </a:r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7305867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D2598-1FCA-A25F-E76C-4A975BE8F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141D5412-4C65-C32B-FE91-63B1EBA3135E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AF5B6420-6483-3712-9F0D-91074C949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mit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592FFB83-1205-56B3-124D-D178882FC736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7B35E07D-1623-9AF8-8521-F58ADE75F70A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1661E12-8740-9B76-43B4-C76A81FD1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1178" y="4275387"/>
            <a:ext cx="4599182" cy="85733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9D06383-5A4B-D512-5043-47E47F1D5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78" y="1519735"/>
            <a:ext cx="4599182" cy="1062879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223F524-076D-A561-E696-D5CFCD311354}"/>
              </a:ext>
            </a:extLst>
          </p:cNvPr>
          <p:cNvSpPr txBox="1"/>
          <p:nvPr/>
        </p:nvSpPr>
        <p:spPr>
          <a:xfrm>
            <a:off x="543960" y="2838490"/>
            <a:ext cx="546495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StutterSchritt_2[t])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48FE441-B8F9-6FAB-8D27-4DCA41DEEB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1178" y="2963818"/>
            <a:ext cx="4599182" cy="85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8556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B0075-F538-4826-37F9-AD76F3D73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F60888A7-CCA0-22EA-03A1-1A4E55160214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FFECE573-D6B7-09E3-F26B-E10AFA5E3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mit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51E0778A-9DDF-5651-B3B1-78F36B2139B9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9583C7F7-CF8D-AB59-11AF-93FC71B840BB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A44B20C-FAEC-8B03-934F-7D8AB5714B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6409" y="4242234"/>
            <a:ext cx="4599182" cy="85733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A59CCEB4-980B-D57C-F11F-7C13956895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96409" y="2340224"/>
            <a:ext cx="4599182" cy="106287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A4631CA-B9F6-0C81-089E-239BD3ECC08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4049" y="1842236"/>
            <a:ext cx="824906" cy="995976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D5B47AB-6A5F-D489-892B-25A29F5A984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862" y="1567994"/>
            <a:ext cx="846187" cy="1211061"/>
          </a:xfrm>
          <a:prstGeom prst="rect">
            <a:avLst/>
          </a:prstGeom>
        </p:spPr>
      </p:pic>
      <p:sp>
        <p:nvSpPr>
          <p:cNvPr id="12" name="Multiplikationszeichen 11">
            <a:extLst>
              <a:ext uri="{FF2B5EF4-FFF2-40B4-BE49-F238E27FC236}">
                <a16:creationId xmlns:a16="http://schemas.microsoft.com/office/drawing/2014/main" id="{F84ADA78-3AC1-6255-75B8-D6819062C219}"/>
              </a:ext>
            </a:extLst>
          </p:cNvPr>
          <p:cNvSpPr/>
          <p:nvPr/>
        </p:nvSpPr>
        <p:spPr>
          <a:xfrm>
            <a:off x="5635113" y="4210016"/>
            <a:ext cx="921774" cy="921774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09B36773-361F-FF1F-D1B1-6A382F4745C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5726" y="3677344"/>
            <a:ext cx="824906" cy="99597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49CCEBC6-3815-8E30-7E4A-2DFB76AE63D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9539" y="3403102"/>
            <a:ext cx="846187" cy="121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4856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1A56D-7846-3BF5-DF1D-128E85807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A4FBCF44-50A1-495A-FB25-BFAF8871FC11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65949912-1525-7A2C-5C9E-77B642D36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mit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2A8A63C5-7FD2-2055-6043-E76E869726C2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AF52924F-BF0E-E3DA-6BEF-940BCA1515A3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A74F87E-9709-C2FE-12A9-6A48EA7AE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6409" y="4242233"/>
            <a:ext cx="4599182" cy="85733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00910B-898C-E48E-ED2F-80ED043589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96409" y="2340224"/>
            <a:ext cx="4599182" cy="106287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8B7848E-3D80-BD11-B523-11098A50C51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4049" y="1842236"/>
            <a:ext cx="824906" cy="99597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B8C4C0-5E93-AD56-B4A5-FC0109C8DBC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862" y="1567994"/>
            <a:ext cx="846187" cy="121106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4C71D62F-2AEA-7948-8390-DBC7CA413DA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5726" y="3677344"/>
            <a:ext cx="824906" cy="99597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118B0183-41BA-DC69-FC71-450F6EE8E5D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9539" y="3403102"/>
            <a:ext cx="846187" cy="1211061"/>
          </a:xfrm>
          <a:prstGeom prst="rect">
            <a:avLst/>
          </a:prstGeom>
        </p:spPr>
      </p:pic>
      <p:sp>
        <p:nvSpPr>
          <p:cNvPr id="28" name="Pfeil: nach rechts 27">
            <a:extLst>
              <a:ext uri="{FF2B5EF4-FFF2-40B4-BE49-F238E27FC236}">
                <a16:creationId xmlns:a16="http://schemas.microsoft.com/office/drawing/2014/main" id="{AEF8E2B0-FF60-CEF2-B089-0E2D714833AE}"/>
              </a:ext>
            </a:extLst>
          </p:cNvPr>
          <p:cNvSpPr/>
          <p:nvPr/>
        </p:nvSpPr>
        <p:spPr>
          <a:xfrm rot="20607194">
            <a:off x="2577424" y="4479173"/>
            <a:ext cx="936523" cy="3834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2C0E9F0E-AB21-D180-74E9-61E127A5776A}"/>
              </a:ext>
            </a:extLst>
          </p:cNvPr>
          <p:cNvSpPr txBox="1"/>
          <p:nvPr/>
        </p:nvSpPr>
        <p:spPr>
          <a:xfrm>
            <a:off x="459044" y="5140985"/>
            <a:ext cx="609477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StutterSchritt_1 [</a:t>
            </a:r>
            <a:r>
              <a:rPr lang="de-DE" sz="1100" dirty="0" err="1"/>
              <a:t>tuer</a:t>
            </a:r>
            <a:r>
              <a:rPr lang="de-DE" sz="1100" dirty="0"/>
              <a:t>: TUER] {</a:t>
            </a:r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o.personenImOrtFein</a:t>
            </a:r>
            <a:r>
              <a:rPr lang="de-DE" sz="1100" dirty="0"/>
              <a:t>' = </a:t>
            </a:r>
            <a:r>
              <a:rPr lang="de-DE" sz="1100" dirty="0" err="1"/>
              <a:t>o.personenImOrtFein</a:t>
            </a:r>
            <a:endParaRPr lang="de-DE" sz="1100" dirty="0"/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o.personenImOrtGrob</a:t>
            </a:r>
            <a:r>
              <a:rPr lang="de-DE" sz="1100" dirty="0"/>
              <a:t>'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	all t: TUER - </a:t>
            </a:r>
            <a:r>
              <a:rPr lang="de-DE" sz="1100" dirty="0" err="1"/>
              <a:t>tuer</a:t>
            </a:r>
            <a:r>
              <a:rPr lang="de-DE" sz="1100" dirty="0"/>
              <a:t> | </a:t>
            </a:r>
            <a:r>
              <a:rPr lang="de-DE" sz="1100" dirty="0" err="1"/>
              <a:t>t.offen</a:t>
            </a:r>
            <a:r>
              <a:rPr lang="de-DE" sz="1100" dirty="0"/>
              <a:t>' = </a:t>
            </a:r>
            <a:r>
              <a:rPr lang="de-DE" sz="1100" dirty="0" err="1"/>
              <a:t>t.offen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2161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F672A-E4CB-B12E-A94C-CC28AB50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D05A52B6-1EBC-98E5-9A5E-F41FB823E8C9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C616FAAC-1D14-F0C8-F486-2100D34EA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mit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ABC65E70-2661-42B9-FBDB-C47C9274DCCB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5BC2F77B-6071-640C-47BF-1DA492A44F8A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6EF3372-C87C-75D9-F7A9-86F0AC2F2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6409" y="4242233"/>
            <a:ext cx="4599182" cy="85733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D354CBC-8210-A60C-D890-83EB959ACB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96409" y="2340224"/>
            <a:ext cx="4599182" cy="106287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B465D8C-195F-C058-943A-4EDDA40904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4049" y="1842236"/>
            <a:ext cx="824906" cy="99597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54423E10-5003-682B-3F26-9D0BDF414E2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862" y="1567994"/>
            <a:ext cx="846187" cy="121106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8EF5E6E-8A18-699A-B250-58C03610136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880" y="3677344"/>
            <a:ext cx="824906" cy="99597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FE625F2-A5AE-1543-8229-5B6AC7C152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9539" y="3403102"/>
            <a:ext cx="846187" cy="1211061"/>
          </a:xfrm>
          <a:prstGeom prst="rect">
            <a:avLst/>
          </a:prstGeom>
        </p:spPr>
      </p:pic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B81A5CA6-6A23-DB6E-4AD2-2867738CC724}"/>
              </a:ext>
            </a:extLst>
          </p:cNvPr>
          <p:cNvSpPr/>
          <p:nvPr/>
        </p:nvSpPr>
        <p:spPr>
          <a:xfrm rot="20607194">
            <a:off x="2577424" y="4479173"/>
            <a:ext cx="936523" cy="3834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28E89B3-831E-42B3-4E12-65BB883F2228}"/>
              </a:ext>
            </a:extLst>
          </p:cNvPr>
          <p:cNvSpPr txBox="1"/>
          <p:nvPr/>
        </p:nvSpPr>
        <p:spPr>
          <a:xfrm>
            <a:off x="459044" y="5140985"/>
            <a:ext cx="609477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StutterSchritt_1 [</a:t>
            </a:r>
            <a:r>
              <a:rPr lang="de-DE" sz="1100" dirty="0" err="1"/>
              <a:t>tuer</a:t>
            </a:r>
            <a:r>
              <a:rPr lang="de-DE" sz="1100" dirty="0"/>
              <a:t>: TUER] {</a:t>
            </a:r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o.personenImOrtFein</a:t>
            </a:r>
            <a:r>
              <a:rPr lang="de-DE" sz="1100" dirty="0"/>
              <a:t>' = </a:t>
            </a:r>
            <a:r>
              <a:rPr lang="de-DE" sz="1100" dirty="0" err="1"/>
              <a:t>o.personenImOrtFein</a:t>
            </a:r>
            <a:endParaRPr lang="de-DE" sz="1100" dirty="0"/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o.personenImOrtGrob</a:t>
            </a:r>
            <a:r>
              <a:rPr lang="de-DE" sz="1100" dirty="0"/>
              <a:t>'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	all t: TUER - </a:t>
            </a:r>
            <a:r>
              <a:rPr lang="de-DE" sz="1100" dirty="0" err="1"/>
              <a:t>tuer</a:t>
            </a:r>
            <a:r>
              <a:rPr lang="de-DE" sz="1100" dirty="0"/>
              <a:t> | </a:t>
            </a:r>
            <a:r>
              <a:rPr lang="de-DE" sz="1100" dirty="0" err="1"/>
              <a:t>t.offen</a:t>
            </a:r>
            <a:r>
              <a:rPr lang="de-DE" sz="1100" dirty="0"/>
              <a:t>' = </a:t>
            </a:r>
            <a:r>
              <a:rPr lang="de-DE" sz="1100" dirty="0" err="1"/>
              <a:t>t.offen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44227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F68C1-85EA-030B-69A9-45E8BDAD3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2E92E813-4370-1147-3E50-73BCE0CFD814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C0126B07-BEB1-B0BC-03AB-93DB5B1B5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mit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74C90CF1-CD87-EE89-8949-109AD2ABE508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6AFCF8C7-0CF0-8B58-7907-CB6D45FD3DB9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9B40C38-BB02-7D31-E438-CCCF4C4C28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6409" y="4242233"/>
            <a:ext cx="4599182" cy="85733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5A4869A-6403-FB4E-C761-7A693B676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96409" y="2340224"/>
            <a:ext cx="4599182" cy="106287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40CDC86-BC81-53DC-FA09-263DBF86FB4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7817" y="1842236"/>
            <a:ext cx="824906" cy="99597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55E8F6F2-EABB-37DD-CEBB-2D9783B824A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862" y="1567994"/>
            <a:ext cx="846187" cy="1211061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AF717D5A-BF80-D940-18DA-5E258B6A083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9539" y="3403102"/>
            <a:ext cx="846187" cy="121106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9A318438-6029-85CF-4501-C85F9B86BE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1370" y="3677344"/>
            <a:ext cx="824906" cy="995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1366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B83AD-32F7-1944-1A1B-D4F7378B5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F079FA-496A-9C3F-A492-657E6FC81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59" y="3681360"/>
            <a:ext cx="8621555" cy="1007640"/>
          </a:xfrm>
        </p:spPr>
        <p:txBody>
          <a:bodyPr>
            <a:normAutofit/>
          </a:bodyPr>
          <a:lstStyle/>
          <a:p>
            <a:r>
              <a:rPr lang="de-DE" dirty="0"/>
              <a:t>Synchronisierung der Modelle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D4460C83-DF0A-D3D1-DED1-3176DC2424B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/>
              <a:t>Nur Bewohner dürfen Türen öffnen</a:t>
            </a:r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884601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6360D-666B-2314-F2F8-22BBA46D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82AE92-1DF8-AD25-20AB-DA6498624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Übersicht Verfeinerung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3ADAD8FF-960E-E443-EDE1-0D37DCB584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0157320"/>
              </p:ext>
            </p:extLst>
          </p:nvPr>
        </p:nvGraphicFramePr>
        <p:xfrm>
          <a:off x="2031880" y="1592895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46867419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8248823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5712854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08837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mpd="sng"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913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Grobes Modell: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940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Verfeinerung: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291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Autorisierung: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Öffne Tür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637320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A2643895-5616-47F2-FF48-A68A6E38C3CC}"/>
              </a:ext>
            </a:extLst>
          </p:cNvPr>
          <p:cNvSpPr txBox="1"/>
          <p:nvPr/>
        </p:nvSpPr>
        <p:spPr>
          <a:xfrm>
            <a:off x="631046" y="4645519"/>
            <a:ext cx="495332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StutterSchritt_1 [</a:t>
            </a:r>
            <a:r>
              <a:rPr lang="de-DE" sz="1100" dirty="0" err="1"/>
              <a:t>tuer</a:t>
            </a:r>
            <a:r>
              <a:rPr lang="de-DE" sz="1100" dirty="0"/>
              <a:t>: TUER] {</a:t>
            </a:r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o.personenImOrtFein</a:t>
            </a:r>
            <a:r>
              <a:rPr lang="de-DE" sz="1100" dirty="0"/>
              <a:t>' = </a:t>
            </a:r>
            <a:r>
              <a:rPr lang="de-DE" sz="1100" dirty="0" err="1"/>
              <a:t>o.personenImOrtFein</a:t>
            </a:r>
            <a:endParaRPr lang="de-DE" sz="1100" dirty="0"/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o.personenImOrtGrob</a:t>
            </a:r>
            <a:r>
              <a:rPr lang="de-DE" sz="1100" dirty="0"/>
              <a:t>'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	all t: TUER - </a:t>
            </a:r>
            <a:r>
              <a:rPr lang="de-DE" sz="1100" dirty="0" err="1"/>
              <a:t>tuer</a:t>
            </a:r>
            <a:r>
              <a:rPr lang="de-DE" sz="1100" dirty="0"/>
              <a:t> | </a:t>
            </a:r>
            <a:r>
              <a:rPr lang="de-DE" sz="1100" dirty="0" err="1"/>
              <a:t>t.offen</a:t>
            </a:r>
            <a:r>
              <a:rPr lang="de-DE" sz="1100" dirty="0"/>
              <a:t>' = </a:t>
            </a:r>
            <a:r>
              <a:rPr lang="de-DE" sz="1100" dirty="0" err="1"/>
              <a:t>t.offen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DEB1D68-4A8B-E472-1279-FD2120B1FB34}"/>
              </a:ext>
            </a:extLst>
          </p:cNvPr>
          <p:cNvSpPr txBox="1"/>
          <p:nvPr/>
        </p:nvSpPr>
        <p:spPr>
          <a:xfrm>
            <a:off x="6607629" y="4645519"/>
            <a:ext cx="495332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StutterSchritt_2{</a:t>
            </a:r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o.personenImOrtGrob</a:t>
            </a:r>
            <a:r>
              <a:rPr lang="de-DE" sz="1100" dirty="0"/>
              <a:t>'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DB31E2-EA9D-2A98-D6D6-3D61C00D1999}"/>
              </a:ext>
            </a:extLst>
          </p:cNvPr>
          <p:cNvSpPr txBox="1"/>
          <p:nvPr/>
        </p:nvSpPr>
        <p:spPr>
          <a:xfrm>
            <a:off x="631046" y="4169229"/>
            <a:ext cx="2307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Stutter</a:t>
            </a:r>
            <a:r>
              <a:rPr lang="de-DE" dirty="0"/>
              <a:t> Schritt 1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FF60668-4C52-79E9-72D5-62FDFA62C04B}"/>
              </a:ext>
            </a:extLst>
          </p:cNvPr>
          <p:cNvSpPr txBox="1"/>
          <p:nvPr/>
        </p:nvSpPr>
        <p:spPr>
          <a:xfrm>
            <a:off x="6607629" y="4169229"/>
            <a:ext cx="2307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Stutter</a:t>
            </a:r>
            <a:r>
              <a:rPr lang="de-DE" dirty="0"/>
              <a:t> Schritt 2</a:t>
            </a:r>
          </a:p>
        </p:txBody>
      </p:sp>
      <p:sp>
        <p:nvSpPr>
          <p:cNvPr id="11" name="Pfeil: nach unten 10">
            <a:extLst>
              <a:ext uri="{FF2B5EF4-FFF2-40B4-BE49-F238E27FC236}">
                <a16:creationId xmlns:a16="http://schemas.microsoft.com/office/drawing/2014/main" id="{72C237B7-8732-E74C-ED1C-B6800D1F91A2}"/>
              </a:ext>
            </a:extLst>
          </p:cNvPr>
          <p:cNvSpPr/>
          <p:nvPr/>
        </p:nvSpPr>
        <p:spPr>
          <a:xfrm rot="2929018">
            <a:off x="3646714" y="3216730"/>
            <a:ext cx="478971" cy="8591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unten 12">
            <a:extLst>
              <a:ext uri="{FF2B5EF4-FFF2-40B4-BE49-F238E27FC236}">
                <a16:creationId xmlns:a16="http://schemas.microsoft.com/office/drawing/2014/main" id="{E81A8CAA-6004-55B6-F30E-5CBB81AA738C}"/>
              </a:ext>
            </a:extLst>
          </p:cNvPr>
          <p:cNvSpPr/>
          <p:nvPr/>
        </p:nvSpPr>
        <p:spPr>
          <a:xfrm rot="19295337">
            <a:off x="6716484" y="3213005"/>
            <a:ext cx="478971" cy="8591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18249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F6A5D-4C95-4AC6-E60E-BC29A390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8D6716-FC6F-2870-65DA-4A4134048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Übersicht Verfeinerung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C67E998C-4A25-371F-1DDB-C59AA60E3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752788"/>
              </p:ext>
            </p:extLst>
          </p:nvPr>
        </p:nvGraphicFramePr>
        <p:xfrm>
          <a:off x="1196602" y="2053723"/>
          <a:ext cx="9798795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759">
                  <a:extLst>
                    <a:ext uri="{9D8B030D-6E8A-4147-A177-3AD203B41FA5}">
                      <a16:colId xmlns:a16="http://schemas.microsoft.com/office/drawing/2014/main" val="1468674191"/>
                    </a:ext>
                  </a:extLst>
                </a:gridCol>
                <a:gridCol w="1959759">
                  <a:extLst>
                    <a:ext uri="{9D8B030D-6E8A-4147-A177-3AD203B41FA5}">
                      <a16:colId xmlns:a16="http://schemas.microsoft.com/office/drawing/2014/main" val="4282488230"/>
                    </a:ext>
                  </a:extLst>
                </a:gridCol>
                <a:gridCol w="1959759">
                  <a:extLst>
                    <a:ext uri="{9D8B030D-6E8A-4147-A177-3AD203B41FA5}">
                      <a16:colId xmlns:a16="http://schemas.microsoft.com/office/drawing/2014/main" val="3657128543"/>
                    </a:ext>
                  </a:extLst>
                </a:gridCol>
                <a:gridCol w="1959759">
                  <a:extLst>
                    <a:ext uri="{9D8B030D-6E8A-4147-A177-3AD203B41FA5}">
                      <a16:colId xmlns:a16="http://schemas.microsoft.com/office/drawing/2014/main" val="2708837365"/>
                    </a:ext>
                  </a:extLst>
                </a:gridCol>
                <a:gridCol w="1959759">
                  <a:extLst>
                    <a:ext uri="{9D8B030D-6E8A-4147-A177-3AD203B41FA5}">
                      <a16:colId xmlns:a16="http://schemas.microsoft.com/office/drawing/2014/main" val="1138682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mpd="sng"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solidFill>
                            <a:schemeClr val="tx1"/>
                          </a:solidFill>
                        </a:rPr>
                        <a:t>Frame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913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Grobes Modell: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highlight>
                            <a:srgbClr val="FFFF00"/>
                          </a:highlight>
                        </a:rPr>
                        <a:t>personenGrob</a:t>
                      </a:r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940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Verfeinerung: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highlight>
                            <a:srgbClr val="FFFF00"/>
                          </a:highlight>
                        </a:rPr>
                        <a:t>personenFein</a:t>
                      </a:r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291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Autorisierung: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Öffne Tür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highlight>
                            <a:srgbClr val="FFFF00"/>
                          </a:highlight>
                        </a:rPr>
                        <a:t>türFälltZu</a:t>
                      </a:r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637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none" dirty="0" err="1"/>
                        <a:t>Stutter</a:t>
                      </a:r>
                      <a:endParaRPr lang="de-DE" u="non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highlight>
                            <a:srgbClr val="FFFF00"/>
                          </a:highlight>
                        </a:rPr>
                        <a:t>Stutter_1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highlight>
                            <a:srgbClr val="FFFF00"/>
                          </a:highlight>
                        </a:rPr>
                        <a:t>Stutter_2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6029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10840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46E93D-0952-ECE9-FDD8-53A67B587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BC86811-0630-4CE6-262F-B4496D5C6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973" y="2148279"/>
            <a:ext cx="6633598" cy="259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3526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9AF0C-DAB7-2368-9E4F-F9FBEF29B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09E39F-58BE-FD05-D335-FC277B1AF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853" y="2115049"/>
            <a:ext cx="6518053" cy="25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319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B657D-25A8-96EC-B9D9-D4685A3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388F60-691E-0A2F-D32E-4CBA498AA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703573B-DCD4-B4FA-0C39-AB622DF50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973" y="2115049"/>
            <a:ext cx="6526441" cy="25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792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73E8D-B5E5-F5CD-B22B-F4BAC9101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4264E5-7506-0BCB-AE1F-431237367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702481C-2283-1717-4E25-3DC823D18E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973" y="2115049"/>
            <a:ext cx="7431191" cy="255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7791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86;p 3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89;p 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7EDA6C-6AF0-4300-8371-54FB16D8F05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95;p 5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Anforderungen,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98;p 5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23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AA853D-9C80-40BA-9B9E-64BAEA0160A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86;p 4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Verfeinerung muss auf-/abwärtskompatibel sein — was in Stufe 3 möglich ist, muss (von außen betrachtet) auch in Stufe 1 gültig sein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wie die Modellprüfung das für begrenzte Instanzen stichprobenartig zeigt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der allgemeine Beweis, dass alle drei Modelle dasselbe fachliche Ergebnis liefert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89;p 4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24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C5126BD-A769-49BA-A77F-45FAC6CA2E4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8AA07-711F-0D8F-214C-385CF8E39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95;p 5">
            <a:extLst>
              <a:ext uri="{FF2B5EF4-FFF2-40B4-BE49-F238E27FC236}">
                <a16:creationId xmlns:a16="http://schemas.microsoft.com/office/drawing/2014/main" id="{4F0F9D16-2878-949C-99FE-37186AE00C9D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>
            <a:extLst>
              <a:ext uri="{FF2B5EF4-FFF2-40B4-BE49-F238E27FC236}">
                <a16:creationId xmlns:a16="http://schemas.microsoft.com/office/drawing/2014/main" id="{6C345EB6-4A66-54C5-4D72-A5CB12852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Beweisen</a:t>
            </a:r>
            <a:r>
              <a:rPr lang="en-US" sz="44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des </a:t>
            </a:r>
            <a:r>
              <a:rPr lang="en-US" sz="44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Modells</a:t>
            </a:r>
            <a:r>
              <a:rPr lang="en-US" sz="44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in Lean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>
            <a:extLst>
              <a:ext uri="{FF2B5EF4-FFF2-40B4-BE49-F238E27FC236}">
                <a16:creationId xmlns:a16="http://schemas.microsoft.com/office/drawing/2014/main" id="{46460D4D-EB6E-E977-8A69-9C6050E19C0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98;p 5">
            <a:extLst>
              <a:ext uri="{FF2B5EF4-FFF2-40B4-BE49-F238E27FC236}">
                <a16:creationId xmlns:a16="http://schemas.microsoft.com/office/drawing/2014/main" id="{2DA2C707-1585-2878-044B-16DCBF3737F4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>
            <a:extLst>
              <a:ext uri="{FF2B5EF4-FFF2-40B4-BE49-F238E27FC236}">
                <a16:creationId xmlns:a16="http://schemas.microsoft.com/office/drawing/2014/main" id="{365CBA93-7DA2-6CA4-76F0-462D8B4EB4A2}"/>
              </a:ext>
            </a:extLst>
          </p:cNvPr>
          <p:cNvSpPr>
            <a:spLocks noGrp="1"/>
          </p:cNvSpPr>
          <p:nvPr>
            <p:ph type="sldNum" idx="23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AA853D-9C80-40BA-9B9E-64BAEA0160A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633789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95;p 6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Alloy vs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Vergleich von Vor- und Nachteilen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98;p 6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25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12A9EA-D753-4E19-B0B6-1EC0138D149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86;p 5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Vergleichstabelle aus UMSETZUNG.md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89;p 5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2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9E0C05-A1E9-4841-8CBE-6A6C006EDD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95;p3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98;p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2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A304693-83CA-4079-B8EA-8654522E441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43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78;p8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Zusammenfassung der drei Stufen und ihrer Garantien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Erweiterungsideen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81;p8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2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35C0622-9106-4BA3-9BA3-1E580F72774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232;p14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Sources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Bla bla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235;p14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29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85C331-FD1B-4C4B-B53D-CD52F544C5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2324</Words>
  <Application>Microsoft Office PowerPoint</Application>
  <PresentationFormat>Breitbild</PresentationFormat>
  <Paragraphs>463</Paragraphs>
  <Slides>45</Slides>
  <Notes>27</Notes>
  <HiddenSlides>6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45</vt:i4>
      </vt:variant>
    </vt:vector>
  </HeadingPairs>
  <TitlesOfParts>
    <vt:vector size="51" baseType="lpstr">
      <vt:lpstr>Arial</vt:lpstr>
      <vt:lpstr>Symbol</vt:lpstr>
      <vt:lpstr>Times New Roman</vt:lpstr>
      <vt:lpstr>Wingdings</vt:lpstr>
      <vt:lpstr>Wingdings 2</vt:lpstr>
      <vt:lpstr>Office</vt:lpstr>
      <vt:lpstr>Reliable Software –  Smart Home System</vt:lpstr>
      <vt:lpstr>Inhalt</vt:lpstr>
      <vt:lpstr>Einleitung in das Thema</vt:lpstr>
      <vt:lpstr>Grobes Thema</vt:lpstr>
      <vt:lpstr>Ziel</vt:lpstr>
      <vt:lpstr>Spezifikation</vt:lpstr>
      <vt:lpstr>Spezifikationsschritte</vt:lpstr>
      <vt:lpstr>Umsetzung in Alloy</vt:lpstr>
      <vt:lpstr>Übersicht der Objekte</vt:lpstr>
      <vt:lpstr>Übersicht der Objekte</vt:lpstr>
      <vt:lpstr>Übersicht der Axiome</vt:lpstr>
      <vt:lpstr>Übersicht der Objekte</vt:lpstr>
      <vt:lpstr>PowerPoint-Präsentation</vt:lpstr>
      <vt:lpstr>Grobes Modell</vt:lpstr>
      <vt:lpstr>Inhalt</vt:lpstr>
      <vt:lpstr>Verfeinertes Modell</vt:lpstr>
      <vt:lpstr>Feines Modell</vt:lpstr>
      <vt:lpstr>Feines Modell: Initialer Zustand</vt:lpstr>
      <vt:lpstr>Feines Modell: Schritt 1</vt:lpstr>
      <vt:lpstr>Feines Modell: Schritt 2</vt:lpstr>
      <vt:lpstr>Feines Modell</vt:lpstr>
      <vt:lpstr>Übersicht Verfeinerung</vt:lpstr>
      <vt:lpstr>Inhalt</vt:lpstr>
      <vt:lpstr>Verfeinertes Modell mit Autorisierung</vt:lpstr>
      <vt:lpstr>Feines Modell mit Autorisierung</vt:lpstr>
      <vt:lpstr>Feines Modell mit Autorisierung</vt:lpstr>
      <vt:lpstr>Feines Modell mit Autorisierung</vt:lpstr>
      <vt:lpstr>Feines Modell mit Autorisierung</vt:lpstr>
      <vt:lpstr>Feines Modell mit Autorisierung</vt:lpstr>
      <vt:lpstr>Synchronisierung der Modelle</vt:lpstr>
      <vt:lpstr>Übersicht Verfeinerung</vt:lpstr>
      <vt:lpstr>Übersicht Verfeinerung</vt:lpstr>
      <vt:lpstr>Beispiel</vt:lpstr>
      <vt:lpstr>Beispiel</vt:lpstr>
      <vt:lpstr>Beispiel</vt:lpstr>
      <vt:lpstr>Beispiel</vt:lpstr>
      <vt:lpstr>Inhalt</vt:lpstr>
      <vt:lpstr>Konsistenz zwischen Modellen</vt:lpstr>
      <vt:lpstr>Inhalt</vt:lpstr>
      <vt:lpstr>Beweisen des Modells in Lean</vt:lpstr>
      <vt:lpstr>Alloy vs Lean</vt:lpstr>
      <vt:lpstr>Inhalt</vt:lpstr>
      <vt:lpstr>Fazit und Ausblick</vt:lpstr>
      <vt:lpstr>Inhalt</vt:lpstr>
      <vt:lpstr>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_r_m66r71o@hsrheinmain.onmicrosoft.com</cp:lastModifiedBy>
  <cp:revision>20</cp:revision>
  <dcterms:modified xsi:type="dcterms:W3CDTF">2026-08-17T12:35:56Z</dcterms:modified>
  <dc:language>de-DE</dc:language>
</cp:coreProperties>
</file>