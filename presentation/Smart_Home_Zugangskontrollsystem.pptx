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3.xml" ContentType="application/vnd.openxmlformats-officedocument.theme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s/slide45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46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47.xml" ContentType="application/vnd.openxmlformats-officedocument.presentationml.slide+xml"/>
  <Override PartName="/ppt/slides/slide3.xml" ContentType="application/vnd.openxmlformats-officedocument.presentationml.slide+xml"/>
  <Override PartName="/ppt/slides/slide40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23.xml" ContentType="application/vnd.openxmlformats-officedocument.presentationml.slide+xml"/>
  <Override PartName="/ppt/slides/slide42.xml" ContentType="application/vnd.openxmlformats-officedocument.presentationml.slide+xml"/>
  <Override PartName="/ppt/slides/slide6.xml" ContentType="application/vnd.openxmlformats-officedocument.presentationml.slide+xml"/>
  <Override PartName="/ppt/slides/slide24.xml" ContentType="application/vnd.openxmlformats-officedocument.presentationml.slide+xml"/>
  <Override PartName="/ppt/slides/slide43.xml" ContentType="application/vnd.openxmlformats-officedocument.presentationml.slide+xml"/>
  <Override PartName="/ppt/slides/slide7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49.xml" ContentType="application/vnd.openxmlformats-officedocument.presentationml.slide+xml"/>
  <Override PartName="/ppt/slides/slide14.xml" ContentType="application/vnd.openxmlformats-officedocument.presentationml.slide+xml"/>
  <Override PartName="/ppt/slides/slide48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44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64.xml" ContentType="application/vnd.openxmlformats-officedocument.presentationml.slide+xml"/>
  <Override PartName="/ppt/slides/slide3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media/image14.svg" ContentType="image/svg"/>
  <Override PartName="/ppt/media/image16.svg" ContentType="image/svg"/>
  <Override PartName="/ppt/media/image18.svg" ContentType="image/svg"/>
  <Override PartName="/ppt/media/image22.svg" ContentType="image/svg"/>
  <Override PartName="/ppt/media/image24.svg" ContentType="image/svg"/>
  <Override PartName="/ppt/media/image32.svg" ContentType="image/svg"/>
  <Override PartName="/ppt/slideMasters/slideMaster1.xml" ContentType="application/vnd.openxmlformats-officedocument.presentationml.slideMaster+xml"/>
  <Override PartName="/ppt/notesSlides/notesSlide10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slide" Target="slides/slide64.xml"/><Relationship Id="rId68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Folie mittels Klicken verschieben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der Notizen mittels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&lt;Kopfzeile&gt;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 type="dt" idx="13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&lt;Datum/Uhrzeit&gt;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5"/>
          <p:cNvSpPr>
            <a:spLocks noGrp="1"/>
          </p:cNvSpPr>
          <p:nvPr>
            <p:ph type="ftr" idx="14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" name="PlaceHolder 6"/>
          <p:cNvSpPr>
            <a:spLocks noGrp="1"/>
          </p:cNvSpPr>
          <p:nvPr>
            <p:ph type="sldNum" idx="15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2DB7A4FE-6340-405C-9EFA-38C18155B5FA}" type="slidenum"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&lt;Foliennummer&gt;</a:t>
            </a:fld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
</Relationships>
</file>

<file path=ppt/notesSlides/_rels/notesSlide42.xml.rels><?xml version="1.0" encoding="UTF-8"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
</Relationships>
</file>

<file path=ppt/notesSlides/_rels/notesSlide63.xml.rels><?xml version="1.0" encoding="UTF-8"?>
<Relationships xmlns="http://schemas.openxmlformats.org/package/2006/relationships"><Relationship Id="rId1" Type="http://schemas.openxmlformats.org/officeDocument/2006/relationships/slide" Target="../slides/slide63.xml"/><Relationship Id="rId2" Type="http://schemas.openxmlformats.org/officeDocument/2006/relationships/notesMaster" Target="../notesMasters/notesMaster1.xml"/>
</Relationships>
</file>

<file path=ppt/notesSlides/_rels/notesSlide64.xml.rels><?xml version="1.0" encoding="UTF-8"?>
<Relationships xmlns="http://schemas.openxmlformats.org/package/2006/relationships"><Relationship Id="rId1" Type="http://schemas.openxmlformats.org/officeDocument/2006/relationships/slide" Target="../slides/slide64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PlaceHolder 1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1 – Titel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Begrüßung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Vorstellung unseres Projekts: </a:t>
            </a:r>
            <a:r>
              <a:rPr lang="en-US" sz="1100" b="0" i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Collaborative Real-Time Kanban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Modul: </a:t>
            </a:r>
            <a:r>
              <a:rPr lang="en-US" sz="1100" b="0" i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Principles, Algorithms and Models of Concurrency and Synchronization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Fokus: Synchronisation und Nebenläufigkeit in einem kollaborativen Kanban-Board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PlaceHolder 2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520" cy="3428640"/>
          </a:xfrm>
          <a:prstGeom prst="rect">
            <a:avLst/>
          </a:prstGeom>
          <a:ln w="0">
            <a:noFill/>
          </a:ln>
        </p:spPr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280" cy="3428280"/>
          </a:xfrm>
          <a:prstGeom prst="rect">
            <a:avLst/>
          </a:prstGeom>
          <a:ln w="0">
            <a:noFill/>
          </a:ln>
        </p:spPr>
      </p:sp>
      <p:sp>
        <p:nvSpPr>
          <p:cNvPr id="490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520" cy="3428640"/>
          </a:xfrm>
          <a:prstGeom prst="rect">
            <a:avLst/>
          </a:prstGeom>
          <a:ln w="0">
            <a:noFill/>
          </a:ln>
        </p:spPr>
      </p:sp>
      <p:sp>
        <p:nvSpPr>
          <p:cNvPr id="492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520" cy="3428640"/>
          </a:xfrm>
          <a:prstGeom prst="rect">
            <a:avLst/>
          </a:prstGeom>
          <a:ln w="0">
            <a:noFill/>
          </a:ln>
        </p:spPr>
      </p:sp>
      <p:sp>
        <p:nvSpPr>
          <p:cNvPr id="494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520" cy="3428640"/>
          </a:xfrm>
          <a:prstGeom prst="rect">
            <a:avLst/>
          </a:prstGeom>
          <a:ln w="0">
            <a:noFill/>
          </a:ln>
        </p:spPr>
      </p:sp>
      <p:sp>
        <p:nvSpPr>
          <p:cNvPr id="496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520" cy="3428640"/>
          </a:xfrm>
          <a:prstGeom prst="rect">
            <a:avLst/>
          </a:prstGeom>
          <a:ln w="0">
            <a:noFill/>
          </a:ln>
        </p:spPr>
      </p:sp>
      <p:sp>
        <p:nvSpPr>
          <p:cNvPr id="498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520" cy="3428640"/>
          </a:xfrm>
          <a:prstGeom prst="rect">
            <a:avLst/>
          </a:prstGeom>
          <a:ln w="0">
            <a:noFill/>
          </a:ln>
        </p:spPr>
      </p:sp>
      <p:sp>
        <p:nvSpPr>
          <p:cNvPr id="500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520" cy="3428640"/>
          </a:xfrm>
          <a:prstGeom prst="rect">
            <a:avLst/>
          </a:prstGeom>
          <a:ln w="0">
            <a:noFill/>
          </a:ln>
        </p:spPr>
      </p:sp>
      <p:sp>
        <p:nvSpPr>
          <p:cNvPr id="502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520" cy="3428640"/>
          </a:xfrm>
          <a:prstGeom prst="rect">
            <a:avLst/>
          </a:prstGeom>
          <a:ln w="0">
            <a:noFill/>
          </a:ln>
        </p:spPr>
      </p:sp>
      <p:sp>
        <p:nvSpPr>
          <p:cNvPr id="504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520" cy="3428640"/>
          </a:xfrm>
          <a:prstGeom prst="rect">
            <a:avLst/>
          </a:prstGeom>
          <a:ln w="0">
            <a:noFill/>
          </a:ln>
        </p:spPr>
      </p:sp>
      <p:sp>
        <p:nvSpPr>
          <p:cNvPr id="506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520" cy="3428640"/>
          </a:xfrm>
          <a:prstGeom prst="rect">
            <a:avLst/>
          </a:prstGeom>
          <a:ln w="0">
            <a:noFill/>
          </a:ln>
        </p:spPr>
      </p:sp>
      <p:sp>
        <p:nvSpPr>
          <p:cNvPr id="508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520" cy="3428640"/>
          </a:xfrm>
          <a:prstGeom prst="rect">
            <a:avLst/>
          </a:prstGeom>
          <a:ln w="0">
            <a:noFill/>
          </a:ln>
        </p:spPr>
      </p:sp>
      <p:sp>
        <p:nvSpPr>
          <p:cNvPr id="510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520" cy="3428640"/>
          </a:xfrm>
          <a:prstGeom prst="rect">
            <a:avLst/>
          </a:prstGeom>
          <a:ln w="0">
            <a:noFill/>
          </a:ln>
        </p:spPr>
      </p:sp>
      <p:sp>
        <p:nvSpPr>
          <p:cNvPr id="512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520" cy="3428640"/>
          </a:xfrm>
          <a:prstGeom prst="rect">
            <a:avLst/>
          </a:prstGeom>
          <a:ln w="0">
            <a:noFill/>
          </a:ln>
        </p:spPr>
      </p:sp>
      <p:sp>
        <p:nvSpPr>
          <p:cNvPr id="514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520" cy="3428640"/>
          </a:xfrm>
          <a:prstGeom prst="rect">
            <a:avLst/>
          </a:prstGeom>
          <a:ln w="0">
            <a:noFill/>
          </a:ln>
        </p:spPr>
      </p:sp>
      <p:sp>
        <p:nvSpPr>
          <p:cNvPr id="516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520" cy="3428640"/>
          </a:xfrm>
          <a:prstGeom prst="rect">
            <a:avLst/>
          </a:prstGeom>
          <a:ln w="0">
            <a:noFill/>
          </a:ln>
        </p:spPr>
      </p:sp>
      <p:sp>
        <p:nvSpPr>
          <p:cNvPr id="518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520" cy="3428640"/>
          </a:xfrm>
          <a:prstGeom prst="rect">
            <a:avLst/>
          </a:prstGeom>
          <a:ln w="0">
            <a:noFill/>
          </a:ln>
        </p:spPr>
      </p:sp>
      <p:sp>
        <p:nvSpPr>
          <p:cNvPr id="520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6 – Race Condition: WIP Limits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Testing-Spalte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Maximal 3 Tasks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einen Task hinein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Beide sehen zunächst dieselbe Anzahl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Beide Operationen erfolgreich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überschritten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ReentrantLock pro Spalte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WIP-Prüfung und Update in einer kritischen Sektion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520" cy="3428640"/>
          </a:xfrm>
          <a:prstGeom prst="rect">
            <a:avLst/>
          </a:prstGeom>
          <a:ln w="0">
            <a:noFill/>
          </a:ln>
        </p:spPr>
      </p:sp>
      <p:sp>
        <p:nvSpPr>
          <p:cNvPr id="522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Locking initially only covered tasks, extending it to boards and columns required a full restructuring (tests and code, via an abstract lock service)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Keeping frontend state consistent required precise timing of WebSocket updates across all clients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Understanding synchronization deeply mattered more than just getting the code to run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.pn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.pn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.pn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bschnitts-&#10;überschrif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7320" cy="45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2467800" y="1484280"/>
            <a:ext cx="7255800" cy="21963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2467800" y="3681360"/>
            <a:ext cx="7255800" cy="1007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40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" name="Google Shape;51;p24" descr="Grafik 6"/>
          <p:cNvPicPr/>
          <p:nvPr/>
        </p:nvPicPr>
        <p:blipFill>
          <a:blip r:embed="rId3"/>
          <a:stretch/>
        </p:blipFill>
        <p:spPr>
          <a:xfrm>
            <a:off x="10726560" y="399240"/>
            <a:ext cx="1147320" cy="45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" name="PlaceHolder 3"/>
          <p:cNvSpPr>
            <a:spLocks noGrp="1"/>
          </p:cNvSpPr>
          <p:nvPr>
            <p:ph type="sldNum" idx="1"/>
          </p:nvPr>
        </p:nvSpPr>
        <p:spPr>
          <a:xfrm>
            <a:off x="11402640" y="6416640"/>
            <a:ext cx="24480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4C99ADA-6863-42D4-A836-323C9AD0E7B6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2_Titelfoli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7320" cy="45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" name="PlaceHolder 1"/>
          <p:cNvSpPr>
            <a:spLocks noGrp="1"/>
          </p:cNvSpPr>
          <p:nvPr>
            <p:ph type="body"/>
          </p:nvPr>
        </p:nvSpPr>
        <p:spPr>
          <a:xfrm>
            <a:off x="6294600" y="0"/>
            <a:ext cx="5896800" cy="68572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6294600" y="0"/>
            <a:ext cx="5896800" cy="68572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title"/>
          </p:nvPr>
        </p:nvSpPr>
        <p:spPr>
          <a:xfrm>
            <a:off x="543960" y="3681360"/>
            <a:ext cx="5551200" cy="1007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85000" lnSpcReduction="9999"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body"/>
          </p:nvPr>
        </p:nvSpPr>
        <p:spPr>
          <a:xfrm>
            <a:off x="543960" y="4689360"/>
            <a:ext cx="5551200" cy="1367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5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sldNum" idx="2"/>
          </p:nvPr>
        </p:nvSpPr>
        <p:spPr>
          <a:xfrm>
            <a:off x="5892840" y="6233760"/>
            <a:ext cx="284400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6C78F15-286F-491D-B23E-8F6FB119128A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Titelfolie">
    <p:bg>
      <p:bgPr>
        <a:solidFill>
          <a:schemeClr val="accent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7320" cy="45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7621920" cy="1007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85000" lnSpcReduction="9999"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543960" y="4689360"/>
            <a:ext cx="7621920" cy="1367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5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sldNum" idx="3"/>
          </p:nvPr>
        </p:nvSpPr>
        <p:spPr>
          <a:xfrm>
            <a:off x="11402640" y="6416640"/>
            <a:ext cx="24480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2C14C74-C908-49DD-BF54-87EF18196723}" type="slidenum"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4_Titelfoli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7320" cy="45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5551200" cy="1007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85000" lnSpcReduction="9999"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543960" y="4689360"/>
            <a:ext cx="5551200" cy="1367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5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6343560" y="849960"/>
            <a:ext cx="5395320" cy="52070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sldNum" idx="4"/>
          </p:nvPr>
        </p:nvSpPr>
        <p:spPr>
          <a:xfrm>
            <a:off x="11402640" y="6416640"/>
            <a:ext cx="24480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0027082-D785-4F04-8309-1194958FD015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5_Titelfoli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7320" cy="45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12191400" cy="68572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480" cy="575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lnSpcReduction="9999"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543960" y="1484280"/>
            <a:ext cx="11103480" cy="9676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2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6" name="Google Shape;57;p25"/>
          <p:cNvGrpSpPr/>
          <p:nvPr/>
        </p:nvGrpSpPr>
        <p:grpSpPr>
          <a:xfrm>
            <a:off x="10884240" y="488880"/>
            <a:ext cx="890640" cy="214200"/>
            <a:chOff x="10884240" y="488880"/>
            <a:chExt cx="890640" cy="214200"/>
          </a:xfrm>
        </p:grpSpPr>
        <p:sp>
          <p:nvSpPr>
            <p:cNvPr id="27" name="Google Shape;58;p25"/>
            <p:cNvSpPr/>
            <p:nvPr/>
          </p:nvSpPr>
          <p:spPr>
            <a:xfrm>
              <a:off x="10884240" y="490680"/>
              <a:ext cx="676080" cy="212400"/>
            </a:xfrm>
            <a:custGeom>
              <a:avLst/>
              <a:gdLst>
                <a:gd name="textAreaLeft" fmla="*/ 0 w 676080"/>
                <a:gd name="textAreaRight" fmla="*/ 676800 w 676080"/>
                <a:gd name="textAreaTop" fmla="*/ 0 h 212400"/>
                <a:gd name="textAreaBottom" fmla="*/ 213120 h 2124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0" y="0"/>
                  </a:moveTo>
                  <a:lnTo>
                    <a:pt x="1171" y="0"/>
                  </a:lnTo>
                  <a:lnTo>
                    <a:pt x="1171" y="7880"/>
                  </a:lnTo>
                  <a:lnTo>
                    <a:pt x="1201" y="7880"/>
                  </a:lnTo>
                  <a:cubicBezTo>
                    <a:pt x="1528" y="6418"/>
                    <a:pt x="2045" y="5707"/>
                    <a:pt x="2555" y="5707"/>
                  </a:cubicBezTo>
                  <a:cubicBezTo>
                    <a:pt x="3661" y="5707"/>
                    <a:pt x="4276" y="7850"/>
                    <a:pt x="4276" y="11496"/>
                  </a:cubicBezTo>
                  <a:lnTo>
                    <a:pt x="4276" y="21285"/>
                  </a:lnTo>
                  <a:lnTo>
                    <a:pt x="3105" y="21285"/>
                  </a:lnTo>
                  <a:lnTo>
                    <a:pt x="3105" y="12430"/>
                  </a:lnTo>
                  <a:cubicBezTo>
                    <a:pt x="3105" y="10135"/>
                    <a:pt x="2788" y="8906"/>
                    <a:pt x="2192" y="8906"/>
                  </a:cubicBezTo>
                  <a:cubicBezTo>
                    <a:pt x="1548" y="8906"/>
                    <a:pt x="1175" y="10125"/>
                    <a:pt x="1175" y="12724"/>
                  </a:cubicBezTo>
                  <a:lnTo>
                    <a:pt x="1175" y="21285"/>
                  </a:lnTo>
                  <a:lnTo>
                    <a:pt x="3" y="21285"/>
                  </a:lnTo>
                  <a:lnTo>
                    <a:pt x="3" y="0"/>
                  </a:lnTo>
                  <a:close/>
                  <a:moveTo>
                    <a:pt x="5160" y="18645"/>
                  </a:moveTo>
                  <a:cubicBezTo>
                    <a:pt x="5650" y="20879"/>
                    <a:pt x="6475" y="21600"/>
                    <a:pt x="7361" y="21600"/>
                  </a:cubicBezTo>
                  <a:cubicBezTo>
                    <a:pt x="8369" y="21600"/>
                    <a:pt x="9534" y="19924"/>
                    <a:pt x="9534" y="16411"/>
                  </a:cubicBezTo>
                  <a:cubicBezTo>
                    <a:pt x="9534" y="14116"/>
                    <a:pt x="9053" y="12653"/>
                    <a:pt x="8219" y="12146"/>
                  </a:cubicBezTo>
                  <a:lnTo>
                    <a:pt x="7479" y="11699"/>
                  </a:lnTo>
                  <a:cubicBezTo>
                    <a:pt x="6969" y="11404"/>
                    <a:pt x="6547" y="11252"/>
                    <a:pt x="6547" y="10175"/>
                  </a:cubicBezTo>
                  <a:cubicBezTo>
                    <a:pt x="6547" y="9008"/>
                    <a:pt x="6884" y="8480"/>
                    <a:pt x="7345" y="8480"/>
                  </a:cubicBezTo>
                  <a:cubicBezTo>
                    <a:pt x="7806" y="8480"/>
                    <a:pt x="8153" y="8926"/>
                    <a:pt x="8441" y="9972"/>
                  </a:cubicBezTo>
                  <a:lnTo>
                    <a:pt x="9288" y="8185"/>
                  </a:lnTo>
                  <a:cubicBezTo>
                    <a:pt x="8876" y="6367"/>
                    <a:pt x="8242" y="5677"/>
                    <a:pt x="7358" y="5677"/>
                  </a:cubicBezTo>
                  <a:cubicBezTo>
                    <a:pt x="6311" y="5677"/>
                    <a:pt x="5408" y="7494"/>
                    <a:pt x="5408" y="10693"/>
                  </a:cubicBezTo>
                  <a:cubicBezTo>
                    <a:pt x="5408" y="12988"/>
                    <a:pt x="5948" y="14217"/>
                    <a:pt x="6753" y="14664"/>
                  </a:cubicBezTo>
                  <a:lnTo>
                    <a:pt x="7397" y="15020"/>
                  </a:lnTo>
                  <a:cubicBezTo>
                    <a:pt x="8062" y="15375"/>
                    <a:pt x="8320" y="15649"/>
                    <a:pt x="8320" y="16837"/>
                  </a:cubicBezTo>
                  <a:cubicBezTo>
                    <a:pt x="8320" y="18208"/>
                    <a:pt x="7829" y="18716"/>
                    <a:pt x="7348" y="18716"/>
                  </a:cubicBezTo>
                  <a:cubicBezTo>
                    <a:pt x="6792" y="18716"/>
                    <a:pt x="6301" y="17975"/>
                    <a:pt x="5994" y="16715"/>
                  </a:cubicBezTo>
                  <a:lnTo>
                    <a:pt x="5166" y="18655"/>
                  </a:lnTo>
                  <a:moveTo>
                    <a:pt x="10447" y="21275"/>
                  </a:moveTo>
                  <a:lnTo>
                    <a:pt x="11618" y="21275"/>
                  </a:lnTo>
                  <a:lnTo>
                    <a:pt x="11618" y="13456"/>
                  </a:lnTo>
                  <a:cubicBezTo>
                    <a:pt x="11618" y="10622"/>
                    <a:pt x="12282" y="9038"/>
                    <a:pt x="13165" y="9038"/>
                  </a:cubicBezTo>
                  <a:cubicBezTo>
                    <a:pt x="13329" y="9038"/>
                    <a:pt x="13453" y="9038"/>
                    <a:pt x="13607" y="9130"/>
                  </a:cubicBezTo>
                  <a:lnTo>
                    <a:pt x="13607" y="5788"/>
                  </a:lnTo>
                  <a:cubicBezTo>
                    <a:pt x="13483" y="5697"/>
                    <a:pt x="13339" y="5697"/>
                    <a:pt x="13215" y="5697"/>
                  </a:cubicBezTo>
                  <a:cubicBezTo>
                    <a:pt x="12629" y="5697"/>
                    <a:pt x="11899" y="6916"/>
                    <a:pt x="11608" y="8530"/>
                  </a:cubicBezTo>
                  <a:lnTo>
                    <a:pt x="11589" y="8530"/>
                  </a:lnTo>
                  <a:lnTo>
                    <a:pt x="11589" y="5992"/>
                  </a:lnTo>
                  <a:lnTo>
                    <a:pt x="10443" y="5992"/>
                  </a:lnTo>
                  <a:lnTo>
                    <a:pt x="10443" y="21265"/>
                  </a:lnTo>
                  <a:close/>
                  <a:moveTo>
                    <a:pt x="14405" y="21275"/>
                  </a:moveTo>
                  <a:lnTo>
                    <a:pt x="15577" y="21275"/>
                  </a:lnTo>
                  <a:lnTo>
                    <a:pt x="15577" y="12298"/>
                  </a:lnTo>
                  <a:cubicBezTo>
                    <a:pt x="15577" y="9759"/>
                    <a:pt x="16117" y="8896"/>
                    <a:pt x="16529" y="8896"/>
                  </a:cubicBezTo>
                  <a:cubicBezTo>
                    <a:pt x="17239" y="8896"/>
                    <a:pt x="17422" y="10511"/>
                    <a:pt x="17422" y="12450"/>
                  </a:cubicBezTo>
                  <a:lnTo>
                    <a:pt x="17422" y="21285"/>
                  </a:lnTo>
                  <a:lnTo>
                    <a:pt x="18593" y="21285"/>
                  </a:lnTo>
                  <a:lnTo>
                    <a:pt x="18593" y="12481"/>
                  </a:lnTo>
                  <a:cubicBezTo>
                    <a:pt x="18593" y="10480"/>
                    <a:pt x="18871" y="8896"/>
                    <a:pt x="19536" y="8896"/>
                  </a:cubicBezTo>
                  <a:cubicBezTo>
                    <a:pt x="20200" y="8896"/>
                    <a:pt x="20429" y="10328"/>
                    <a:pt x="20429" y="12389"/>
                  </a:cubicBezTo>
                  <a:lnTo>
                    <a:pt x="20429" y="21275"/>
                  </a:lnTo>
                  <a:lnTo>
                    <a:pt x="21600" y="21275"/>
                  </a:lnTo>
                  <a:lnTo>
                    <a:pt x="21600" y="11069"/>
                  </a:lnTo>
                  <a:cubicBezTo>
                    <a:pt x="21600" y="7342"/>
                    <a:pt x="20792" y="5697"/>
                    <a:pt x="19879" y="5697"/>
                  </a:cubicBezTo>
                  <a:cubicBezTo>
                    <a:pt x="19205" y="5697"/>
                    <a:pt x="18708" y="6591"/>
                    <a:pt x="18361" y="7962"/>
                  </a:cubicBezTo>
                  <a:lnTo>
                    <a:pt x="18351" y="7962"/>
                  </a:lnTo>
                  <a:cubicBezTo>
                    <a:pt x="18044" y="6499"/>
                    <a:pt x="17602" y="5697"/>
                    <a:pt x="16948" y="5697"/>
                  </a:cubicBezTo>
                  <a:cubicBezTo>
                    <a:pt x="16372" y="5697"/>
                    <a:pt x="15891" y="6438"/>
                    <a:pt x="15554" y="7850"/>
                  </a:cubicBezTo>
                  <a:lnTo>
                    <a:pt x="15534" y="7850"/>
                  </a:lnTo>
                  <a:lnTo>
                    <a:pt x="15534" y="6002"/>
                  </a:lnTo>
                  <a:lnTo>
                    <a:pt x="14399" y="6002"/>
                  </a:lnTo>
                  <a:lnTo>
                    <a:pt x="14399" y="21275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5720" tIns="45000" rIns="45720" bIns="45000" anchor="ctr">
              <a:noAutofit/>
            </a:bodyPr>
            <a:p>
              <a:endPara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8" name="Google Shape;59;p25"/>
            <p:cNvSpPr/>
            <p:nvPr/>
          </p:nvSpPr>
          <p:spPr>
            <a:xfrm>
              <a:off x="11617920" y="488880"/>
              <a:ext cx="156960" cy="150120"/>
            </a:xfrm>
            <a:custGeom>
              <a:avLst/>
              <a:gdLst>
                <a:gd name="textAreaLeft" fmla="*/ 0 w 156960"/>
                <a:gd name="textAreaRight" fmla="*/ 157680 w 156960"/>
                <a:gd name="textAreaTop" fmla="*/ 0 h 150120"/>
                <a:gd name="textAreaBottom" fmla="*/ 150840 h 150120"/>
              </a:gdLst>
              <a:ahLst/>
              <a:cxnLst/>
              <a:rect l="textAreaLeft" t="textAreaTop" r="textAreaRight" b="textAreaBottom"/>
              <a:pathLst>
                <a:path w="21540" h="21587">
                  <a:moveTo>
                    <a:pt x="21456" y="11124"/>
                  </a:moveTo>
                  <a:lnTo>
                    <a:pt x="20699" y="12514"/>
                  </a:lnTo>
                  <a:cubicBezTo>
                    <a:pt x="20573" y="12729"/>
                    <a:pt x="20348" y="12858"/>
                    <a:pt x="20110" y="12858"/>
                  </a:cubicBezTo>
                  <a:lnTo>
                    <a:pt x="12793" y="12858"/>
                  </a:lnTo>
                  <a:lnTo>
                    <a:pt x="13775" y="14607"/>
                  </a:lnTo>
                  <a:cubicBezTo>
                    <a:pt x="13887" y="14822"/>
                    <a:pt x="13887" y="15080"/>
                    <a:pt x="13775" y="15280"/>
                  </a:cubicBezTo>
                  <a:lnTo>
                    <a:pt x="12990" y="16685"/>
                  </a:lnTo>
                  <a:cubicBezTo>
                    <a:pt x="12864" y="16886"/>
                    <a:pt x="12653" y="17015"/>
                    <a:pt x="12415" y="17015"/>
                  </a:cubicBezTo>
                  <a:lnTo>
                    <a:pt x="10859" y="17015"/>
                  </a:lnTo>
                  <a:cubicBezTo>
                    <a:pt x="10621" y="17043"/>
                    <a:pt x="10411" y="16900"/>
                    <a:pt x="10284" y="16699"/>
                  </a:cubicBezTo>
                  <a:lnTo>
                    <a:pt x="9275" y="14922"/>
                  </a:lnTo>
                  <a:lnTo>
                    <a:pt x="5701" y="21243"/>
                  </a:lnTo>
                  <a:cubicBezTo>
                    <a:pt x="5589" y="21458"/>
                    <a:pt x="5365" y="21587"/>
                    <a:pt x="5126" y="21587"/>
                  </a:cubicBezTo>
                  <a:lnTo>
                    <a:pt x="3570" y="21587"/>
                  </a:lnTo>
                  <a:cubicBezTo>
                    <a:pt x="3332" y="21573"/>
                    <a:pt x="3122" y="21444"/>
                    <a:pt x="3010" y="21243"/>
                  </a:cubicBezTo>
                  <a:lnTo>
                    <a:pt x="2211" y="19867"/>
                  </a:lnTo>
                  <a:cubicBezTo>
                    <a:pt x="2085" y="19652"/>
                    <a:pt x="2085" y="19394"/>
                    <a:pt x="2211" y="19179"/>
                  </a:cubicBezTo>
                  <a:lnTo>
                    <a:pt x="5785" y="12858"/>
                  </a:lnTo>
                  <a:lnTo>
                    <a:pt x="1426" y="12858"/>
                  </a:lnTo>
                  <a:cubicBezTo>
                    <a:pt x="1188" y="12858"/>
                    <a:pt x="977" y="12729"/>
                    <a:pt x="851" y="12514"/>
                  </a:cubicBezTo>
                  <a:lnTo>
                    <a:pt x="94" y="11124"/>
                  </a:lnTo>
                  <a:cubicBezTo>
                    <a:pt x="-32" y="10923"/>
                    <a:pt x="-32" y="10665"/>
                    <a:pt x="94" y="10464"/>
                  </a:cubicBezTo>
                  <a:lnTo>
                    <a:pt x="851" y="9074"/>
                  </a:lnTo>
                  <a:cubicBezTo>
                    <a:pt x="977" y="8859"/>
                    <a:pt x="1188" y="8730"/>
                    <a:pt x="1426" y="8730"/>
                  </a:cubicBezTo>
                  <a:lnTo>
                    <a:pt x="5799" y="8730"/>
                  </a:lnTo>
                  <a:lnTo>
                    <a:pt x="2225" y="2381"/>
                  </a:lnTo>
                  <a:cubicBezTo>
                    <a:pt x="2113" y="2180"/>
                    <a:pt x="2113" y="1908"/>
                    <a:pt x="2239" y="1707"/>
                  </a:cubicBezTo>
                  <a:lnTo>
                    <a:pt x="3024" y="331"/>
                  </a:lnTo>
                  <a:cubicBezTo>
                    <a:pt x="3150" y="130"/>
                    <a:pt x="3360" y="1"/>
                    <a:pt x="3584" y="1"/>
                  </a:cubicBezTo>
                  <a:lnTo>
                    <a:pt x="5154" y="1"/>
                  </a:lnTo>
                  <a:cubicBezTo>
                    <a:pt x="5393" y="-13"/>
                    <a:pt x="5617" y="116"/>
                    <a:pt x="5729" y="331"/>
                  </a:cubicBezTo>
                  <a:lnTo>
                    <a:pt x="9303" y="6666"/>
                  </a:lnTo>
                  <a:lnTo>
                    <a:pt x="10284" y="4918"/>
                  </a:lnTo>
                  <a:cubicBezTo>
                    <a:pt x="10397" y="4717"/>
                    <a:pt x="10621" y="4588"/>
                    <a:pt x="10845" y="4574"/>
                  </a:cubicBezTo>
                  <a:lnTo>
                    <a:pt x="12429" y="4574"/>
                  </a:lnTo>
                  <a:cubicBezTo>
                    <a:pt x="12667" y="4574"/>
                    <a:pt x="12878" y="4703"/>
                    <a:pt x="13004" y="4903"/>
                  </a:cubicBezTo>
                  <a:lnTo>
                    <a:pt x="13789" y="6279"/>
                  </a:lnTo>
                  <a:cubicBezTo>
                    <a:pt x="13915" y="6480"/>
                    <a:pt x="13915" y="6752"/>
                    <a:pt x="13789" y="6953"/>
                  </a:cubicBezTo>
                  <a:lnTo>
                    <a:pt x="12779" y="8730"/>
                  </a:lnTo>
                  <a:lnTo>
                    <a:pt x="20082" y="8730"/>
                  </a:lnTo>
                  <a:cubicBezTo>
                    <a:pt x="20320" y="8730"/>
                    <a:pt x="20545" y="8859"/>
                    <a:pt x="20657" y="9060"/>
                  </a:cubicBezTo>
                  <a:lnTo>
                    <a:pt x="21456" y="10450"/>
                  </a:lnTo>
                  <a:cubicBezTo>
                    <a:pt x="21568" y="10665"/>
                    <a:pt x="21568" y="10923"/>
                    <a:pt x="21456" y="11124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5720" tIns="45000" rIns="45720" bIns="45000" anchor="ctr">
              <a:noAutofit/>
            </a:bodyPr>
            <a:p>
              <a:endParaRPr lang="de-DE" sz="14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9" name="PlaceHolder 4"/>
          <p:cNvSpPr>
            <a:spLocks noGrp="1"/>
          </p:cNvSpPr>
          <p:nvPr>
            <p:ph type="sldNum" idx="5"/>
          </p:nvPr>
        </p:nvSpPr>
        <p:spPr>
          <a:xfrm>
            <a:off x="11402640" y="6416640"/>
            <a:ext cx="24480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9E766CB-67D9-4688-9111-656B21EFF14A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6_Titelfoli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7320" cy="45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480" cy="575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lnSpcReduction="9999"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" name="Google Shape;63;p26" descr="Grafik 6"/>
          <p:cNvPicPr/>
          <p:nvPr/>
        </p:nvPicPr>
        <p:blipFill>
          <a:blip r:embed="rId3"/>
          <a:stretch/>
        </p:blipFill>
        <p:spPr>
          <a:xfrm>
            <a:off x="10081440" y="399240"/>
            <a:ext cx="1792440" cy="703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6406200" y="1484280"/>
            <a:ext cx="2295720" cy="22957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fontScale="2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9351720" y="1484280"/>
            <a:ext cx="2295720" cy="22957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fontScale="2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543960" y="1484280"/>
            <a:ext cx="5241240" cy="45727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1752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1752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1752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1752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6386040" y="3937320"/>
            <a:ext cx="2315880" cy="10756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2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4308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4308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4308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body"/>
          </p:nvPr>
        </p:nvSpPr>
        <p:spPr>
          <a:xfrm>
            <a:off x="9372960" y="3937320"/>
            <a:ext cx="2315880" cy="10756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2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4308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4308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4308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8" name="Google Shape;69;p26" descr="Grafik 2"/>
          <p:cNvPicPr/>
          <p:nvPr/>
        </p:nvPicPr>
        <p:blipFill>
          <a:blip r:embed="rId4"/>
          <a:stretch/>
        </p:blipFill>
        <p:spPr>
          <a:xfrm>
            <a:off x="10726560" y="399240"/>
            <a:ext cx="1147320" cy="45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" name="PlaceHolder 7"/>
          <p:cNvSpPr>
            <a:spLocks noGrp="1"/>
          </p:cNvSpPr>
          <p:nvPr>
            <p:ph type="sldNum" idx="6"/>
          </p:nvPr>
        </p:nvSpPr>
        <p:spPr>
          <a:xfrm>
            <a:off x="11402640" y="6416640"/>
            <a:ext cx="24480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6766709-86D8-49B8-B6C8-F354ADF5BC57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Le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7320" cy="450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" name="Google Shape;72;p27" descr="Grafik 2"/>
          <p:cNvPicPr/>
          <p:nvPr/>
        </p:nvPicPr>
        <p:blipFill>
          <a:blip r:embed="rId3"/>
          <a:stretch/>
        </p:blipFill>
        <p:spPr>
          <a:xfrm>
            <a:off x="10726560" y="399240"/>
            <a:ext cx="1147320" cy="45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" name="PlaceHolder 1"/>
          <p:cNvSpPr>
            <a:spLocks noGrp="1"/>
          </p:cNvSpPr>
          <p:nvPr>
            <p:ph type="sldNum" idx="7"/>
          </p:nvPr>
        </p:nvSpPr>
        <p:spPr>
          <a:xfrm>
            <a:off x="5892840" y="6233760"/>
            <a:ext cx="284400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FF8CBE9-97EF-4A67-967D-C377612F6EB7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7320" cy="45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5551200" cy="1007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85000" lnSpcReduction="9999"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543960" y="4689360"/>
            <a:ext cx="5551200" cy="1367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5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" name="Google Shape;13;p16" descr="Grafik 7"/>
          <p:cNvPicPr/>
          <p:nvPr/>
        </p:nvPicPr>
        <p:blipFill>
          <a:blip r:embed="rId3"/>
          <a:srcRect l="0" t="33689" r="9034" b="0"/>
          <a:stretch/>
        </p:blipFill>
        <p:spPr>
          <a:xfrm>
            <a:off x="4588200" y="0"/>
            <a:ext cx="7603200" cy="6538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" name="PlaceHolder 3"/>
          <p:cNvSpPr>
            <a:spLocks noGrp="1"/>
          </p:cNvSpPr>
          <p:nvPr>
            <p:ph type="sldNum" idx="8"/>
          </p:nvPr>
        </p:nvSpPr>
        <p:spPr>
          <a:xfrm>
            <a:off x="5892840" y="6233760"/>
            <a:ext cx="284400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E7CB91E-E358-4B36-9F2E-5C628176ED5D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_AND_BOD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7320" cy="45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480" cy="575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543960" y="1484280"/>
            <a:ext cx="11103480" cy="45727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4308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4308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4308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sldNum" idx="9"/>
          </p:nvPr>
        </p:nvSpPr>
        <p:spPr>
          <a:xfrm>
            <a:off x="11402640" y="6416640"/>
            <a:ext cx="24480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C700ABB-5C51-4E26-A9F6-A34A1917E22C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3_Titelfolie">
    <p:bg>
      <p:bgPr>
        <a:solidFill>
          <a:schemeClr val="accent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7320" cy="45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7621920" cy="1007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85000" lnSpcReduction="9999"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543960" y="4689360"/>
            <a:ext cx="7621920" cy="1367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5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" name="Google Shape;22;p18" descr="Grafik 3"/>
          <p:cNvPicPr/>
          <p:nvPr/>
        </p:nvPicPr>
        <p:blipFill>
          <a:blip r:embed="rId3"/>
          <a:stretch/>
        </p:blipFill>
        <p:spPr>
          <a:xfrm>
            <a:off x="10726560" y="399240"/>
            <a:ext cx="1147320" cy="45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" name="PlaceHolder 3"/>
          <p:cNvSpPr>
            <a:spLocks noGrp="1"/>
          </p:cNvSpPr>
          <p:nvPr>
            <p:ph type="sldNum" idx="10"/>
          </p:nvPr>
        </p:nvSpPr>
        <p:spPr>
          <a:xfrm>
            <a:off x="11402640" y="6416640"/>
            <a:ext cx="24480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5693F6C-24FA-485D-8771-11D0B2818D84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Zwei Inhal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7320" cy="45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5241240" cy="575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70000" lnSpcReduction="19999"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body"/>
          </p:nvPr>
        </p:nvSpPr>
        <p:spPr>
          <a:xfrm>
            <a:off x="543960" y="1484280"/>
            <a:ext cx="5241240" cy="45727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sldNum" idx="11"/>
          </p:nvPr>
        </p:nvSpPr>
        <p:spPr>
          <a:xfrm>
            <a:off x="11402640" y="6416640"/>
            <a:ext cx="24480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889320E-7B7D-4D79-BFD9-AA407A61103E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 type="body"/>
          </p:nvPr>
        </p:nvSpPr>
        <p:spPr>
          <a:xfrm>
            <a:off x="6343560" y="849960"/>
            <a:ext cx="5395320" cy="52070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Zwei Inhal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7320" cy="45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480" cy="575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543960" y="1484280"/>
            <a:ext cx="5241240" cy="45727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4308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4308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4308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sldNum" idx="12"/>
          </p:nvPr>
        </p:nvSpPr>
        <p:spPr>
          <a:xfrm>
            <a:off x="11402640" y="6416640"/>
            <a:ext cx="24480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D3B6B86-061F-44DC-8FB9-8FCE87C6CB7D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image" Target="../media/image7.png"/><Relationship Id="rId4" Type="http://schemas.openxmlformats.org/officeDocument/2006/relationships/image" Target="../media/image10.png"/><Relationship Id="rId5" Type="http://schemas.openxmlformats.org/officeDocument/2006/relationships/slideLayout" Target="../slideLayouts/slideLayout9.xml"/><Relationship Id="rId6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svg"/><Relationship Id="rId3" Type="http://schemas.openxmlformats.org/officeDocument/2006/relationships/slideLayout" Target="../slideLayouts/slideLayout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svg"/><Relationship Id="rId3" Type="http://schemas.openxmlformats.org/officeDocument/2006/relationships/image" Target="../media/image12.png"/><Relationship Id="rId4" Type="http://schemas.openxmlformats.org/officeDocument/2006/relationships/slideLayout" Target="../slideLayouts/slideLayout9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svg"/><Relationship Id="rId3" Type="http://schemas.openxmlformats.org/officeDocument/2006/relationships/image" Target="../media/image17.png"/><Relationship Id="rId4" Type="http://schemas.openxmlformats.org/officeDocument/2006/relationships/image" Target="../media/image18.svg"/><Relationship Id="rId5" Type="http://schemas.openxmlformats.org/officeDocument/2006/relationships/image" Target="../media/image19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0.png"/><Relationship Id="rId9" Type="http://schemas.openxmlformats.org/officeDocument/2006/relationships/slideLayout" Target="../slideLayouts/slideLayout9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svg"/><Relationship Id="rId3" Type="http://schemas.openxmlformats.org/officeDocument/2006/relationships/image" Target="../media/image17.png"/><Relationship Id="rId4" Type="http://schemas.openxmlformats.org/officeDocument/2006/relationships/image" Target="../media/image18.svg"/><Relationship Id="rId5" Type="http://schemas.openxmlformats.org/officeDocument/2006/relationships/image" Target="../media/image19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0.png"/><Relationship Id="rId9" Type="http://schemas.openxmlformats.org/officeDocument/2006/relationships/slideLayout" Target="../slideLayouts/slideLayout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svg"/><Relationship Id="rId3" Type="http://schemas.openxmlformats.org/officeDocument/2006/relationships/image" Target="../media/image17.png"/><Relationship Id="rId4" Type="http://schemas.openxmlformats.org/officeDocument/2006/relationships/image" Target="../media/image18.svg"/><Relationship Id="rId5" Type="http://schemas.openxmlformats.org/officeDocument/2006/relationships/image" Target="../media/image19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0.png"/><Relationship Id="rId9" Type="http://schemas.openxmlformats.org/officeDocument/2006/relationships/slideLayout" Target="../slideLayouts/slideLayout9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svg"/><Relationship Id="rId3" Type="http://schemas.openxmlformats.org/officeDocument/2006/relationships/image" Target="../media/image12.png"/><Relationship Id="rId4" Type="http://schemas.openxmlformats.org/officeDocument/2006/relationships/slideLayout" Target="../slideLayouts/slideLayout9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svg"/><Relationship Id="rId3" Type="http://schemas.openxmlformats.org/officeDocument/2006/relationships/slideLayout" Target="../slideLayouts/slideLayout3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svg"/><Relationship Id="rId3" Type="http://schemas.openxmlformats.org/officeDocument/2006/relationships/image" Target="../media/image12.png"/><Relationship Id="rId4" Type="http://schemas.openxmlformats.org/officeDocument/2006/relationships/image" Target="../media/image23.png"/><Relationship Id="rId5" Type="http://schemas.openxmlformats.org/officeDocument/2006/relationships/image" Target="../media/image24.svg"/><Relationship Id="rId6" Type="http://schemas.openxmlformats.org/officeDocument/2006/relationships/slideLayout" Target="../slideLayouts/slideLayout9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4.svg"/><Relationship Id="rId3" Type="http://schemas.openxmlformats.org/officeDocument/2006/relationships/image" Target="../media/image17.png"/><Relationship Id="rId4" Type="http://schemas.openxmlformats.org/officeDocument/2006/relationships/image" Target="../media/image18.sv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slideLayout" Target="../slideLayouts/slideLayout9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svg"/><Relationship Id="rId3" Type="http://schemas.openxmlformats.org/officeDocument/2006/relationships/image" Target="../media/image17.png"/><Relationship Id="rId4" Type="http://schemas.openxmlformats.org/officeDocument/2006/relationships/image" Target="../media/image18.sv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slideLayout" Target="../slideLayouts/slideLayout9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svg"/><Relationship Id="rId3" Type="http://schemas.openxmlformats.org/officeDocument/2006/relationships/image" Target="../media/image17.png"/><Relationship Id="rId4" Type="http://schemas.openxmlformats.org/officeDocument/2006/relationships/image" Target="../media/image18.sv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slideLayout" Target="../slideLayouts/slideLayout9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svg"/><Relationship Id="rId3" Type="http://schemas.openxmlformats.org/officeDocument/2006/relationships/image" Target="../media/image17.png"/><Relationship Id="rId4" Type="http://schemas.openxmlformats.org/officeDocument/2006/relationships/image" Target="../media/image18.sv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0.png"/><Relationship Id="rId8" Type="http://schemas.openxmlformats.org/officeDocument/2006/relationships/image" Target="../media/image19.png"/><Relationship Id="rId9" Type="http://schemas.openxmlformats.org/officeDocument/2006/relationships/slideLayout" Target="../slideLayouts/slideLayout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9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9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9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9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slideLayout" Target="../slideLayouts/slideLayout9.xml"/><Relationship Id="rId5" Type="http://schemas.openxmlformats.org/officeDocument/2006/relationships/notesSlide" Target="../notesSlides/notesSlide4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42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slideLayout" Target="../slideLayouts/slideLayout9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svg"/><Relationship Id="rId3" Type="http://schemas.openxmlformats.org/officeDocument/2006/relationships/slideLayout" Target="../slideLayouts/slideLayout3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3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slideLayout" Target="../slideLayouts/slideLayout9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svg"/><Relationship Id="rId3" Type="http://schemas.openxmlformats.org/officeDocument/2006/relationships/slideLayout" Target="../slideLayouts/slideLayout3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svg"/><Relationship Id="rId3" Type="http://schemas.openxmlformats.org/officeDocument/2006/relationships/image" Target="../media/image17.png"/><Relationship Id="rId4" Type="http://schemas.openxmlformats.org/officeDocument/2006/relationships/image" Target="../media/image18.svg"/><Relationship Id="rId5" Type="http://schemas.openxmlformats.org/officeDocument/2006/relationships/image" Target="../media/image19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0.png"/><Relationship Id="rId9" Type="http://schemas.openxmlformats.org/officeDocument/2006/relationships/slideLayout" Target="../slideLayouts/slideLayout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svg"/><Relationship Id="rId3" Type="http://schemas.openxmlformats.org/officeDocument/2006/relationships/image" Target="../media/image17.png"/><Relationship Id="rId4" Type="http://schemas.openxmlformats.org/officeDocument/2006/relationships/image" Target="../media/image18.svg"/><Relationship Id="rId5" Type="http://schemas.openxmlformats.org/officeDocument/2006/relationships/image" Target="../media/image19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0.png"/><Relationship Id="rId9" Type="http://schemas.openxmlformats.org/officeDocument/2006/relationships/slideLayout" Target="../slideLayouts/slideLayout9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svg"/><Relationship Id="rId3" Type="http://schemas.openxmlformats.org/officeDocument/2006/relationships/image" Target="../media/image17.png"/><Relationship Id="rId4" Type="http://schemas.openxmlformats.org/officeDocument/2006/relationships/image" Target="../media/image18.svg"/><Relationship Id="rId5" Type="http://schemas.openxmlformats.org/officeDocument/2006/relationships/image" Target="../media/image19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0.png"/><Relationship Id="rId9" Type="http://schemas.openxmlformats.org/officeDocument/2006/relationships/slideLayout" Target="../slideLayouts/slideLayout9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svg"/><Relationship Id="rId3" Type="http://schemas.openxmlformats.org/officeDocument/2006/relationships/slideLayout" Target="../slideLayouts/slideLayout3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svg"/><Relationship Id="rId3" Type="http://schemas.openxmlformats.org/officeDocument/2006/relationships/image" Target="../media/image12.png"/><Relationship Id="rId4" Type="http://schemas.openxmlformats.org/officeDocument/2006/relationships/image" Target="../media/image23.png"/><Relationship Id="rId5" Type="http://schemas.openxmlformats.org/officeDocument/2006/relationships/image" Target="../media/image24.svg"/><Relationship Id="rId6" Type="http://schemas.openxmlformats.org/officeDocument/2006/relationships/slideLayout" Target="../slideLayouts/slideLayout9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4.svg"/><Relationship Id="rId3" Type="http://schemas.openxmlformats.org/officeDocument/2006/relationships/image" Target="../media/image17.png"/><Relationship Id="rId4" Type="http://schemas.openxmlformats.org/officeDocument/2006/relationships/image" Target="../media/image18.sv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slideLayout" Target="../slideLayouts/slideLayout9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svg"/><Relationship Id="rId3" Type="http://schemas.openxmlformats.org/officeDocument/2006/relationships/image" Target="../media/image17.png"/><Relationship Id="rId4" Type="http://schemas.openxmlformats.org/officeDocument/2006/relationships/image" Target="../media/image18.sv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slideLayout" Target="../slideLayouts/slideLayout9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svg"/><Relationship Id="rId3" Type="http://schemas.openxmlformats.org/officeDocument/2006/relationships/image" Target="../media/image17.png"/><Relationship Id="rId4" Type="http://schemas.openxmlformats.org/officeDocument/2006/relationships/image" Target="../media/image18.sv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slideLayout" Target="../slideLayouts/slideLayout9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svg"/><Relationship Id="rId3" Type="http://schemas.openxmlformats.org/officeDocument/2006/relationships/image" Target="../media/image17.png"/><Relationship Id="rId4" Type="http://schemas.openxmlformats.org/officeDocument/2006/relationships/image" Target="../media/image18.sv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0.png"/><Relationship Id="rId8" Type="http://schemas.openxmlformats.org/officeDocument/2006/relationships/image" Target="../media/image19.png"/><Relationship Id="rId9" Type="http://schemas.openxmlformats.org/officeDocument/2006/relationships/slideLayout" Target="../slideLayouts/slideLayout9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32.svg"/><Relationship Id="rId3" Type="http://schemas.openxmlformats.org/officeDocument/2006/relationships/slideLayout" Target="../slideLayouts/slideLayout3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32.svg"/><Relationship Id="rId3" Type="http://schemas.openxmlformats.org/officeDocument/2006/relationships/slideLayout" Target="../slideLayouts/slideLayout9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3.xml"/>
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5551200" cy="1007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4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Reliable Software – </a:t>
            </a:r>
            <a:br>
              <a:rPr sz="3340"/>
            </a:br>
            <a:r>
              <a:rPr lang="en-US" sz="334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Smart Home System</a:t>
            </a:r>
            <a:endParaRPr lang="de-DE" sz="3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 type="subTitle"/>
          </p:nvPr>
        </p:nvSpPr>
        <p:spPr>
          <a:xfrm>
            <a:off x="543960" y="4689360"/>
            <a:ext cx="5551200" cy="1367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marL="228600"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FF0000"/>
                </a:solidFill>
                <a:effectLst/>
                <a:uFillTx/>
                <a:latin typeface="Arial"/>
                <a:ea typeface="Arial"/>
              </a:rPr>
              <a:t>Verena Kipp, Anna-Livia Martin, David Rossel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Google Shape;80;p1"/>
          <p:cNvSpPr/>
          <p:nvPr/>
        </p:nvSpPr>
        <p:spPr>
          <a:xfrm>
            <a:off x="589680" y="6417000"/>
            <a:ext cx="7480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" name="Google Shape;81;p1" descr="Grafik 7"/>
          <p:cNvPicPr/>
          <p:nvPr/>
        </p:nvPicPr>
        <p:blipFill>
          <a:blip r:embed="rId1"/>
          <a:stretch/>
        </p:blipFill>
        <p:spPr>
          <a:xfrm>
            <a:off x="10726560" y="399240"/>
            <a:ext cx="1147320" cy="450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86;p2"/>
          <p:cNvSpPr/>
          <p:nvPr/>
        </p:nvSpPr>
        <p:spPr>
          <a:xfrm>
            <a:off x="1569600" y="6417000"/>
            <a:ext cx="435672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480" cy="575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Inhalt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11103480" cy="45727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Motivation &amp; Problemstellung: Zugangskontrollsystem, Beispiel Bernd &amp; Sandmännchen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Grober Gebäude-/Raumplan zur Veranschaulichung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Ankündigung des Vorgehens: drei Verfeinerungsstufen nach Event-B, jeweils formal geprüft mit Alloy (Modellprüfung) und bewiesen mit Lean (Beweis)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Kurzer Überblick über das abstrakte Datenmodell (Person/Bewohner:in/Gast, Ort/Raum/Zimmer/Garten/Tür) — Klassendiagramm aus IDEE.md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Google Shape;89;p2"/>
          <p:cNvSpPr/>
          <p:nvPr/>
        </p:nvSpPr>
        <p:spPr>
          <a:xfrm>
            <a:off x="589680" y="6417000"/>
            <a:ext cx="7480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 type="sldNum" idx="16"/>
          </p:nvPr>
        </p:nvSpPr>
        <p:spPr>
          <a:xfrm>
            <a:off x="11473200" y="6416280"/>
            <a:ext cx="173880" cy="2448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10C4B9D-4FD6-411A-BE56-37783BD90776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95;p 2"/>
          <p:cNvSpPr/>
          <p:nvPr/>
        </p:nvSpPr>
        <p:spPr>
          <a:xfrm>
            <a:off x="1569600" y="6417000"/>
            <a:ext cx="435672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8995680" cy="1007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Einleitung in das Thema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1920" cy="1367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Übersicht Gebäudestruktur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Google Shape;98;p 3"/>
          <p:cNvSpPr/>
          <p:nvPr/>
        </p:nvSpPr>
        <p:spPr>
          <a:xfrm>
            <a:off x="589680" y="6417000"/>
            <a:ext cx="7480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3"/>
          <p:cNvSpPr>
            <a:spLocks noGrp="1"/>
          </p:cNvSpPr>
          <p:nvPr>
            <p:ph type="sldNum" idx="17"/>
          </p:nvPr>
        </p:nvSpPr>
        <p:spPr>
          <a:xfrm>
            <a:off x="11473200" y="6416280"/>
            <a:ext cx="173880" cy="2448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1F1B6FE-B8F0-4D56-B7ED-525CBD3B700F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3</a:t>
            </a:fld>
            <a:endParaRPr lang="de-D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/>
          <p:nvPr/>
        </p:nvSpPr>
        <p:spPr>
          <a:xfrm>
            <a:off x="1569600" y="6417000"/>
            <a:ext cx="435672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480" cy="575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Grobes Thema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Google Shape;89;p2"/>
          <p:cNvSpPr/>
          <p:nvPr/>
        </p:nvSpPr>
        <p:spPr>
          <a:xfrm>
            <a:off x="589680" y="6417000"/>
            <a:ext cx="7480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sldNum" idx="18"/>
          </p:nvPr>
        </p:nvSpPr>
        <p:spPr>
          <a:xfrm>
            <a:off x="11473200" y="6416280"/>
            <a:ext cx="173880" cy="2448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4E65862-B513-4074-A8F4-1ADE4B8390DD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90" name="Grafik 4"/>
          <p:cNvPicPr/>
          <p:nvPr/>
        </p:nvPicPr>
        <p:blipFill>
          <a:blip r:embed="rId1"/>
          <a:stretch/>
        </p:blipFill>
        <p:spPr>
          <a:xfrm>
            <a:off x="4101120" y="1268280"/>
            <a:ext cx="3989160" cy="4753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86;p2"/>
          <p:cNvSpPr/>
          <p:nvPr/>
        </p:nvSpPr>
        <p:spPr>
          <a:xfrm>
            <a:off x="1569600" y="6417000"/>
            <a:ext cx="435672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480" cy="575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Ziel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11103480" cy="45727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E00514"/>
              </a:buClr>
              <a:buSzPct val="45000"/>
              <a:buFont typeface="Arial"/>
              <a:buChar char="•"/>
            </a:pPr>
            <a:r>
              <a:rPr lang="de-DE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Bewegungsmodellierung in Räumen von Unterschiedlichen Personen mit unterschiedlichen Berechtigungen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Google Shape;89;p2"/>
          <p:cNvSpPr/>
          <p:nvPr/>
        </p:nvSpPr>
        <p:spPr>
          <a:xfrm>
            <a:off x="589680" y="6417000"/>
            <a:ext cx="7480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3"/>
          <p:cNvSpPr>
            <a:spLocks noGrp="1"/>
          </p:cNvSpPr>
          <p:nvPr>
            <p:ph type="sldNum" idx="19"/>
          </p:nvPr>
        </p:nvSpPr>
        <p:spPr>
          <a:xfrm>
            <a:off x="11473200" y="6416280"/>
            <a:ext cx="173880" cy="2448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4A0F4E8-FD47-4089-91DC-1D6E287976B5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5;p 2"/>
          <p:cNvSpPr/>
          <p:nvPr/>
        </p:nvSpPr>
        <p:spPr>
          <a:xfrm>
            <a:off x="1569600" y="6417000"/>
            <a:ext cx="435672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8995680" cy="1007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Spezifikation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1920" cy="1367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Anforderungen für die Umsetzung in Alloy und Lean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Google Shape;98;p 3"/>
          <p:cNvSpPr/>
          <p:nvPr/>
        </p:nvSpPr>
        <p:spPr>
          <a:xfrm>
            <a:off x="589680" y="6417000"/>
            <a:ext cx="7480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PlaceHolder 3"/>
          <p:cNvSpPr>
            <a:spLocks noGrp="1"/>
          </p:cNvSpPr>
          <p:nvPr>
            <p:ph type="sldNum" idx="20"/>
          </p:nvPr>
        </p:nvSpPr>
        <p:spPr>
          <a:xfrm>
            <a:off x="11473200" y="6416280"/>
            <a:ext cx="173880" cy="2448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1ED0294-8688-487D-A7B1-4B7CA4DE12E0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6</a:t>
            </a:fld>
            <a:endParaRPr lang="de-D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86;p2"/>
          <p:cNvSpPr/>
          <p:nvPr/>
        </p:nvSpPr>
        <p:spPr>
          <a:xfrm>
            <a:off x="1569600" y="6417000"/>
            <a:ext cx="435672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480" cy="575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Spezifikationsschritte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11103480" cy="45727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E00514"/>
              </a:buClr>
              <a:buSzPct val="45000"/>
              <a:buFont typeface="Arial"/>
              <a:buChar char="•"/>
            </a:pPr>
            <a:r>
              <a:rPr lang="de-DE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Hier die Spezifikationsschritte für die Zielerreichung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Google Shape;89;p2"/>
          <p:cNvSpPr/>
          <p:nvPr/>
        </p:nvSpPr>
        <p:spPr>
          <a:xfrm>
            <a:off x="589680" y="6417000"/>
            <a:ext cx="7480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PlaceHolder 3"/>
          <p:cNvSpPr>
            <a:spLocks noGrp="1"/>
          </p:cNvSpPr>
          <p:nvPr>
            <p:ph type="sldNum" idx="21"/>
          </p:nvPr>
        </p:nvSpPr>
        <p:spPr>
          <a:xfrm>
            <a:off x="11473200" y="6416280"/>
            <a:ext cx="173880" cy="2448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EC69791-C6A5-4CC2-9F19-938FAA6C3949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7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95;p 2"/>
          <p:cNvSpPr/>
          <p:nvPr/>
        </p:nvSpPr>
        <p:spPr>
          <a:xfrm>
            <a:off x="1569600" y="6417000"/>
            <a:ext cx="435672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8995680" cy="1007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Umsetzung in Alloy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1920" cy="1367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Event B: Aufbau und schrittweise Verfeinerung des Modells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Google Shape;98;p 3"/>
          <p:cNvSpPr/>
          <p:nvPr/>
        </p:nvSpPr>
        <p:spPr>
          <a:xfrm>
            <a:off x="589680" y="6417000"/>
            <a:ext cx="7480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 type="sldNum" idx="22"/>
          </p:nvPr>
        </p:nvSpPr>
        <p:spPr>
          <a:xfrm>
            <a:off x="11473200" y="6416280"/>
            <a:ext cx="173880" cy="2448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B8FAC9A-8F9F-4648-8576-2CB3DA2B6DB7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8</a:t>
            </a:fld>
            <a:endParaRPr lang="de-D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86;p 1"/>
          <p:cNvSpPr/>
          <p:nvPr/>
        </p:nvSpPr>
        <p:spPr>
          <a:xfrm>
            <a:off x="1569600" y="6417000"/>
            <a:ext cx="435672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480" cy="575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Übersicht der Objekte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Google Shape;89;p 2"/>
          <p:cNvSpPr/>
          <p:nvPr/>
        </p:nvSpPr>
        <p:spPr>
          <a:xfrm>
            <a:off x="589680" y="6417000"/>
            <a:ext cx="7480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PlaceHolder 2"/>
          <p:cNvSpPr>
            <a:spLocks noGrp="1"/>
          </p:cNvSpPr>
          <p:nvPr>
            <p:ph type="sldNum" idx="23"/>
          </p:nvPr>
        </p:nvSpPr>
        <p:spPr>
          <a:xfrm>
            <a:off x="11473200" y="6416280"/>
            <a:ext cx="173880" cy="2448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FA844F1-4C0D-415C-8BBB-61CAB83E9452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9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15" name="Grafik 2"/>
          <p:cNvPicPr/>
          <p:nvPr/>
        </p:nvPicPr>
        <p:blipFill>
          <a:blip r:embed="rId1"/>
          <a:stretch/>
        </p:blipFill>
        <p:spPr>
          <a:xfrm>
            <a:off x="2303640" y="1268280"/>
            <a:ext cx="7584120" cy="4571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86;p 1"/>
          <p:cNvSpPr/>
          <p:nvPr/>
        </p:nvSpPr>
        <p:spPr>
          <a:xfrm>
            <a:off x="1569600" y="6417000"/>
            <a:ext cx="435672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480" cy="575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Übersicht der Objekte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Google Shape;89;p 2"/>
          <p:cNvSpPr/>
          <p:nvPr/>
        </p:nvSpPr>
        <p:spPr>
          <a:xfrm>
            <a:off x="589680" y="6417000"/>
            <a:ext cx="7480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PlaceHolder 2"/>
          <p:cNvSpPr>
            <a:spLocks noGrp="1"/>
          </p:cNvSpPr>
          <p:nvPr>
            <p:ph type="sldNum" idx="24"/>
          </p:nvPr>
        </p:nvSpPr>
        <p:spPr>
          <a:xfrm>
            <a:off x="11473200" y="6416280"/>
            <a:ext cx="173880" cy="2448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55749B7-CE6C-466E-985A-BAE74A857772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10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20" name="Grafik 10"/>
          <p:cNvPicPr/>
          <p:nvPr/>
        </p:nvPicPr>
        <p:blipFill>
          <a:blip r:embed="rId1"/>
          <a:stretch/>
        </p:blipFill>
        <p:spPr>
          <a:xfrm>
            <a:off x="6013800" y="2561760"/>
            <a:ext cx="4982040" cy="1952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1" name="Textfeld 11"/>
          <p:cNvSpPr/>
          <p:nvPr/>
        </p:nvSpPr>
        <p:spPr>
          <a:xfrm>
            <a:off x="589680" y="1268280"/>
            <a:ext cx="4250880" cy="432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abstract sig PERSON{}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sig BEWOHNER extends PERSON {}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sig GAST extends PERSON {}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abstract sig ORT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var personenImOrtGrob: set PERSON,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var personenImOrtFein: set PERSON,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nachbarn: some ORT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sig RAUM extends ORT {}{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nachbarn in TUER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sig GARTEN extends RAUM{}{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one nachbarn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sig TUER extends ORT{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var offen: one Bool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nachbarn in RAUM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86;p 1"/>
          <p:cNvSpPr/>
          <p:nvPr/>
        </p:nvSpPr>
        <p:spPr>
          <a:xfrm>
            <a:off x="1569600" y="6417000"/>
            <a:ext cx="435672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480" cy="575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Übersicht der Axiome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Google Shape;89;p 2"/>
          <p:cNvSpPr/>
          <p:nvPr/>
        </p:nvSpPr>
        <p:spPr>
          <a:xfrm>
            <a:off x="589680" y="6417000"/>
            <a:ext cx="7480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PlaceHolder 2"/>
          <p:cNvSpPr>
            <a:spLocks noGrp="1"/>
          </p:cNvSpPr>
          <p:nvPr>
            <p:ph type="sldNum" idx="25"/>
          </p:nvPr>
        </p:nvSpPr>
        <p:spPr>
          <a:xfrm>
            <a:off x="11473200" y="6416280"/>
            <a:ext cx="173880" cy="2448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852B271-2723-4BE8-9F48-98636EA14091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11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26" name="Grafik 10"/>
          <p:cNvPicPr/>
          <p:nvPr/>
        </p:nvPicPr>
        <p:blipFill>
          <a:blip r:embed="rId1"/>
          <a:stretch/>
        </p:blipFill>
        <p:spPr>
          <a:xfrm>
            <a:off x="6490800" y="1574280"/>
            <a:ext cx="4982040" cy="1952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7" name="Textfeld 11"/>
          <p:cNvSpPr/>
          <p:nvPr/>
        </p:nvSpPr>
        <p:spPr>
          <a:xfrm>
            <a:off x="543960" y="1873080"/>
            <a:ext cx="6822360" cy="330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fact genauEinenGarten { #GARTEN = 1}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fact alleRaumeInEinemGebaeude {all r: RAUM | r in GARTEN.^nachbarn}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fact einePersonInGenauEinemOrt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always (all p: PERSON | #(p.~personenImOrtGrob) = 1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and #(p.~personenImOrtFein) = 1)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fact tuerImmerOffenWennPersonEnthalten{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always all t: TUER |  #(t.personenImOrtFein) &gt;= 1 implies t.offen = True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fact alleNachbarnSindSymmetrisch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r: RAUM, t: TUER | r in t.nachbarn &lt;=&gt; t in r.nachbarn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t:TUER, r: RAUM | t in r.nachbarn &lt;=&gt; r in t.nachbarn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fact tuerVerbindetZweiRaeume {all t: TUER | #t.nachbarn = 2}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86;p 1"/>
          <p:cNvSpPr/>
          <p:nvPr/>
        </p:nvSpPr>
        <p:spPr>
          <a:xfrm>
            <a:off x="1569600" y="6417000"/>
            <a:ext cx="435672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480" cy="575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Übersicht der Objekte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Google Shape;89;p 2"/>
          <p:cNvSpPr/>
          <p:nvPr/>
        </p:nvSpPr>
        <p:spPr>
          <a:xfrm>
            <a:off x="589680" y="6417000"/>
            <a:ext cx="7480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 type="sldNum" idx="26"/>
          </p:nvPr>
        </p:nvSpPr>
        <p:spPr>
          <a:xfrm>
            <a:off x="11473200" y="6416280"/>
            <a:ext cx="173880" cy="2448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31BAB04-97BA-477E-8A66-542F8E746279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12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32" name="Grafik 2"/>
          <p:cNvPicPr/>
          <p:nvPr/>
        </p:nvPicPr>
        <p:blipFill>
          <a:blip r:embed="rId1"/>
          <a:stretch/>
        </p:blipFill>
        <p:spPr>
          <a:xfrm>
            <a:off x="2483640" y="2086560"/>
            <a:ext cx="5134320" cy="2009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3" name="Grafik 4"/>
          <p:cNvPicPr/>
          <p:nvPr/>
        </p:nvPicPr>
        <p:blipFill>
          <a:blip r:embed="rId2"/>
          <a:stretch/>
        </p:blipFill>
        <p:spPr>
          <a:xfrm>
            <a:off x="637560" y="4434120"/>
            <a:ext cx="5458320" cy="1876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4" name="Grafik 6"/>
          <p:cNvPicPr/>
          <p:nvPr/>
        </p:nvPicPr>
        <p:blipFill>
          <a:blip r:embed="rId3"/>
          <a:stretch/>
        </p:blipFill>
        <p:spPr>
          <a:xfrm>
            <a:off x="6004080" y="2423880"/>
            <a:ext cx="4982040" cy="1952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5" name="Grafik 3"/>
          <p:cNvPicPr/>
          <p:nvPr/>
        </p:nvPicPr>
        <p:blipFill>
          <a:blip r:embed="rId4"/>
          <a:stretch/>
        </p:blipFill>
        <p:spPr>
          <a:xfrm>
            <a:off x="416160" y="1748880"/>
            <a:ext cx="5067720" cy="1981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/>
          </p:nvPr>
        </p:nvSpPr>
        <p:spPr>
          <a:xfrm>
            <a:off x="696240" y="4841280"/>
            <a:ext cx="7621920" cy="880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Grundlagen für die weiteren Schritte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itel 1"/>
          <p:cNvSpPr/>
          <p:nvPr/>
        </p:nvSpPr>
        <p:spPr>
          <a:xfrm>
            <a:off x="696240" y="3833640"/>
            <a:ext cx="7621920" cy="100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b">
            <a:normAutofit/>
          </a:bodyPr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Grobes Modell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8" name=""/>
          <p:cNvPicPr/>
          <p:nvPr/>
        </p:nvPicPr>
        <p:blipFill>
          <a:blip r:embed="rId1"/>
          <a:stretch/>
        </p:blipFill>
        <p:spPr>
          <a:xfrm>
            <a:off x="5760000" y="3916800"/>
            <a:ext cx="5867280" cy="1355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86;p 1"/>
          <p:cNvSpPr/>
          <p:nvPr/>
        </p:nvSpPr>
        <p:spPr>
          <a:xfrm>
            <a:off x="1569600" y="6417000"/>
            <a:ext cx="435672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480" cy="575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Grobes Modell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Google Shape;89;p 2"/>
          <p:cNvSpPr/>
          <p:nvPr/>
        </p:nvSpPr>
        <p:spPr>
          <a:xfrm>
            <a:off x="589680" y="6417000"/>
            <a:ext cx="7480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 type="sldNum" idx="27"/>
          </p:nvPr>
        </p:nvSpPr>
        <p:spPr>
          <a:xfrm>
            <a:off x="11473200" y="6416280"/>
            <a:ext cx="173880" cy="2448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7A7744D-9CFD-4607-8C71-365A5C56D1EF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14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43" name="Grafik 2"/>
          <p:cNvPicPr/>
          <p:nvPr/>
        </p:nvPicPr>
        <p:blipFill>
          <a:blip r:embed="rId1"/>
          <a:stretch/>
        </p:blipFill>
        <p:spPr>
          <a:xfrm>
            <a:off x="3260520" y="4072320"/>
            <a:ext cx="5331960" cy="1231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4" name="Textfeld 4"/>
          <p:cNvSpPr/>
          <p:nvPr/>
        </p:nvSpPr>
        <p:spPr>
          <a:xfrm>
            <a:off x="2715840" y="1553400"/>
            <a:ext cx="6760080" cy="229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schrittGrob[p: PERSON, von, nach: RAUM]{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//pre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 in von.personenImOrtGrob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some t: TUER | t in von.nachbarn and t in nach.nachbarn and t.offen in True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//post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von.personenImOrtGrob' = von.personenImOrtGrob - p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nach.personenImOrtGrob' = nach.personenImOrtGrob + p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//frame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- (von + nach) | o.personenImOrtGrob'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feld 1"/>
          <p:cNvSpPr/>
          <p:nvPr/>
        </p:nvSpPr>
        <p:spPr>
          <a:xfrm>
            <a:off x="3260520" y="5493600"/>
            <a:ext cx="187884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feld 5"/>
          <p:cNvSpPr/>
          <p:nvPr/>
        </p:nvSpPr>
        <p:spPr>
          <a:xfrm>
            <a:off x="6713640" y="5491440"/>
            <a:ext cx="187884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nach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Pfeil: nach rechts 6"/>
          <p:cNvSpPr/>
          <p:nvPr/>
        </p:nvSpPr>
        <p:spPr>
          <a:xfrm rot="9762600">
            <a:off x="8504280" y="1788120"/>
            <a:ext cx="936000" cy="3830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feld 8"/>
          <p:cNvSpPr/>
          <p:nvPr/>
        </p:nvSpPr>
        <p:spPr>
          <a:xfrm>
            <a:off x="9334800" y="1457280"/>
            <a:ext cx="187884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Später von Verfeinerungen definiert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86;p 1"/>
          <p:cNvSpPr/>
          <p:nvPr/>
        </p:nvSpPr>
        <p:spPr>
          <a:xfrm>
            <a:off x="1569600" y="6417000"/>
            <a:ext cx="435672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480" cy="575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Inhalt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11103480" cy="45727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Anforderung: Orte, Räume/Türen, Nachbarschaft symmetrisch, Person genau in einem Raum, Ereignis bewege (Tür offen, Nachbarschaft nötig)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Alloy: sigs für Ort/Raum/Tür/Person, facts für die Grundregeln, pred bewege, erste check/run-Beispiele (z. B. „keine Bewegung ohne offene Tür")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Lean: Zustandsdefinition, Funktion bewege, Beweis: Person bleibt nach Bewegung genau einem Raum zugeordnet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Google Shape;89;p 2"/>
          <p:cNvSpPr/>
          <p:nvPr/>
        </p:nvSpPr>
        <p:spPr>
          <a:xfrm>
            <a:off x="589680" y="6417000"/>
            <a:ext cx="7480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PlaceHolder 3"/>
          <p:cNvSpPr>
            <a:spLocks noGrp="1"/>
          </p:cNvSpPr>
          <p:nvPr>
            <p:ph type="sldNum" idx="28"/>
          </p:nvPr>
        </p:nvSpPr>
        <p:spPr>
          <a:xfrm>
            <a:off x="11473200" y="6416280"/>
            <a:ext cx="173880" cy="2448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F73FE78-4784-4FD3-8CC1-ED7E96B1AB7A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15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7621920" cy="1007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Verfeinertes Modell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/>
          </p:nvPr>
        </p:nvSpPr>
        <p:spPr>
          <a:xfrm>
            <a:off x="543960" y="4689000"/>
            <a:ext cx="7621920" cy="12024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Umsetzung der Türen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6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043320" y="3696480"/>
            <a:ext cx="5476680" cy="1523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86;p 1"/>
          <p:cNvSpPr/>
          <p:nvPr/>
        </p:nvSpPr>
        <p:spPr>
          <a:xfrm>
            <a:off x="1569600" y="6417000"/>
            <a:ext cx="435672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480" cy="575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Google Shape;89;p 2"/>
          <p:cNvSpPr/>
          <p:nvPr/>
        </p:nvSpPr>
        <p:spPr>
          <a:xfrm>
            <a:off x="589680" y="6417000"/>
            <a:ext cx="7480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PlaceHolder 2"/>
          <p:cNvSpPr>
            <a:spLocks noGrp="1"/>
          </p:cNvSpPr>
          <p:nvPr>
            <p:ph type="sldNum" idx="29"/>
          </p:nvPr>
        </p:nvSpPr>
        <p:spPr>
          <a:xfrm>
            <a:off x="11473200" y="6416280"/>
            <a:ext cx="173880" cy="2448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77397BC-F6CD-4966-B9AC-6250D3208E6C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17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61" name="Grafik 3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738120" y="3773520"/>
            <a:ext cx="4599000" cy="856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2" name="Grafik 6"/>
          <p:cNvPicPr/>
          <p:nvPr/>
        </p:nvPicPr>
        <p:blipFill>
          <a:blip r:embed="rId3"/>
          <a:stretch/>
        </p:blipFill>
        <p:spPr>
          <a:xfrm>
            <a:off x="6784200" y="2117520"/>
            <a:ext cx="4485240" cy="1036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86;p 1"/>
          <p:cNvSpPr/>
          <p:nvPr/>
        </p:nvSpPr>
        <p:spPr>
          <a:xfrm>
            <a:off x="1569600" y="6417000"/>
            <a:ext cx="435672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480" cy="575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Modell: Initialer Zustand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Google Shape;89;p 2"/>
          <p:cNvSpPr/>
          <p:nvPr/>
        </p:nvSpPr>
        <p:spPr>
          <a:xfrm>
            <a:off x="589680" y="6417000"/>
            <a:ext cx="7480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PlaceHolder 2"/>
          <p:cNvSpPr>
            <a:spLocks noGrp="1"/>
          </p:cNvSpPr>
          <p:nvPr>
            <p:ph type="sldNum" idx="30"/>
          </p:nvPr>
        </p:nvSpPr>
        <p:spPr>
          <a:xfrm>
            <a:off x="11473200" y="6416280"/>
            <a:ext cx="173880" cy="2448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65D2D19-C5DD-443C-9AC2-0ED59015C12F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18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67" name="Grafik 3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796200" y="3803040"/>
            <a:ext cx="4599000" cy="856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8" name="Grafik 2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3890880" y="1989360"/>
            <a:ext cx="4409640" cy="1018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9" name="Grafik 5"/>
          <p:cNvPicPr/>
          <p:nvPr/>
        </p:nvPicPr>
        <p:blipFill>
          <a:blip r:embed="rId5"/>
          <a:stretch/>
        </p:blipFill>
        <p:spPr>
          <a:xfrm>
            <a:off x="4581360" y="1478880"/>
            <a:ext cx="824400" cy="99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0" name="Grafik 8"/>
          <p:cNvPicPr/>
          <p:nvPr/>
        </p:nvPicPr>
        <p:blipFill>
          <a:blip r:embed="rId6"/>
          <a:stretch/>
        </p:blipFill>
        <p:spPr>
          <a:xfrm>
            <a:off x="4397040" y="3187440"/>
            <a:ext cx="824400" cy="99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1" name="Grafik 10"/>
          <p:cNvPicPr/>
          <p:nvPr/>
        </p:nvPicPr>
        <p:blipFill>
          <a:blip r:embed="rId7"/>
          <a:stretch/>
        </p:blipFill>
        <p:spPr>
          <a:xfrm>
            <a:off x="3735360" y="1204560"/>
            <a:ext cx="846000" cy="1210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2" name="Grafik 12"/>
          <p:cNvPicPr/>
          <p:nvPr/>
        </p:nvPicPr>
        <p:blipFill>
          <a:blip r:embed="rId8"/>
          <a:stretch/>
        </p:blipFill>
        <p:spPr>
          <a:xfrm>
            <a:off x="3552840" y="3016440"/>
            <a:ext cx="846000" cy="1210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86;p 1"/>
          <p:cNvSpPr/>
          <p:nvPr/>
        </p:nvSpPr>
        <p:spPr>
          <a:xfrm>
            <a:off x="1569600" y="6417000"/>
            <a:ext cx="435672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480" cy="575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Modell: Schritt 1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Google Shape;89;p 2"/>
          <p:cNvSpPr/>
          <p:nvPr/>
        </p:nvSpPr>
        <p:spPr>
          <a:xfrm>
            <a:off x="589680" y="6417000"/>
            <a:ext cx="7480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 type="sldNum" idx="31"/>
          </p:nvPr>
        </p:nvSpPr>
        <p:spPr>
          <a:xfrm>
            <a:off x="11473200" y="6416280"/>
            <a:ext cx="173880" cy="2448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DF4B4FD-7327-4A33-A347-3133A1691F6A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77" name="Grafik 3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796200" y="3803040"/>
            <a:ext cx="4599000" cy="856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8" name="Grafik 2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3890880" y="1989360"/>
            <a:ext cx="4409640" cy="1018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9" name="Grafik 5"/>
          <p:cNvPicPr/>
          <p:nvPr/>
        </p:nvPicPr>
        <p:blipFill>
          <a:blip r:embed="rId5"/>
          <a:stretch/>
        </p:blipFill>
        <p:spPr>
          <a:xfrm>
            <a:off x="4581360" y="1478880"/>
            <a:ext cx="824400" cy="99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0" name="Grafik 8"/>
          <p:cNvPicPr/>
          <p:nvPr/>
        </p:nvPicPr>
        <p:blipFill>
          <a:blip r:embed="rId6"/>
          <a:stretch/>
        </p:blipFill>
        <p:spPr>
          <a:xfrm>
            <a:off x="5572440" y="3187440"/>
            <a:ext cx="824400" cy="99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1" name="Grafik 10"/>
          <p:cNvPicPr/>
          <p:nvPr/>
        </p:nvPicPr>
        <p:blipFill>
          <a:blip r:embed="rId7"/>
          <a:stretch/>
        </p:blipFill>
        <p:spPr>
          <a:xfrm>
            <a:off x="3735360" y="1204560"/>
            <a:ext cx="846000" cy="1210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2" name="Grafik 12"/>
          <p:cNvPicPr/>
          <p:nvPr/>
        </p:nvPicPr>
        <p:blipFill>
          <a:blip r:embed="rId8"/>
          <a:stretch/>
        </p:blipFill>
        <p:spPr>
          <a:xfrm>
            <a:off x="3552840" y="3016440"/>
            <a:ext cx="846000" cy="1210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3" name="Pfeil: nach rechts 4"/>
          <p:cNvSpPr/>
          <p:nvPr/>
        </p:nvSpPr>
        <p:spPr>
          <a:xfrm rot="20607000">
            <a:off x="2685240" y="2283120"/>
            <a:ext cx="936000" cy="3830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feld 7"/>
          <p:cNvSpPr/>
          <p:nvPr/>
        </p:nvSpPr>
        <p:spPr>
          <a:xfrm>
            <a:off x="355680" y="2547000"/>
            <a:ext cx="330156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StutterSchritt_2{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   all o: ORT |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   o.personenImOrtGrob‘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86;p 1"/>
          <p:cNvSpPr/>
          <p:nvPr/>
        </p:nvSpPr>
        <p:spPr>
          <a:xfrm>
            <a:off x="1569600" y="6417000"/>
            <a:ext cx="435672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480" cy="575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Modell: Schritt 2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Google Shape;89;p 2"/>
          <p:cNvSpPr/>
          <p:nvPr/>
        </p:nvSpPr>
        <p:spPr>
          <a:xfrm>
            <a:off x="589680" y="6417000"/>
            <a:ext cx="7480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 type="sldNum" idx="32"/>
          </p:nvPr>
        </p:nvSpPr>
        <p:spPr>
          <a:xfrm>
            <a:off x="11473200" y="6416280"/>
            <a:ext cx="173880" cy="2448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9F1E924-9E27-4F58-BD6B-411B8E429A03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20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89" name="Grafik 3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796200" y="3803040"/>
            <a:ext cx="4599000" cy="856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0" name="Grafik 2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3890880" y="1989360"/>
            <a:ext cx="4409640" cy="1018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1" name="Grafik 5"/>
          <p:cNvPicPr/>
          <p:nvPr/>
        </p:nvPicPr>
        <p:blipFill>
          <a:blip r:embed="rId5"/>
          <a:stretch/>
        </p:blipFill>
        <p:spPr>
          <a:xfrm>
            <a:off x="7570440" y="1478880"/>
            <a:ext cx="824400" cy="99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2" name="Grafik 8"/>
          <p:cNvPicPr/>
          <p:nvPr/>
        </p:nvPicPr>
        <p:blipFill>
          <a:blip r:embed="rId6"/>
          <a:stretch/>
        </p:blipFill>
        <p:spPr>
          <a:xfrm>
            <a:off x="7570440" y="3187440"/>
            <a:ext cx="824400" cy="99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3" name="Grafik 10"/>
          <p:cNvPicPr/>
          <p:nvPr/>
        </p:nvPicPr>
        <p:blipFill>
          <a:blip r:embed="rId7"/>
          <a:stretch/>
        </p:blipFill>
        <p:spPr>
          <a:xfrm>
            <a:off x="3735360" y="1204560"/>
            <a:ext cx="846000" cy="1210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4" name="Grafik 12"/>
          <p:cNvPicPr/>
          <p:nvPr/>
        </p:nvPicPr>
        <p:blipFill>
          <a:blip r:embed="rId8"/>
          <a:stretch/>
        </p:blipFill>
        <p:spPr>
          <a:xfrm>
            <a:off x="3552840" y="3016440"/>
            <a:ext cx="846000" cy="1210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5" name="Pfeil: nach rechts 4"/>
          <p:cNvSpPr/>
          <p:nvPr/>
        </p:nvSpPr>
        <p:spPr>
          <a:xfrm rot="20607000">
            <a:off x="2685240" y="2283120"/>
            <a:ext cx="936000" cy="3830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feld 7"/>
          <p:cNvSpPr/>
          <p:nvPr/>
        </p:nvSpPr>
        <p:spPr>
          <a:xfrm>
            <a:off x="355680" y="2547000"/>
            <a:ext cx="330156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StutterSchritt_2{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   all o: ORT |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   o.personenImOrtGrob‘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86;p 1"/>
          <p:cNvSpPr/>
          <p:nvPr/>
        </p:nvSpPr>
        <p:spPr>
          <a:xfrm>
            <a:off x="1569600" y="6417000"/>
            <a:ext cx="435672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480" cy="575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Google Shape;89;p 2"/>
          <p:cNvSpPr/>
          <p:nvPr/>
        </p:nvSpPr>
        <p:spPr>
          <a:xfrm>
            <a:off x="589680" y="6417000"/>
            <a:ext cx="7480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PlaceHolder 2"/>
          <p:cNvSpPr>
            <a:spLocks noGrp="1"/>
          </p:cNvSpPr>
          <p:nvPr>
            <p:ph type="sldNum" idx="33"/>
          </p:nvPr>
        </p:nvSpPr>
        <p:spPr>
          <a:xfrm>
            <a:off x="11473200" y="6416280"/>
            <a:ext cx="173880" cy="2448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F39999B-1D1C-44AC-BB9B-2DC9EAECE145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21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01" name="Grafik 3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738120" y="3773520"/>
            <a:ext cx="4599000" cy="856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2" name="Grafik 6"/>
          <p:cNvPicPr/>
          <p:nvPr/>
        </p:nvPicPr>
        <p:blipFill>
          <a:blip r:embed="rId3"/>
          <a:stretch/>
        </p:blipFill>
        <p:spPr>
          <a:xfrm>
            <a:off x="6784200" y="2117520"/>
            <a:ext cx="4485240" cy="1036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3" name="Textfeld 8"/>
          <p:cNvSpPr/>
          <p:nvPr/>
        </p:nvSpPr>
        <p:spPr>
          <a:xfrm>
            <a:off x="543960" y="2838600"/>
            <a:ext cx="5464440" cy="110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schrittFein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some p: PERSON, r1, r2: RAUM, t: TUER |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((betreteTuer[p, r1, t] and StutterSchritt_2[t]) or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(verlasseTuer[p, r2, t] and schrittGrob[p, r1, r2])) and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vorbedingungenMoveFein[r1, r2, t]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480" cy="575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Übersicht Verfeinerung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5" name="Tabelle 3"/>
          <p:cNvGraphicFramePr/>
          <p:nvPr/>
        </p:nvGraphicFramePr>
        <p:xfrm>
          <a:off x="2031840" y="2509200"/>
          <a:ext cx="8127720" cy="1483200"/>
        </p:xfrm>
        <a:graphic>
          <a:graphicData uri="http://schemas.openxmlformats.org/drawingml/2006/table">
            <a:tbl>
              <a:tblPr/>
              <a:tblGrid>
                <a:gridCol w="2031840"/>
                <a:gridCol w="2031840"/>
                <a:gridCol w="2031840"/>
                <a:gridCol w="2031840"/>
              </a:tblGrid>
              <a:tr h="370800">
                <a:tc>
                  <a:txBody>
                    <a:bodyPr anchor="t">
                      <a:noAutofit/>
                    </a:bodyPr>
                    <a:p>
                      <a:endParaRPr lang="de-DE" sz="1800" b="1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1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2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de-DE" sz="1800" b="1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Grobes Modell: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de-DE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Verfeinerung: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Tür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de-DE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endParaRPr lang="de-DE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de-DE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de-DE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de-DE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86;p 2"/>
          <p:cNvSpPr/>
          <p:nvPr/>
        </p:nvSpPr>
        <p:spPr>
          <a:xfrm>
            <a:off x="1569600" y="6417000"/>
            <a:ext cx="435672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480" cy="575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Inhalt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11103480" cy="45727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Anforderung: Tür wird eigener Ort, Ereignisse betreteTuer/verlasseTuer, Zustandsdiagramm ImRaum → InTür → ImRaum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Alloy: Erweiterung der sigs/facts, neue preds betreteTuer/verlasseTuer, check dass „Bewegung ohne Zwischenzustand in der Tür" nicht mehr direkt zulässig ist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Lean: Erweiterte Zustandsdefinition, Beweis, dass Verkettung von betreteTuer und verlasseTuer dasselbe fachliche Ergebnis liefert wie bewege aus Stufe 1 (Refinement-Nachweis)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Google Shape;89;p 1"/>
          <p:cNvSpPr/>
          <p:nvPr/>
        </p:nvSpPr>
        <p:spPr>
          <a:xfrm>
            <a:off x="589680" y="6417000"/>
            <a:ext cx="7480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PlaceHolder 3"/>
          <p:cNvSpPr>
            <a:spLocks noGrp="1"/>
          </p:cNvSpPr>
          <p:nvPr>
            <p:ph type="sldNum" idx="34"/>
          </p:nvPr>
        </p:nvSpPr>
        <p:spPr>
          <a:xfrm>
            <a:off x="11473200" y="6416280"/>
            <a:ext cx="173880" cy="2448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165B74C-C62B-4BCF-994C-FDD703F07A1F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23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8621280" cy="1007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92500" lnSpcReduction="9999"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Verfeinertes Modell mit Autorisierung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1920" cy="11433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Nur Bewohner dürfen Türen öffnen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3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5580000" y="4860000"/>
            <a:ext cx="5466960" cy="1609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86;p 1"/>
          <p:cNvSpPr/>
          <p:nvPr/>
        </p:nvSpPr>
        <p:spPr>
          <a:xfrm>
            <a:off x="1569600" y="6417000"/>
            <a:ext cx="435672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480" cy="575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 mit Autorisierung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Google Shape;89;p 2"/>
          <p:cNvSpPr/>
          <p:nvPr/>
        </p:nvSpPr>
        <p:spPr>
          <a:xfrm>
            <a:off x="589680" y="6417000"/>
            <a:ext cx="7480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PlaceHolder 2"/>
          <p:cNvSpPr>
            <a:spLocks noGrp="1"/>
          </p:cNvSpPr>
          <p:nvPr>
            <p:ph type="sldNum" idx="35"/>
          </p:nvPr>
        </p:nvSpPr>
        <p:spPr>
          <a:xfrm>
            <a:off x="11473200" y="6416280"/>
            <a:ext cx="173880" cy="2448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63B5BA2-1E34-4C22-BA19-838AEE910E49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25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18" name="Grafik 3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731280" y="4275360"/>
            <a:ext cx="4599000" cy="856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9" name="Grafik 6"/>
          <p:cNvPicPr/>
          <p:nvPr/>
        </p:nvPicPr>
        <p:blipFill>
          <a:blip r:embed="rId3"/>
          <a:stretch/>
        </p:blipFill>
        <p:spPr>
          <a:xfrm>
            <a:off x="6731280" y="1519560"/>
            <a:ext cx="4599000" cy="1062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0" name="Textfeld 8"/>
          <p:cNvSpPr/>
          <p:nvPr/>
        </p:nvSpPr>
        <p:spPr>
          <a:xfrm>
            <a:off x="543960" y="2838600"/>
            <a:ext cx="5464440" cy="110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schrittFein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some p: PERSON, r1, r2: RAUM, t: TUER |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((betreteTuer[p, r1, t] and StutterSchritt_2[t]) or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(verlasseTuer[p, r2, t] and schrittGrob[p, r1, r2])) and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vorbedingungenMoveFein[r1, r2, t]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1" name="Grafik 4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6731280" y="2963880"/>
            <a:ext cx="4599000" cy="856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86;p 1"/>
          <p:cNvSpPr/>
          <p:nvPr/>
        </p:nvSpPr>
        <p:spPr>
          <a:xfrm>
            <a:off x="1569600" y="6417000"/>
            <a:ext cx="435672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480" cy="575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 mit Autorisierung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Google Shape;89;p 2"/>
          <p:cNvSpPr/>
          <p:nvPr/>
        </p:nvSpPr>
        <p:spPr>
          <a:xfrm>
            <a:off x="589680" y="6417000"/>
            <a:ext cx="7480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PlaceHolder 2"/>
          <p:cNvSpPr>
            <a:spLocks noGrp="1"/>
          </p:cNvSpPr>
          <p:nvPr>
            <p:ph type="sldNum" idx="36"/>
          </p:nvPr>
        </p:nvSpPr>
        <p:spPr>
          <a:xfrm>
            <a:off x="11473200" y="6416280"/>
            <a:ext cx="173880" cy="2448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BC93CF3-2EB2-49D2-BEEC-EB71E1DBF68D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26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26" name="Grafik 4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796560" y="4242240"/>
            <a:ext cx="4599000" cy="856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7" name="Grafik 2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3796560" y="2340360"/>
            <a:ext cx="4599000" cy="1062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8" name="Grafik 7"/>
          <p:cNvPicPr/>
          <p:nvPr/>
        </p:nvPicPr>
        <p:blipFill>
          <a:blip r:embed="rId5"/>
          <a:stretch/>
        </p:blipFill>
        <p:spPr>
          <a:xfrm>
            <a:off x="4574160" y="1842120"/>
            <a:ext cx="824400" cy="99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9" name="Grafik 10"/>
          <p:cNvPicPr/>
          <p:nvPr/>
        </p:nvPicPr>
        <p:blipFill>
          <a:blip r:embed="rId6"/>
          <a:stretch/>
        </p:blipFill>
        <p:spPr>
          <a:xfrm>
            <a:off x="3727800" y="1568160"/>
            <a:ext cx="846000" cy="1210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0" name="Multiplikationszeichen 11"/>
          <p:cNvSpPr/>
          <p:nvPr/>
        </p:nvSpPr>
        <p:spPr>
          <a:xfrm>
            <a:off x="5635080" y="4209840"/>
            <a:ext cx="921240" cy="921240"/>
          </a:xfrm>
          <a:prstGeom prst="mathMultiply">
            <a:avLst>
              <a:gd name="adj1" fmla="val 2352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231" name="Grafik 13"/>
          <p:cNvPicPr/>
          <p:nvPr/>
        </p:nvPicPr>
        <p:blipFill>
          <a:blip r:embed="rId7"/>
          <a:stretch/>
        </p:blipFill>
        <p:spPr>
          <a:xfrm>
            <a:off x="4475880" y="3677400"/>
            <a:ext cx="824400" cy="99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32" name="Grafik 15"/>
          <p:cNvPicPr/>
          <p:nvPr/>
        </p:nvPicPr>
        <p:blipFill>
          <a:blip r:embed="rId8"/>
          <a:stretch/>
        </p:blipFill>
        <p:spPr>
          <a:xfrm>
            <a:off x="3629520" y="3403080"/>
            <a:ext cx="846000" cy="1210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86;p 1"/>
          <p:cNvSpPr/>
          <p:nvPr/>
        </p:nvSpPr>
        <p:spPr>
          <a:xfrm>
            <a:off x="1569600" y="6417000"/>
            <a:ext cx="435672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480" cy="575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 mit Autorisierung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Google Shape;89;p 2"/>
          <p:cNvSpPr/>
          <p:nvPr/>
        </p:nvSpPr>
        <p:spPr>
          <a:xfrm>
            <a:off x="589680" y="6417000"/>
            <a:ext cx="7480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PlaceHolder 2"/>
          <p:cNvSpPr>
            <a:spLocks noGrp="1"/>
          </p:cNvSpPr>
          <p:nvPr>
            <p:ph type="sldNum" idx="37"/>
          </p:nvPr>
        </p:nvSpPr>
        <p:spPr>
          <a:xfrm>
            <a:off x="11473200" y="6416280"/>
            <a:ext cx="173880" cy="2448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2861831-A880-40D5-B0AB-4ED5E2C4FB0D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27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37" name="Grafik 3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796560" y="4242240"/>
            <a:ext cx="4599000" cy="856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38" name="Grafik 8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3796560" y="2340360"/>
            <a:ext cx="4599000" cy="1062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39" name="Grafik 11"/>
          <p:cNvPicPr/>
          <p:nvPr/>
        </p:nvPicPr>
        <p:blipFill>
          <a:blip r:embed="rId5"/>
          <a:stretch/>
        </p:blipFill>
        <p:spPr>
          <a:xfrm>
            <a:off x="4574160" y="1842120"/>
            <a:ext cx="824400" cy="99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0" name="Grafik 13"/>
          <p:cNvPicPr/>
          <p:nvPr/>
        </p:nvPicPr>
        <p:blipFill>
          <a:blip r:embed="rId6"/>
          <a:stretch/>
        </p:blipFill>
        <p:spPr>
          <a:xfrm>
            <a:off x="3727800" y="1568160"/>
            <a:ext cx="846000" cy="1210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1" name="Grafik 15"/>
          <p:cNvPicPr/>
          <p:nvPr/>
        </p:nvPicPr>
        <p:blipFill>
          <a:blip r:embed="rId7"/>
          <a:stretch/>
        </p:blipFill>
        <p:spPr>
          <a:xfrm>
            <a:off x="4475880" y="3677400"/>
            <a:ext cx="824400" cy="99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2" name="Grafik 17"/>
          <p:cNvPicPr/>
          <p:nvPr/>
        </p:nvPicPr>
        <p:blipFill>
          <a:blip r:embed="rId8"/>
          <a:stretch/>
        </p:blipFill>
        <p:spPr>
          <a:xfrm>
            <a:off x="3629520" y="3403080"/>
            <a:ext cx="846000" cy="1210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3" name="Pfeil: nach rechts 27"/>
          <p:cNvSpPr/>
          <p:nvPr/>
        </p:nvSpPr>
        <p:spPr>
          <a:xfrm rot="20607000">
            <a:off x="2577240" y="4479120"/>
            <a:ext cx="936000" cy="3830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feld 29"/>
          <p:cNvSpPr/>
          <p:nvPr/>
        </p:nvSpPr>
        <p:spPr>
          <a:xfrm>
            <a:off x="459000" y="5141160"/>
            <a:ext cx="6094440" cy="93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StutterSchritt_1 [tuer: TUER]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| o.personenImOrtFein' = o.personenImOrtFein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| o.personenImOrtGrob'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t: TUER - tuer | t.offen' = t.offen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86;p 1"/>
          <p:cNvSpPr/>
          <p:nvPr/>
        </p:nvSpPr>
        <p:spPr>
          <a:xfrm>
            <a:off x="1569600" y="6417000"/>
            <a:ext cx="435672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480" cy="575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 mit Autorisierung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Google Shape;89;p 2"/>
          <p:cNvSpPr/>
          <p:nvPr/>
        </p:nvSpPr>
        <p:spPr>
          <a:xfrm>
            <a:off x="589680" y="6417000"/>
            <a:ext cx="7480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PlaceHolder 2"/>
          <p:cNvSpPr>
            <a:spLocks noGrp="1"/>
          </p:cNvSpPr>
          <p:nvPr>
            <p:ph type="sldNum" idx="38"/>
          </p:nvPr>
        </p:nvSpPr>
        <p:spPr>
          <a:xfrm>
            <a:off x="11473200" y="6416280"/>
            <a:ext cx="173880" cy="2448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F985B09-0453-4ABD-B8FE-1CAE95CDE3E4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28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49" name="Grafik 3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796560" y="4242240"/>
            <a:ext cx="4599000" cy="856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0" name="Grafik 8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3796560" y="2340360"/>
            <a:ext cx="4599000" cy="1062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1" name="Grafik 11"/>
          <p:cNvPicPr/>
          <p:nvPr/>
        </p:nvPicPr>
        <p:blipFill>
          <a:blip r:embed="rId5"/>
          <a:stretch/>
        </p:blipFill>
        <p:spPr>
          <a:xfrm>
            <a:off x="4574160" y="1842120"/>
            <a:ext cx="824400" cy="99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2" name="Grafik 13"/>
          <p:cNvPicPr/>
          <p:nvPr/>
        </p:nvPicPr>
        <p:blipFill>
          <a:blip r:embed="rId6"/>
          <a:stretch/>
        </p:blipFill>
        <p:spPr>
          <a:xfrm>
            <a:off x="3727800" y="1568160"/>
            <a:ext cx="846000" cy="1210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3" name="Grafik 15"/>
          <p:cNvPicPr/>
          <p:nvPr/>
        </p:nvPicPr>
        <p:blipFill>
          <a:blip r:embed="rId7"/>
          <a:stretch/>
        </p:blipFill>
        <p:spPr>
          <a:xfrm>
            <a:off x="5346000" y="3677400"/>
            <a:ext cx="824400" cy="99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4" name="Grafik 17"/>
          <p:cNvPicPr/>
          <p:nvPr/>
        </p:nvPicPr>
        <p:blipFill>
          <a:blip r:embed="rId8"/>
          <a:stretch/>
        </p:blipFill>
        <p:spPr>
          <a:xfrm>
            <a:off x="3629520" y="3403080"/>
            <a:ext cx="846000" cy="1210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5" name="Pfeil: nach rechts 2"/>
          <p:cNvSpPr/>
          <p:nvPr/>
        </p:nvSpPr>
        <p:spPr>
          <a:xfrm rot="20607000">
            <a:off x="2577240" y="4479120"/>
            <a:ext cx="936000" cy="3830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feld 5"/>
          <p:cNvSpPr/>
          <p:nvPr/>
        </p:nvSpPr>
        <p:spPr>
          <a:xfrm>
            <a:off x="459000" y="5141160"/>
            <a:ext cx="6094440" cy="93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StutterSchritt_1 [tuer: TUER]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| o.personenImOrtFein' = o.personenImOrtFein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| o.personenImOrtGrob'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t: TUER - tuer | t.offen' = t.offen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86;p 1"/>
          <p:cNvSpPr/>
          <p:nvPr/>
        </p:nvSpPr>
        <p:spPr>
          <a:xfrm>
            <a:off x="1569600" y="6417000"/>
            <a:ext cx="435672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480" cy="575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 mit Autorisierung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Google Shape;89;p 2"/>
          <p:cNvSpPr/>
          <p:nvPr/>
        </p:nvSpPr>
        <p:spPr>
          <a:xfrm>
            <a:off x="589680" y="6417000"/>
            <a:ext cx="7480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PlaceHolder 2"/>
          <p:cNvSpPr>
            <a:spLocks noGrp="1"/>
          </p:cNvSpPr>
          <p:nvPr>
            <p:ph type="sldNum" idx="39"/>
          </p:nvPr>
        </p:nvSpPr>
        <p:spPr>
          <a:xfrm>
            <a:off x="11473200" y="6416280"/>
            <a:ext cx="173880" cy="2448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2128F27-285E-4EC4-8A2D-D861CD1C073C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29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61" name="Grafik 3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796560" y="4242240"/>
            <a:ext cx="4599000" cy="856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2" name="Grafik 8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3796560" y="2340360"/>
            <a:ext cx="4599000" cy="1062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3" name="Grafik 11"/>
          <p:cNvPicPr/>
          <p:nvPr/>
        </p:nvPicPr>
        <p:blipFill>
          <a:blip r:embed="rId5"/>
          <a:stretch/>
        </p:blipFill>
        <p:spPr>
          <a:xfrm>
            <a:off x="6697800" y="1842120"/>
            <a:ext cx="824400" cy="99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4" name="Grafik 13"/>
          <p:cNvPicPr/>
          <p:nvPr/>
        </p:nvPicPr>
        <p:blipFill>
          <a:blip r:embed="rId6"/>
          <a:stretch/>
        </p:blipFill>
        <p:spPr>
          <a:xfrm>
            <a:off x="3727800" y="1568160"/>
            <a:ext cx="846000" cy="1210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5" name="Grafik 17"/>
          <p:cNvPicPr/>
          <p:nvPr/>
        </p:nvPicPr>
        <p:blipFill>
          <a:blip r:embed="rId7"/>
          <a:stretch/>
        </p:blipFill>
        <p:spPr>
          <a:xfrm>
            <a:off x="3629520" y="3403080"/>
            <a:ext cx="846000" cy="1210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6" name="Grafik 1"/>
          <p:cNvPicPr/>
          <p:nvPr/>
        </p:nvPicPr>
        <p:blipFill>
          <a:blip r:embed="rId8"/>
          <a:stretch/>
        </p:blipFill>
        <p:spPr>
          <a:xfrm>
            <a:off x="6891480" y="3677400"/>
            <a:ext cx="824400" cy="995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8621280" cy="1007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Synchronisierung der Modelle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1920" cy="1367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Nur Bewohner dürfen Türen öffnen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480" cy="575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Übersicht Verfeinerung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0" name="Tabelle 3"/>
          <p:cNvGraphicFramePr/>
          <p:nvPr/>
        </p:nvGraphicFramePr>
        <p:xfrm>
          <a:off x="2031840" y="1593000"/>
          <a:ext cx="8127720" cy="1483200"/>
        </p:xfrm>
        <a:graphic>
          <a:graphicData uri="http://schemas.openxmlformats.org/drawingml/2006/table">
            <a:tbl>
              <a:tblPr/>
              <a:tblGrid>
                <a:gridCol w="2031840"/>
                <a:gridCol w="2031840"/>
                <a:gridCol w="2031840"/>
                <a:gridCol w="2031840"/>
              </a:tblGrid>
              <a:tr h="370800">
                <a:tc>
                  <a:txBody>
                    <a:bodyPr anchor="t">
                      <a:noAutofit/>
                    </a:bodyPr>
                    <a:p>
                      <a:endParaRPr lang="de-DE" sz="1800" b="1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1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2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3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Grobes Modell: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Verfeinerung: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Tür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Autorisierung: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Öffne Tür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Tür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71" name="Textfeld 4"/>
          <p:cNvSpPr/>
          <p:nvPr/>
        </p:nvSpPr>
        <p:spPr>
          <a:xfrm>
            <a:off x="631080" y="4645440"/>
            <a:ext cx="4952880" cy="93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StutterSchritt_1 [tuer: TUER]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| o.personenImOrtFein' = o.personenImOrtFein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| o.personenImOrtGrob'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t: TUER - tuer | t.offen' = t.offen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feld 6"/>
          <p:cNvSpPr/>
          <p:nvPr/>
        </p:nvSpPr>
        <p:spPr>
          <a:xfrm>
            <a:off x="6607800" y="4645440"/>
            <a:ext cx="4952880" cy="59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StutterSchritt_2{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| o.personenImOrtGrob'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feld 7"/>
          <p:cNvSpPr/>
          <p:nvPr/>
        </p:nvSpPr>
        <p:spPr>
          <a:xfrm>
            <a:off x="631080" y="4169160"/>
            <a:ext cx="230724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Stutter Schritt 1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feld 9"/>
          <p:cNvSpPr/>
          <p:nvPr/>
        </p:nvSpPr>
        <p:spPr>
          <a:xfrm>
            <a:off x="6607800" y="4169160"/>
            <a:ext cx="230724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Stutter Schritt 2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Pfeil: nach unten 10"/>
          <p:cNvSpPr/>
          <p:nvPr/>
        </p:nvSpPr>
        <p:spPr>
          <a:xfrm rot="2929200">
            <a:off x="3646800" y="3216240"/>
            <a:ext cx="478440" cy="85896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76" name="Pfeil: nach unten 12"/>
          <p:cNvSpPr/>
          <p:nvPr/>
        </p:nvSpPr>
        <p:spPr>
          <a:xfrm rot="19296000">
            <a:off x="6716160" y="3213000"/>
            <a:ext cx="478440" cy="85896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480" cy="575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Übersicht Verfeinerung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8" name="Tabelle 3"/>
          <p:cNvGraphicFramePr/>
          <p:nvPr/>
        </p:nvGraphicFramePr>
        <p:xfrm>
          <a:off x="1196640" y="2053800"/>
          <a:ext cx="9798480" cy="1849320"/>
        </p:xfrm>
        <a:graphic>
          <a:graphicData uri="http://schemas.openxmlformats.org/drawingml/2006/table">
            <a:tbl>
              <a:tblPr/>
              <a:tblGrid>
                <a:gridCol w="1959480"/>
                <a:gridCol w="1959480"/>
                <a:gridCol w="1959480"/>
                <a:gridCol w="1959480"/>
                <a:gridCol w="1959480"/>
              </a:tblGrid>
              <a:tr h="0">
                <a:tc>
                  <a:txBody>
                    <a:bodyPr anchor="t">
                      <a:noAutofit/>
                    </a:bodyPr>
                    <a:p>
                      <a:endParaRPr lang="de-DE" sz="1800" b="1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1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2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3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Frame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Grobes Modell: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Arial"/>
                        </a:rPr>
                        <a:t>personenGrob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Verfeinerung: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Tür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Arial"/>
                        </a:rPr>
                        <a:t>personenFein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Autorisierung: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Öffne Tür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Tür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Arial"/>
                        </a:rPr>
                        <a:t>türFälltZu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Arial"/>
                        </a:rPr>
                        <a:t>Stutter_1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Arial"/>
                        </a:rPr>
                        <a:t>Stutter_2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de-DE" sz="1800" b="0" u="none" strike="noStrike">
                        <a:solidFill>
                          <a:schemeClr val="dk1"/>
                        </a:solidFill>
                        <a:effectLst/>
                        <a:highlight>
                          <a:srgbClr val="FFFF00"/>
                        </a:highlight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de-DE" sz="1800" b="0" u="none" strike="noStrike">
                        <a:solidFill>
                          <a:schemeClr val="dk1"/>
                        </a:solidFill>
                        <a:effectLst/>
                        <a:highlight>
                          <a:srgbClr val="FFFF00"/>
                        </a:highlight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480" cy="575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Beispiel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0" name="Grafik 4"/>
          <p:cNvPicPr/>
          <p:nvPr/>
        </p:nvPicPr>
        <p:blipFill>
          <a:blip r:embed="rId1"/>
          <a:stretch/>
        </p:blipFill>
        <p:spPr>
          <a:xfrm>
            <a:off x="2836800" y="2148120"/>
            <a:ext cx="6633360" cy="2593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480" cy="575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Beispiel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2" name="Grafik 4"/>
          <p:cNvPicPr/>
          <p:nvPr/>
        </p:nvPicPr>
        <p:blipFill>
          <a:blip r:embed="rId1"/>
          <a:stretch/>
        </p:blipFill>
        <p:spPr>
          <a:xfrm>
            <a:off x="2836800" y="2115000"/>
            <a:ext cx="6517800" cy="2554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480" cy="575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Beispiel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4" name="Grafik 6"/>
          <p:cNvPicPr/>
          <p:nvPr/>
        </p:nvPicPr>
        <p:blipFill>
          <a:blip r:embed="rId1"/>
          <a:stretch/>
        </p:blipFill>
        <p:spPr>
          <a:xfrm>
            <a:off x="2836800" y="2115000"/>
            <a:ext cx="6526080" cy="2554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480" cy="575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Beispiel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6" name="Grafik 5"/>
          <p:cNvPicPr/>
          <p:nvPr/>
        </p:nvPicPr>
        <p:blipFill>
          <a:blip r:embed="rId1"/>
          <a:stretch/>
        </p:blipFill>
        <p:spPr>
          <a:xfrm>
            <a:off x="2836800" y="2115000"/>
            <a:ext cx="7430760" cy="2554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86;p 3"/>
          <p:cNvSpPr/>
          <p:nvPr/>
        </p:nvSpPr>
        <p:spPr>
          <a:xfrm>
            <a:off x="1569600" y="6417000"/>
            <a:ext cx="435672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480" cy="575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Inhalt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11103480" cy="45727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Anforderung: Authentifizierungsgerät pro Tür, Bewohner:in vs. Gast, Ereignis authentifizieren, Vor-/Nachbedingungen bei Erfolg/Misserfolg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Alloy: sigs für Authentifizierung/Bewohner/Gast, pred authentifizieren, checks wie „geschlossene Tür kann nicht ohne gültige Berechtigung passiert werden", Gegenbeispielsuche für Gast-Versuch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Lean: Beweis, dass fehlgeschlagene Authentifizierung den Zustand nicht verändert; Beweis der Invariante „geschlossene Türen bleiben ohne Berechtigung geschlossen“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Google Shape;89;p 3"/>
          <p:cNvSpPr/>
          <p:nvPr/>
        </p:nvSpPr>
        <p:spPr>
          <a:xfrm>
            <a:off x="589680" y="6417000"/>
            <a:ext cx="7480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PlaceHolder 3"/>
          <p:cNvSpPr>
            <a:spLocks noGrp="1"/>
          </p:cNvSpPr>
          <p:nvPr>
            <p:ph type="sldNum" idx="40"/>
          </p:nvPr>
        </p:nvSpPr>
        <p:spPr>
          <a:xfrm>
            <a:off x="11473200" y="6416280"/>
            <a:ext cx="173880" cy="2448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E2C41B8-5FFF-4BFB-811F-0462E949EBB6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37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95;p 5"/>
          <p:cNvSpPr/>
          <p:nvPr/>
        </p:nvSpPr>
        <p:spPr>
          <a:xfrm>
            <a:off x="1569600" y="6417000"/>
            <a:ext cx="435672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10255680" cy="1007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Umsetzung in Lean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1920" cy="1367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Event B: Beweise des Modells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Google Shape;98;p 5"/>
          <p:cNvSpPr/>
          <p:nvPr/>
        </p:nvSpPr>
        <p:spPr>
          <a:xfrm>
            <a:off x="589680" y="6417000"/>
            <a:ext cx="7480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PlaceHolder 3"/>
          <p:cNvSpPr>
            <a:spLocks noGrp="1"/>
          </p:cNvSpPr>
          <p:nvPr>
            <p:ph type="sldNum" idx="41"/>
          </p:nvPr>
        </p:nvSpPr>
        <p:spPr>
          <a:xfrm>
            <a:off x="11473200" y="6416280"/>
            <a:ext cx="173880" cy="2448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457A455-D215-42CE-80F3-5CA94214DA0F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38</a:t>
            </a:fld>
            <a:endParaRPr lang="de-D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86;p 5"/>
          <p:cNvSpPr/>
          <p:nvPr/>
        </p:nvSpPr>
        <p:spPr>
          <a:xfrm>
            <a:off x="1569600" y="6417000"/>
            <a:ext cx="435672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480" cy="575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Übersicht der Objekte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Google Shape;89;p 5"/>
          <p:cNvSpPr/>
          <p:nvPr/>
        </p:nvSpPr>
        <p:spPr>
          <a:xfrm>
            <a:off x="589680" y="6417000"/>
            <a:ext cx="7480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PlaceHolder 2"/>
          <p:cNvSpPr>
            <a:spLocks noGrp="1"/>
          </p:cNvSpPr>
          <p:nvPr>
            <p:ph type="sldNum" idx="42"/>
          </p:nvPr>
        </p:nvSpPr>
        <p:spPr>
          <a:xfrm>
            <a:off x="11473200" y="6416280"/>
            <a:ext cx="173880" cy="2448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D8703C7-8F7C-4061-A319-56AA8117F6C4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39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01" name="Grafik 9"/>
          <p:cNvPicPr/>
          <p:nvPr/>
        </p:nvPicPr>
        <p:blipFill>
          <a:blip r:embed="rId1"/>
          <a:stretch/>
        </p:blipFill>
        <p:spPr>
          <a:xfrm>
            <a:off x="3756240" y="1440000"/>
            <a:ext cx="7763760" cy="4680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2" name="PlaceHolder 8"/>
          <p:cNvSpPr txBox="1"/>
          <p:nvPr/>
        </p:nvSpPr>
        <p:spPr>
          <a:xfrm>
            <a:off x="544320" y="1484280"/>
            <a:ext cx="4855680" cy="4572720"/>
          </a:xfrm>
          <a:prstGeom prst="rect">
            <a:avLst/>
          </a:prstGeom>
          <a:noFill/>
          <a:ln w="0">
            <a:noFill/>
          </a:ln>
        </p:spPr>
        <p:txBody>
          <a:bodyPr lIns="45720" rIns="45720" anchor="t">
            <a:normAutofit/>
          </a:bodyPr>
          <a:p>
            <a:pPr marL="216000" indent="-2160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Statische Struktur: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Festgelegte Regeln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Unveränderlich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86;p 18"/>
          <p:cNvSpPr/>
          <p:nvPr/>
        </p:nvSpPr>
        <p:spPr>
          <a:xfrm>
            <a:off x="1569600" y="6417000"/>
            <a:ext cx="435672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480" cy="575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Übersicht der Objekte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Google Shape;89;p 18"/>
          <p:cNvSpPr/>
          <p:nvPr/>
        </p:nvSpPr>
        <p:spPr>
          <a:xfrm>
            <a:off x="589680" y="6417000"/>
            <a:ext cx="7480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PlaceHolder 2"/>
          <p:cNvSpPr>
            <a:spLocks noGrp="1"/>
          </p:cNvSpPr>
          <p:nvPr>
            <p:ph type="sldNum" idx="43"/>
          </p:nvPr>
        </p:nvSpPr>
        <p:spPr>
          <a:xfrm>
            <a:off x="11473200" y="6416280"/>
            <a:ext cx="173880" cy="2448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EAA238D-1A98-419C-AE0C-1BFF0969D153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40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07" name="Grafik 64"/>
          <p:cNvPicPr/>
          <p:nvPr/>
        </p:nvPicPr>
        <p:blipFill>
          <a:blip r:embed="rId1"/>
          <a:stretch/>
        </p:blipFill>
        <p:spPr>
          <a:xfrm>
            <a:off x="5637960" y="2340000"/>
            <a:ext cx="5342040" cy="209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8" name="PlaceHolder 60"/>
          <p:cNvSpPr txBox="1"/>
          <p:nvPr/>
        </p:nvSpPr>
        <p:spPr>
          <a:xfrm>
            <a:off x="544320" y="1484280"/>
            <a:ext cx="4855680" cy="4572720"/>
          </a:xfrm>
          <a:prstGeom prst="rect">
            <a:avLst/>
          </a:prstGeom>
          <a:noFill/>
          <a:ln w="0">
            <a:noFill/>
          </a:ln>
        </p:spPr>
        <p:txBody>
          <a:bodyPr lIns="45720" rIns="45720" anchor="t">
            <a:normAutofit/>
          </a:bodyPr>
          <a:p>
            <a:pPr marL="216000" indent="-2160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Dynamische Struktur: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personenImOrt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offen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letzterRaum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"/>
          <p:cNvSpPr/>
          <p:nvPr/>
        </p:nvSpPr>
        <p:spPr>
          <a:xfrm>
            <a:off x="5637960" y="2628000"/>
            <a:ext cx="2462040" cy="43200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760" tIns="59760" rIns="104760" bIns="5976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"/>
          <p:cNvSpPr/>
          <p:nvPr/>
        </p:nvSpPr>
        <p:spPr>
          <a:xfrm>
            <a:off x="7740000" y="3960000"/>
            <a:ext cx="900000" cy="18000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760" tIns="59760" rIns="104760" bIns="5976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"/>
          <p:cNvSpPr/>
          <p:nvPr/>
        </p:nvSpPr>
        <p:spPr>
          <a:xfrm>
            <a:off x="7740000" y="3960000"/>
            <a:ext cx="900000" cy="18000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760" tIns="59760" rIns="104760" bIns="5976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86;p 4"/>
          <p:cNvSpPr/>
          <p:nvPr/>
        </p:nvSpPr>
        <p:spPr>
          <a:xfrm>
            <a:off x="1569600" y="6417000"/>
            <a:ext cx="435672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480" cy="575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SimpleGraph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Google Shape;89;p 4"/>
          <p:cNvSpPr/>
          <p:nvPr/>
        </p:nvSpPr>
        <p:spPr>
          <a:xfrm>
            <a:off x="589680" y="6417000"/>
            <a:ext cx="7480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PlaceHolder 2"/>
          <p:cNvSpPr>
            <a:spLocks noGrp="1"/>
          </p:cNvSpPr>
          <p:nvPr>
            <p:ph type="sldNum" idx="44"/>
          </p:nvPr>
        </p:nvSpPr>
        <p:spPr>
          <a:xfrm>
            <a:off x="11473200" y="6416280"/>
            <a:ext cx="173880" cy="2448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F8DA3D0-9EAE-4B7A-B91E-A5D1C6FB6B4C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41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16" name=""/>
          <p:cNvPicPr/>
          <p:nvPr/>
        </p:nvPicPr>
        <p:blipFill>
          <a:blip r:embed="rId1"/>
          <a:stretch/>
        </p:blipFill>
        <p:spPr>
          <a:xfrm>
            <a:off x="900000" y="1734480"/>
            <a:ext cx="7560000" cy="245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17" name=""/>
          <p:cNvPicPr/>
          <p:nvPr/>
        </p:nvPicPr>
        <p:blipFill>
          <a:blip r:embed="rId2"/>
          <a:stretch/>
        </p:blipFill>
        <p:spPr>
          <a:xfrm>
            <a:off x="891000" y="2160000"/>
            <a:ext cx="4149000" cy="1120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8" name="Pfeil: nach rechts 8"/>
          <p:cNvSpPr/>
          <p:nvPr/>
        </p:nvSpPr>
        <p:spPr>
          <a:xfrm rot="9762600">
            <a:off x="6335640" y="1210320"/>
            <a:ext cx="936000" cy="3830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feld 17"/>
          <p:cNvSpPr/>
          <p:nvPr/>
        </p:nvSpPr>
        <p:spPr>
          <a:xfrm>
            <a:off x="7301160" y="1024920"/>
            <a:ext cx="187884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Loopless + Symmetrisch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Pfeil: nach rechts 9"/>
          <p:cNvSpPr/>
          <p:nvPr/>
        </p:nvSpPr>
        <p:spPr>
          <a:xfrm rot="9762600">
            <a:off x="4715640" y="2366280"/>
            <a:ext cx="936000" cy="3830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feld 18"/>
          <p:cNvSpPr/>
          <p:nvPr/>
        </p:nvSpPr>
        <p:spPr>
          <a:xfrm>
            <a:off x="5364000" y="2277000"/>
            <a:ext cx="187884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Raumstruktur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"/>
          <p:cNvSpPr/>
          <p:nvPr/>
        </p:nvSpPr>
        <p:spPr>
          <a:xfrm>
            <a:off x="720000" y="3492000"/>
            <a:ext cx="10440000" cy="0"/>
          </a:xfrm>
          <a:prstGeom prst="line">
            <a:avLst/>
          </a:prstGeom>
          <a:ln w="0">
            <a:solidFill>
              <a:srgbClr val="E0051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-45000" rIns="90000" bIns="-4500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3" name=""/>
          <p:cNvPicPr/>
          <p:nvPr/>
        </p:nvPicPr>
        <p:blipFill>
          <a:blip r:embed="rId3"/>
          <a:stretch/>
        </p:blipFill>
        <p:spPr>
          <a:xfrm>
            <a:off x="865440" y="3960000"/>
            <a:ext cx="9665280" cy="1440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4" name="Pfeil: nach rechts 11"/>
          <p:cNvSpPr/>
          <p:nvPr/>
        </p:nvSpPr>
        <p:spPr>
          <a:xfrm rot="12480000">
            <a:off x="6694920" y="5416920"/>
            <a:ext cx="936000" cy="3830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feld 20"/>
          <p:cNvSpPr/>
          <p:nvPr/>
        </p:nvSpPr>
        <p:spPr>
          <a:xfrm>
            <a:off x="7380000" y="5760000"/>
            <a:ext cx="187884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Grundannahmen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86;p 6"/>
          <p:cNvSpPr/>
          <p:nvPr/>
        </p:nvSpPr>
        <p:spPr>
          <a:xfrm>
            <a:off x="1569600" y="6417000"/>
            <a:ext cx="435672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480" cy="575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Zustand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Google Shape;89;p 6"/>
          <p:cNvSpPr/>
          <p:nvPr/>
        </p:nvSpPr>
        <p:spPr>
          <a:xfrm>
            <a:off x="589680" y="6417000"/>
            <a:ext cx="7480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PlaceHolder 2"/>
          <p:cNvSpPr>
            <a:spLocks noGrp="1"/>
          </p:cNvSpPr>
          <p:nvPr>
            <p:ph type="sldNum" idx="45"/>
          </p:nvPr>
        </p:nvSpPr>
        <p:spPr>
          <a:xfrm>
            <a:off x="11473200" y="6416280"/>
            <a:ext cx="173880" cy="2448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0F8AE20-0B75-45BF-A370-D47E85C0046F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42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30" name=""/>
          <p:cNvPicPr/>
          <p:nvPr/>
        </p:nvPicPr>
        <p:blipFill>
          <a:blip r:embed="rId1"/>
          <a:stretch/>
        </p:blipFill>
        <p:spPr>
          <a:xfrm>
            <a:off x="1260000" y="2070720"/>
            <a:ext cx="9764640" cy="260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1" name=""/>
          <p:cNvSpPr/>
          <p:nvPr/>
        </p:nvSpPr>
        <p:spPr>
          <a:xfrm>
            <a:off x="1317960" y="2232000"/>
            <a:ext cx="4982040" cy="79200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760" tIns="59760" rIns="104760" bIns="5976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Pfeil: nach rechts 10"/>
          <p:cNvSpPr/>
          <p:nvPr/>
        </p:nvSpPr>
        <p:spPr>
          <a:xfrm rot="12480000">
            <a:off x="6514920" y="4876920"/>
            <a:ext cx="936000" cy="3830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feld 19"/>
          <p:cNvSpPr/>
          <p:nvPr/>
        </p:nvSpPr>
        <p:spPr>
          <a:xfrm>
            <a:off x="7200000" y="5220000"/>
            <a:ext cx="187884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Grundannahmen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PlaceHolder 1"/>
          <p:cNvSpPr>
            <a:spLocks noGrp="1"/>
          </p:cNvSpPr>
          <p:nvPr>
            <p:ph/>
          </p:nvPr>
        </p:nvSpPr>
        <p:spPr>
          <a:xfrm>
            <a:off x="696240" y="4841280"/>
            <a:ext cx="7621920" cy="880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Die Übersetzung → Übersicht mit pre/post etc.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Titel 3"/>
          <p:cNvSpPr/>
          <p:nvPr/>
        </p:nvSpPr>
        <p:spPr>
          <a:xfrm>
            <a:off x="696240" y="3833640"/>
            <a:ext cx="7621920" cy="100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b">
            <a:normAutofit/>
          </a:bodyPr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Von Alloy nach Lean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86;p 19"/>
          <p:cNvSpPr/>
          <p:nvPr/>
        </p:nvSpPr>
        <p:spPr>
          <a:xfrm>
            <a:off x="1569600" y="6417000"/>
            <a:ext cx="435672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480" cy="575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Grobes Modell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Google Shape;89;p 19"/>
          <p:cNvSpPr/>
          <p:nvPr/>
        </p:nvSpPr>
        <p:spPr>
          <a:xfrm>
            <a:off x="589680" y="6417000"/>
            <a:ext cx="7480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PlaceHolder 2"/>
          <p:cNvSpPr>
            <a:spLocks noGrp="1"/>
          </p:cNvSpPr>
          <p:nvPr>
            <p:ph type="sldNum" idx="46"/>
          </p:nvPr>
        </p:nvSpPr>
        <p:spPr>
          <a:xfrm>
            <a:off x="11473200" y="6416280"/>
            <a:ext cx="173880" cy="2448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43888ED-9089-457A-ABD1-CF97913AD5C0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44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40" name="Grafik 14"/>
          <p:cNvPicPr/>
          <p:nvPr/>
        </p:nvPicPr>
        <p:blipFill>
          <a:blip r:embed="rId1"/>
          <a:stretch/>
        </p:blipFill>
        <p:spPr>
          <a:xfrm>
            <a:off x="3260520" y="4334040"/>
            <a:ext cx="5331960" cy="1231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1" name="Textfeld 21"/>
          <p:cNvSpPr/>
          <p:nvPr/>
        </p:nvSpPr>
        <p:spPr>
          <a:xfrm>
            <a:off x="396000" y="1553400"/>
            <a:ext cx="5860080" cy="22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schrittGrob[p: PERSON, von, nach: RAUM]{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//pre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 in von.personenImOrtGrob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some t: TUER | t in von.nachbarn and t in nach.nachbarn and t.offen in True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//post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von.personenImOrtGrob' = von.personenImOrtGrob - p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nach.personenImOrtGrob' = nach.personenImOrtGrob + p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//frame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- (von + nach) | o.personenImOrtGrob'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feld 22"/>
          <p:cNvSpPr/>
          <p:nvPr/>
        </p:nvSpPr>
        <p:spPr>
          <a:xfrm>
            <a:off x="3260520" y="5755320"/>
            <a:ext cx="1878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feld 23"/>
          <p:cNvSpPr/>
          <p:nvPr/>
        </p:nvSpPr>
        <p:spPr>
          <a:xfrm>
            <a:off x="6713640" y="5753160"/>
            <a:ext cx="1878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nach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Pfeil: nach rechts 13"/>
          <p:cNvSpPr/>
          <p:nvPr/>
        </p:nvSpPr>
        <p:spPr>
          <a:xfrm>
            <a:off x="5580000" y="1800000"/>
            <a:ext cx="936000" cy="3830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345" name=""/>
          <p:cNvPicPr/>
          <p:nvPr/>
        </p:nvPicPr>
        <p:blipFill>
          <a:blip r:embed="rId2"/>
          <a:srcRect l="0" t="0" r="0" b="54231"/>
          <a:stretch/>
        </p:blipFill>
        <p:spPr>
          <a:xfrm>
            <a:off x="6588000" y="1034640"/>
            <a:ext cx="4860000" cy="1309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46" name=""/>
          <p:cNvPicPr/>
          <p:nvPr/>
        </p:nvPicPr>
        <p:blipFill>
          <a:blip r:embed="rId3"/>
          <a:stretch/>
        </p:blipFill>
        <p:spPr>
          <a:xfrm>
            <a:off x="6660000" y="2700000"/>
            <a:ext cx="4642920" cy="1620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7" name=""/>
          <p:cNvSpPr/>
          <p:nvPr/>
        </p:nvSpPr>
        <p:spPr>
          <a:xfrm>
            <a:off x="1317960" y="1908000"/>
            <a:ext cx="4982040" cy="61200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760" tIns="59760" rIns="104760" bIns="5976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PlaceHolder 1"/>
          <p:cNvSpPr>
            <a:spLocks noGrp="1"/>
          </p:cNvSpPr>
          <p:nvPr>
            <p:ph/>
          </p:nvPr>
        </p:nvSpPr>
        <p:spPr>
          <a:xfrm>
            <a:off x="696240" y="4841280"/>
            <a:ext cx="7621920" cy="880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Betrete Tür, verlasse Tür, Übergang zu Grob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Titel 8"/>
          <p:cNvSpPr/>
          <p:nvPr/>
        </p:nvSpPr>
        <p:spPr>
          <a:xfrm>
            <a:off x="696240" y="3833640"/>
            <a:ext cx="7621920" cy="100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b">
            <a:normAutofit/>
          </a:bodyPr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Beispiel: verfeinertes Modell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0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300000" y="5040000"/>
            <a:ext cx="5476680" cy="1523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PlaceHolder 1"/>
          <p:cNvSpPr>
            <a:spLocks noGrp="1"/>
          </p:cNvSpPr>
          <p:nvPr>
            <p:ph/>
          </p:nvPr>
        </p:nvSpPr>
        <p:spPr>
          <a:xfrm>
            <a:off x="696240" y="4841280"/>
            <a:ext cx="7621920" cy="880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Grundlagen für die weiteren Schritte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Titel 7"/>
          <p:cNvSpPr/>
          <p:nvPr/>
        </p:nvSpPr>
        <p:spPr>
          <a:xfrm>
            <a:off x="696240" y="3833640"/>
            <a:ext cx="7621920" cy="100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anchor="b">
            <a:normAutofit/>
          </a:bodyPr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Grobes Modell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3" name=""/>
          <p:cNvPicPr/>
          <p:nvPr/>
        </p:nvPicPr>
        <p:blipFill>
          <a:blip r:embed="rId1"/>
          <a:stretch/>
        </p:blipFill>
        <p:spPr>
          <a:xfrm>
            <a:off x="5760000" y="3916800"/>
            <a:ext cx="5867280" cy="1355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86;p 7"/>
          <p:cNvSpPr/>
          <p:nvPr/>
        </p:nvSpPr>
        <p:spPr>
          <a:xfrm>
            <a:off x="1569600" y="6417000"/>
            <a:ext cx="435672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480" cy="575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Grobes Modell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Google Shape;89;p 7"/>
          <p:cNvSpPr/>
          <p:nvPr/>
        </p:nvSpPr>
        <p:spPr>
          <a:xfrm>
            <a:off x="589680" y="6417000"/>
            <a:ext cx="7480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PlaceHolder 2"/>
          <p:cNvSpPr>
            <a:spLocks noGrp="1"/>
          </p:cNvSpPr>
          <p:nvPr>
            <p:ph type="sldNum" idx="47"/>
          </p:nvPr>
        </p:nvSpPr>
        <p:spPr>
          <a:xfrm>
            <a:off x="11473200" y="6416280"/>
            <a:ext cx="173880" cy="2448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07D4760-49AB-4910-A69A-16E48504F638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47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58" name="Grafik 16"/>
          <p:cNvPicPr/>
          <p:nvPr/>
        </p:nvPicPr>
        <p:blipFill>
          <a:blip r:embed="rId1"/>
          <a:stretch/>
        </p:blipFill>
        <p:spPr>
          <a:xfrm>
            <a:off x="3260520" y="4334040"/>
            <a:ext cx="5331960" cy="1231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9" name="Textfeld 10"/>
          <p:cNvSpPr/>
          <p:nvPr/>
        </p:nvSpPr>
        <p:spPr>
          <a:xfrm>
            <a:off x="396000" y="1553400"/>
            <a:ext cx="5860080" cy="22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schrittGrob[p: PERSON, von, nach: RAUM]{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//pre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 in von.personenImOrtGrob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some t: TUER | t in von.nachbarn and t in nach.nachbarn and t.offen in True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//post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von.personenImOrtGrob' = von.personenImOrtGrob - p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nach.personenImOrtGrob' = nach.personenImOrtGrob + p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//frame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- (von + nach) | o.personenImOrtGrob'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feld 12"/>
          <p:cNvSpPr/>
          <p:nvPr/>
        </p:nvSpPr>
        <p:spPr>
          <a:xfrm>
            <a:off x="3260520" y="5755320"/>
            <a:ext cx="1878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feld 13"/>
          <p:cNvSpPr/>
          <p:nvPr/>
        </p:nvSpPr>
        <p:spPr>
          <a:xfrm>
            <a:off x="6713640" y="5753160"/>
            <a:ext cx="1878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nach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Pfeil: nach rechts 12"/>
          <p:cNvSpPr/>
          <p:nvPr/>
        </p:nvSpPr>
        <p:spPr>
          <a:xfrm>
            <a:off x="5472000" y="2538000"/>
            <a:ext cx="936000" cy="3830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363" name=""/>
          <p:cNvPicPr/>
          <p:nvPr/>
        </p:nvPicPr>
        <p:blipFill>
          <a:blip r:embed="rId2"/>
          <a:srcRect l="0" t="0" r="0" b="54231"/>
          <a:stretch/>
        </p:blipFill>
        <p:spPr>
          <a:xfrm>
            <a:off x="6588000" y="1034640"/>
            <a:ext cx="4860000" cy="1309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4" name=""/>
          <p:cNvPicPr/>
          <p:nvPr/>
        </p:nvPicPr>
        <p:blipFill>
          <a:blip r:embed="rId3"/>
          <a:stretch/>
        </p:blipFill>
        <p:spPr>
          <a:xfrm>
            <a:off x="6588000" y="2596320"/>
            <a:ext cx="4642920" cy="1620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7621920" cy="1007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Verfeinertes Modell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PlaceHolder 2"/>
          <p:cNvSpPr>
            <a:spLocks noGrp="1"/>
          </p:cNvSpPr>
          <p:nvPr>
            <p:ph/>
          </p:nvPr>
        </p:nvSpPr>
        <p:spPr>
          <a:xfrm>
            <a:off x="543960" y="4689000"/>
            <a:ext cx="7621920" cy="12024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Umsetzung der Türen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7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043320" y="3696480"/>
            <a:ext cx="5476680" cy="1523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86;p 8"/>
          <p:cNvSpPr/>
          <p:nvPr/>
        </p:nvSpPr>
        <p:spPr>
          <a:xfrm>
            <a:off x="1569600" y="6417000"/>
            <a:ext cx="435672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480" cy="575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Modell: Initialer Zustand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Google Shape;89;p 8"/>
          <p:cNvSpPr/>
          <p:nvPr/>
        </p:nvSpPr>
        <p:spPr>
          <a:xfrm>
            <a:off x="589680" y="6417000"/>
            <a:ext cx="7480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PlaceHolder 2"/>
          <p:cNvSpPr>
            <a:spLocks noGrp="1"/>
          </p:cNvSpPr>
          <p:nvPr>
            <p:ph type="sldNum" idx="48"/>
          </p:nvPr>
        </p:nvSpPr>
        <p:spPr>
          <a:xfrm>
            <a:off x="11473200" y="6416280"/>
            <a:ext cx="173880" cy="2448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58C3F0C-DC1D-4871-A275-D46E1191EB87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49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72" name="Grafik 18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796200" y="3803040"/>
            <a:ext cx="4599000" cy="856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3" name="Grafik 19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3890880" y="1989360"/>
            <a:ext cx="4409640" cy="1018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4" name="Grafik 20"/>
          <p:cNvPicPr/>
          <p:nvPr/>
        </p:nvPicPr>
        <p:blipFill>
          <a:blip r:embed="rId5"/>
          <a:stretch/>
        </p:blipFill>
        <p:spPr>
          <a:xfrm>
            <a:off x="4581360" y="1478880"/>
            <a:ext cx="824400" cy="99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5" name="Grafik 21"/>
          <p:cNvPicPr/>
          <p:nvPr/>
        </p:nvPicPr>
        <p:blipFill>
          <a:blip r:embed="rId6"/>
          <a:stretch/>
        </p:blipFill>
        <p:spPr>
          <a:xfrm>
            <a:off x="4397040" y="3187440"/>
            <a:ext cx="824400" cy="99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6" name="Grafik 22"/>
          <p:cNvPicPr/>
          <p:nvPr/>
        </p:nvPicPr>
        <p:blipFill>
          <a:blip r:embed="rId7"/>
          <a:stretch/>
        </p:blipFill>
        <p:spPr>
          <a:xfrm>
            <a:off x="3735360" y="1204560"/>
            <a:ext cx="846000" cy="1210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7" name="Grafik 23"/>
          <p:cNvPicPr/>
          <p:nvPr/>
        </p:nvPicPr>
        <p:blipFill>
          <a:blip r:embed="rId8"/>
          <a:stretch/>
        </p:blipFill>
        <p:spPr>
          <a:xfrm>
            <a:off x="3552840" y="3016440"/>
            <a:ext cx="846000" cy="1210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86;p 9"/>
          <p:cNvSpPr/>
          <p:nvPr/>
        </p:nvSpPr>
        <p:spPr>
          <a:xfrm>
            <a:off x="1569600" y="6417000"/>
            <a:ext cx="435672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480" cy="575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Modell: Schritt 1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Google Shape;89;p 9"/>
          <p:cNvSpPr/>
          <p:nvPr/>
        </p:nvSpPr>
        <p:spPr>
          <a:xfrm>
            <a:off x="589680" y="6417000"/>
            <a:ext cx="7480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PlaceHolder 2"/>
          <p:cNvSpPr>
            <a:spLocks noGrp="1"/>
          </p:cNvSpPr>
          <p:nvPr>
            <p:ph type="sldNum" idx="49"/>
          </p:nvPr>
        </p:nvSpPr>
        <p:spPr>
          <a:xfrm>
            <a:off x="11473200" y="6416280"/>
            <a:ext cx="173880" cy="2448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7E7D911-D325-40F7-8028-1F1EA72D5D7B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50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82" name="Grafik 24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796200" y="3803040"/>
            <a:ext cx="4599000" cy="856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3" name="Grafik 25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3890880" y="1989360"/>
            <a:ext cx="4409640" cy="1018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4" name="Grafik 26"/>
          <p:cNvPicPr/>
          <p:nvPr/>
        </p:nvPicPr>
        <p:blipFill>
          <a:blip r:embed="rId5"/>
          <a:stretch/>
        </p:blipFill>
        <p:spPr>
          <a:xfrm>
            <a:off x="4581360" y="1478880"/>
            <a:ext cx="824400" cy="99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5" name="Grafik 27"/>
          <p:cNvPicPr/>
          <p:nvPr/>
        </p:nvPicPr>
        <p:blipFill>
          <a:blip r:embed="rId6"/>
          <a:stretch/>
        </p:blipFill>
        <p:spPr>
          <a:xfrm>
            <a:off x="5572440" y="3187440"/>
            <a:ext cx="824400" cy="99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6" name="Grafik 28"/>
          <p:cNvPicPr/>
          <p:nvPr/>
        </p:nvPicPr>
        <p:blipFill>
          <a:blip r:embed="rId7"/>
          <a:stretch/>
        </p:blipFill>
        <p:spPr>
          <a:xfrm>
            <a:off x="3735360" y="1204560"/>
            <a:ext cx="846000" cy="1210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7" name="Grafik 29"/>
          <p:cNvPicPr/>
          <p:nvPr/>
        </p:nvPicPr>
        <p:blipFill>
          <a:blip r:embed="rId8"/>
          <a:stretch/>
        </p:blipFill>
        <p:spPr>
          <a:xfrm>
            <a:off x="3552840" y="3016440"/>
            <a:ext cx="846000" cy="1210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8" name="Pfeil: nach rechts 3"/>
          <p:cNvSpPr/>
          <p:nvPr/>
        </p:nvSpPr>
        <p:spPr>
          <a:xfrm rot="20607000">
            <a:off x="2685240" y="2283120"/>
            <a:ext cx="936000" cy="3830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89" name="Textfeld 2"/>
          <p:cNvSpPr/>
          <p:nvPr/>
        </p:nvSpPr>
        <p:spPr>
          <a:xfrm>
            <a:off x="355680" y="2547000"/>
            <a:ext cx="3301560" cy="76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StutterSchritt_2{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   all o: ORT |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   o.personenImOrtGrob‘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86;p 10"/>
          <p:cNvSpPr/>
          <p:nvPr/>
        </p:nvSpPr>
        <p:spPr>
          <a:xfrm>
            <a:off x="1569600" y="6417000"/>
            <a:ext cx="435672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480" cy="575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Modell: Schritt 2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Google Shape;89;p 10"/>
          <p:cNvSpPr/>
          <p:nvPr/>
        </p:nvSpPr>
        <p:spPr>
          <a:xfrm>
            <a:off x="589680" y="6417000"/>
            <a:ext cx="7480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PlaceHolder 2"/>
          <p:cNvSpPr>
            <a:spLocks noGrp="1"/>
          </p:cNvSpPr>
          <p:nvPr>
            <p:ph type="sldNum" idx="50"/>
          </p:nvPr>
        </p:nvSpPr>
        <p:spPr>
          <a:xfrm>
            <a:off x="11473200" y="6416280"/>
            <a:ext cx="173880" cy="2448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E79B233-74B4-415E-AF3D-A9FD5A1F5FBC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51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94" name="Grafik 30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796200" y="3803040"/>
            <a:ext cx="4599000" cy="856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95" name="Grafik 31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3890880" y="1989360"/>
            <a:ext cx="4409640" cy="1018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96" name="Grafik 32"/>
          <p:cNvPicPr/>
          <p:nvPr/>
        </p:nvPicPr>
        <p:blipFill>
          <a:blip r:embed="rId5"/>
          <a:stretch/>
        </p:blipFill>
        <p:spPr>
          <a:xfrm>
            <a:off x="7570440" y="1478880"/>
            <a:ext cx="824400" cy="99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97" name="Grafik 33"/>
          <p:cNvPicPr/>
          <p:nvPr/>
        </p:nvPicPr>
        <p:blipFill>
          <a:blip r:embed="rId6"/>
          <a:stretch/>
        </p:blipFill>
        <p:spPr>
          <a:xfrm>
            <a:off x="7570440" y="3187440"/>
            <a:ext cx="824400" cy="99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98" name="Grafik 34"/>
          <p:cNvPicPr/>
          <p:nvPr/>
        </p:nvPicPr>
        <p:blipFill>
          <a:blip r:embed="rId7"/>
          <a:stretch/>
        </p:blipFill>
        <p:spPr>
          <a:xfrm>
            <a:off x="3735360" y="1204560"/>
            <a:ext cx="846000" cy="1210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99" name="Grafik 35"/>
          <p:cNvPicPr/>
          <p:nvPr/>
        </p:nvPicPr>
        <p:blipFill>
          <a:blip r:embed="rId8"/>
          <a:stretch/>
        </p:blipFill>
        <p:spPr>
          <a:xfrm>
            <a:off x="3552840" y="3016440"/>
            <a:ext cx="846000" cy="1210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0" name="Pfeil: nach rechts 1"/>
          <p:cNvSpPr/>
          <p:nvPr/>
        </p:nvSpPr>
        <p:spPr>
          <a:xfrm rot="20607000">
            <a:off x="2685240" y="2283120"/>
            <a:ext cx="936000" cy="3830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feld 3"/>
          <p:cNvSpPr/>
          <p:nvPr/>
        </p:nvSpPr>
        <p:spPr>
          <a:xfrm>
            <a:off x="355680" y="2547000"/>
            <a:ext cx="3301560" cy="76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StutterSchritt_2{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   all o: ORT |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   o.personenImOrtGrob‘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8621280" cy="1007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92500" lnSpcReduction="9999"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Verfeinertes Modell mit Autorisierung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1920" cy="11433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Nur Bewohner dürfen Türen öffnen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4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5580000" y="4860000"/>
            <a:ext cx="5466960" cy="1609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86;p 11"/>
          <p:cNvSpPr/>
          <p:nvPr/>
        </p:nvSpPr>
        <p:spPr>
          <a:xfrm>
            <a:off x="1569600" y="6417000"/>
            <a:ext cx="435672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480" cy="575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 mit Autorisierung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Google Shape;89;p 11"/>
          <p:cNvSpPr/>
          <p:nvPr/>
        </p:nvSpPr>
        <p:spPr>
          <a:xfrm>
            <a:off x="589680" y="6417000"/>
            <a:ext cx="7480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PlaceHolder 2"/>
          <p:cNvSpPr>
            <a:spLocks noGrp="1"/>
          </p:cNvSpPr>
          <p:nvPr>
            <p:ph type="sldNum" idx="51"/>
          </p:nvPr>
        </p:nvSpPr>
        <p:spPr>
          <a:xfrm>
            <a:off x="11473200" y="6416280"/>
            <a:ext cx="173880" cy="2448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C14A387-4EBC-42E8-9E00-9AB358502DFB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53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09" name="Grafik 36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731280" y="4275360"/>
            <a:ext cx="4599000" cy="856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0" name="Grafik 37"/>
          <p:cNvPicPr/>
          <p:nvPr/>
        </p:nvPicPr>
        <p:blipFill>
          <a:blip r:embed="rId3"/>
          <a:stretch/>
        </p:blipFill>
        <p:spPr>
          <a:xfrm>
            <a:off x="6731280" y="1519560"/>
            <a:ext cx="4599000" cy="1062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1" name="Textfeld 14"/>
          <p:cNvSpPr/>
          <p:nvPr/>
        </p:nvSpPr>
        <p:spPr>
          <a:xfrm>
            <a:off x="543960" y="2838600"/>
            <a:ext cx="54644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schrittFein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some p: PERSON, r1, r2: RAUM, t: TUER |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((betreteTuer[p, r1, t] and StutterSchritt_2[t]) or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(verlasseTuer[p, r2, t] and schrittGrob[p, r1, r2])) and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vorbedingungenMoveFein[r1, r2, t]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2" name="Grafik 38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6731280" y="2963880"/>
            <a:ext cx="4599000" cy="856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86;p 12"/>
          <p:cNvSpPr/>
          <p:nvPr/>
        </p:nvSpPr>
        <p:spPr>
          <a:xfrm>
            <a:off x="1569600" y="6417000"/>
            <a:ext cx="435672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480" cy="575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 mit Autorisierung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Google Shape;89;p 12"/>
          <p:cNvSpPr/>
          <p:nvPr/>
        </p:nvSpPr>
        <p:spPr>
          <a:xfrm>
            <a:off x="589680" y="6417000"/>
            <a:ext cx="7480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PlaceHolder 2"/>
          <p:cNvSpPr>
            <a:spLocks noGrp="1"/>
          </p:cNvSpPr>
          <p:nvPr>
            <p:ph type="sldNum" idx="52"/>
          </p:nvPr>
        </p:nvSpPr>
        <p:spPr>
          <a:xfrm>
            <a:off x="11473200" y="6416280"/>
            <a:ext cx="173880" cy="2448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226398C-191D-4D4D-822B-1C277CB9F022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54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17" name="Grafik 39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796560" y="4242240"/>
            <a:ext cx="4599000" cy="856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8" name="Grafik 40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3796560" y="2340360"/>
            <a:ext cx="4599000" cy="1062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9" name="Grafik 41"/>
          <p:cNvPicPr/>
          <p:nvPr/>
        </p:nvPicPr>
        <p:blipFill>
          <a:blip r:embed="rId5"/>
          <a:stretch/>
        </p:blipFill>
        <p:spPr>
          <a:xfrm>
            <a:off x="4574160" y="1842120"/>
            <a:ext cx="824400" cy="99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20" name="Grafik 42"/>
          <p:cNvPicPr/>
          <p:nvPr/>
        </p:nvPicPr>
        <p:blipFill>
          <a:blip r:embed="rId6"/>
          <a:stretch/>
        </p:blipFill>
        <p:spPr>
          <a:xfrm>
            <a:off x="3727800" y="1568160"/>
            <a:ext cx="846000" cy="1210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1" name="Multiplikationszeichen 2"/>
          <p:cNvSpPr/>
          <p:nvPr/>
        </p:nvSpPr>
        <p:spPr>
          <a:xfrm>
            <a:off x="5635080" y="4209840"/>
            <a:ext cx="921240" cy="921240"/>
          </a:xfrm>
          <a:prstGeom prst="mathMultiply">
            <a:avLst>
              <a:gd name="adj1" fmla="val 2352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422" name="Grafik 43"/>
          <p:cNvPicPr/>
          <p:nvPr/>
        </p:nvPicPr>
        <p:blipFill>
          <a:blip r:embed="rId7"/>
          <a:stretch/>
        </p:blipFill>
        <p:spPr>
          <a:xfrm>
            <a:off x="4475880" y="3677400"/>
            <a:ext cx="824400" cy="99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23" name="Grafik 44"/>
          <p:cNvPicPr/>
          <p:nvPr/>
        </p:nvPicPr>
        <p:blipFill>
          <a:blip r:embed="rId8"/>
          <a:stretch/>
        </p:blipFill>
        <p:spPr>
          <a:xfrm>
            <a:off x="3629520" y="3403080"/>
            <a:ext cx="846000" cy="1210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86;p 13"/>
          <p:cNvSpPr/>
          <p:nvPr/>
        </p:nvSpPr>
        <p:spPr>
          <a:xfrm>
            <a:off x="1569600" y="6417000"/>
            <a:ext cx="435672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480" cy="575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 mit Autorisierung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Google Shape;89;p 13"/>
          <p:cNvSpPr/>
          <p:nvPr/>
        </p:nvSpPr>
        <p:spPr>
          <a:xfrm>
            <a:off x="589680" y="6417000"/>
            <a:ext cx="7480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PlaceHolder 2"/>
          <p:cNvSpPr>
            <a:spLocks noGrp="1"/>
          </p:cNvSpPr>
          <p:nvPr>
            <p:ph type="sldNum" idx="53"/>
          </p:nvPr>
        </p:nvSpPr>
        <p:spPr>
          <a:xfrm>
            <a:off x="11473200" y="6416280"/>
            <a:ext cx="173880" cy="2448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D05C64E-5A18-40A3-8EF2-F099C64CA44B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55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28" name="Grafik 45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796560" y="4242240"/>
            <a:ext cx="4599000" cy="856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29" name="Grafik 46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3796560" y="2340360"/>
            <a:ext cx="4599000" cy="1062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30" name="Grafik 47"/>
          <p:cNvPicPr/>
          <p:nvPr/>
        </p:nvPicPr>
        <p:blipFill>
          <a:blip r:embed="rId5"/>
          <a:stretch/>
        </p:blipFill>
        <p:spPr>
          <a:xfrm>
            <a:off x="4574160" y="1842120"/>
            <a:ext cx="824400" cy="99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31" name="Grafik 48"/>
          <p:cNvPicPr/>
          <p:nvPr/>
        </p:nvPicPr>
        <p:blipFill>
          <a:blip r:embed="rId6"/>
          <a:stretch/>
        </p:blipFill>
        <p:spPr>
          <a:xfrm>
            <a:off x="3727800" y="1568160"/>
            <a:ext cx="846000" cy="1210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32" name="Grafik 49"/>
          <p:cNvPicPr/>
          <p:nvPr/>
        </p:nvPicPr>
        <p:blipFill>
          <a:blip r:embed="rId7"/>
          <a:stretch/>
        </p:blipFill>
        <p:spPr>
          <a:xfrm>
            <a:off x="4475880" y="3677400"/>
            <a:ext cx="824400" cy="99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33" name="Grafik 50"/>
          <p:cNvPicPr/>
          <p:nvPr/>
        </p:nvPicPr>
        <p:blipFill>
          <a:blip r:embed="rId8"/>
          <a:stretch/>
        </p:blipFill>
        <p:spPr>
          <a:xfrm>
            <a:off x="3629520" y="3403080"/>
            <a:ext cx="846000" cy="1210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4" name="Pfeil: nach rechts 5"/>
          <p:cNvSpPr/>
          <p:nvPr/>
        </p:nvSpPr>
        <p:spPr>
          <a:xfrm rot="20607000">
            <a:off x="2577240" y="4479120"/>
            <a:ext cx="936000" cy="3830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35" name="Textfeld 15"/>
          <p:cNvSpPr/>
          <p:nvPr/>
        </p:nvSpPr>
        <p:spPr>
          <a:xfrm>
            <a:off x="459000" y="5141160"/>
            <a:ext cx="6094440" cy="92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StutterSchritt_1 [tuer: TUER]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| o.personenImOrtFein' = o.personenImOrtFein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| o.personenImOrtGrob'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t: TUER - tuer | t.offen' = t.offen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86;p 14"/>
          <p:cNvSpPr/>
          <p:nvPr/>
        </p:nvSpPr>
        <p:spPr>
          <a:xfrm>
            <a:off x="1569600" y="6417000"/>
            <a:ext cx="435672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480" cy="575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 mit Autorisierung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Google Shape;89;p 14"/>
          <p:cNvSpPr/>
          <p:nvPr/>
        </p:nvSpPr>
        <p:spPr>
          <a:xfrm>
            <a:off x="589680" y="6417000"/>
            <a:ext cx="7480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PlaceHolder 2"/>
          <p:cNvSpPr>
            <a:spLocks noGrp="1"/>
          </p:cNvSpPr>
          <p:nvPr>
            <p:ph type="sldNum" idx="54"/>
          </p:nvPr>
        </p:nvSpPr>
        <p:spPr>
          <a:xfrm>
            <a:off x="11473200" y="6416280"/>
            <a:ext cx="173880" cy="2448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C94D10D-F609-4C1B-B088-D337FDA09497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56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40" name="Grafik 51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796560" y="4242240"/>
            <a:ext cx="4599000" cy="856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41" name="Grafik 52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3796560" y="2340360"/>
            <a:ext cx="4599000" cy="1062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42" name="Grafik 53"/>
          <p:cNvPicPr/>
          <p:nvPr/>
        </p:nvPicPr>
        <p:blipFill>
          <a:blip r:embed="rId5"/>
          <a:stretch/>
        </p:blipFill>
        <p:spPr>
          <a:xfrm>
            <a:off x="4574160" y="1842120"/>
            <a:ext cx="824400" cy="99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43" name="Grafik 54"/>
          <p:cNvPicPr/>
          <p:nvPr/>
        </p:nvPicPr>
        <p:blipFill>
          <a:blip r:embed="rId6"/>
          <a:stretch/>
        </p:blipFill>
        <p:spPr>
          <a:xfrm>
            <a:off x="3727800" y="1568160"/>
            <a:ext cx="846000" cy="1210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44" name="Grafik 55"/>
          <p:cNvPicPr/>
          <p:nvPr/>
        </p:nvPicPr>
        <p:blipFill>
          <a:blip r:embed="rId7"/>
          <a:stretch/>
        </p:blipFill>
        <p:spPr>
          <a:xfrm>
            <a:off x="5346000" y="3677400"/>
            <a:ext cx="824400" cy="99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45" name="Grafik 56"/>
          <p:cNvPicPr/>
          <p:nvPr/>
        </p:nvPicPr>
        <p:blipFill>
          <a:blip r:embed="rId8"/>
          <a:stretch/>
        </p:blipFill>
        <p:spPr>
          <a:xfrm>
            <a:off x="3629520" y="3403080"/>
            <a:ext cx="846000" cy="1210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6" name="Pfeil: nach rechts 7"/>
          <p:cNvSpPr/>
          <p:nvPr/>
        </p:nvSpPr>
        <p:spPr>
          <a:xfrm rot="20607000">
            <a:off x="2577240" y="4479120"/>
            <a:ext cx="936000" cy="3830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47" name="Textfeld 16"/>
          <p:cNvSpPr/>
          <p:nvPr/>
        </p:nvSpPr>
        <p:spPr>
          <a:xfrm>
            <a:off x="459000" y="5141160"/>
            <a:ext cx="6094440" cy="92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StutterSchritt_1 [tuer: TUER]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| o.personenImOrtFein' = o.personenImOrtFein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| o.personenImOrtGrob'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t: TUER - tuer | t.offen' = t.offen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86;p 15"/>
          <p:cNvSpPr/>
          <p:nvPr/>
        </p:nvSpPr>
        <p:spPr>
          <a:xfrm>
            <a:off x="1569600" y="6417000"/>
            <a:ext cx="435672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480" cy="575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 mit Autorisierung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Google Shape;89;p 15"/>
          <p:cNvSpPr/>
          <p:nvPr/>
        </p:nvSpPr>
        <p:spPr>
          <a:xfrm>
            <a:off x="589680" y="6417000"/>
            <a:ext cx="7480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PlaceHolder 2"/>
          <p:cNvSpPr>
            <a:spLocks noGrp="1"/>
          </p:cNvSpPr>
          <p:nvPr>
            <p:ph type="sldNum" idx="55"/>
          </p:nvPr>
        </p:nvSpPr>
        <p:spPr>
          <a:xfrm>
            <a:off x="11473200" y="6416280"/>
            <a:ext cx="173880" cy="2448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0198835-243F-4AB9-9A55-0C629362ED59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57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52" name="Grafik 57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796560" y="4242240"/>
            <a:ext cx="4599000" cy="856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53" name="Grafik 58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3796560" y="2340360"/>
            <a:ext cx="4599000" cy="1062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54" name="Grafik 59"/>
          <p:cNvPicPr/>
          <p:nvPr/>
        </p:nvPicPr>
        <p:blipFill>
          <a:blip r:embed="rId5"/>
          <a:stretch/>
        </p:blipFill>
        <p:spPr>
          <a:xfrm>
            <a:off x="6697800" y="1842120"/>
            <a:ext cx="824400" cy="99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55" name="Grafik 60"/>
          <p:cNvPicPr/>
          <p:nvPr/>
        </p:nvPicPr>
        <p:blipFill>
          <a:blip r:embed="rId6"/>
          <a:stretch/>
        </p:blipFill>
        <p:spPr>
          <a:xfrm>
            <a:off x="3727800" y="1568160"/>
            <a:ext cx="846000" cy="1210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56" name="Grafik 61"/>
          <p:cNvPicPr/>
          <p:nvPr/>
        </p:nvPicPr>
        <p:blipFill>
          <a:blip r:embed="rId7"/>
          <a:stretch/>
        </p:blipFill>
        <p:spPr>
          <a:xfrm>
            <a:off x="3629520" y="3403080"/>
            <a:ext cx="846000" cy="1210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57" name="Grafik 62"/>
          <p:cNvPicPr/>
          <p:nvPr/>
        </p:nvPicPr>
        <p:blipFill>
          <a:blip r:embed="rId8"/>
          <a:stretch/>
        </p:blipFill>
        <p:spPr>
          <a:xfrm>
            <a:off x="6891480" y="3677400"/>
            <a:ext cx="824400" cy="995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8621280" cy="1007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Konsistenz zwischen Modellen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1920" cy="11433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Nur Bewohner dürfen Türen öffnen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0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4069800" y="5079240"/>
            <a:ext cx="7810200" cy="1580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86;p 16"/>
          <p:cNvSpPr/>
          <p:nvPr/>
        </p:nvSpPr>
        <p:spPr>
          <a:xfrm>
            <a:off x="1569600" y="6417000"/>
            <a:ext cx="435672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480" cy="575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Konsistenz zwischen den Modellen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Google Shape;89;p 16"/>
          <p:cNvSpPr/>
          <p:nvPr/>
        </p:nvSpPr>
        <p:spPr>
          <a:xfrm>
            <a:off x="589680" y="6417000"/>
            <a:ext cx="7480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PlaceHolder 2"/>
          <p:cNvSpPr>
            <a:spLocks noGrp="1"/>
          </p:cNvSpPr>
          <p:nvPr>
            <p:ph type="sldNum" idx="56"/>
          </p:nvPr>
        </p:nvSpPr>
        <p:spPr>
          <a:xfrm>
            <a:off x="11473200" y="6416280"/>
            <a:ext cx="173880" cy="2448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0C585E4-9AB2-40CB-96D6-843510F61B78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59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65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2269800" y="2700000"/>
            <a:ext cx="7810200" cy="1580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8621280" cy="1007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Beispiel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1920" cy="11433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Beispielhafte Definition eines Zugangssystems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86;p 17"/>
          <p:cNvSpPr/>
          <p:nvPr/>
        </p:nvSpPr>
        <p:spPr>
          <a:xfrm>
            <a:off x="1569600" y="6417000"/>
            <a:ext cx="435672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9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480" cy="575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Beispiel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0" name="Google Shape;89;p 17"/>
          <p:cNvSpPr/>
          <p:nvPr/>
        </p:nvSpPr>
        <p:spPr>
          <a:xfrm>
            <a:off x="589680" y="6417000"/>
            <a:ext cx="7480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1" name="PlaceHolder 2"/>
          <p:cNvSpPr>
            <a:spLocks noGrp="1"/>
          </p:cNvSpPr>
          <p:nvPr>
            <p:ph type="sldNum" idx="57"/>
          </p:nvPr>
        </p:nvSpPr>
        <p:spPr>
          <a:xfrm>
            <a:off x="11473200" y="6416280"/>
            <a:ext cx="173880" cy="2448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9EF4FC8-BBA6-4F0C-B2E8-FD15E6B71A13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61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95;p3"/>
          <p:cNvSpPr/>
          <p:nvPr/>
        </p:nvSpPr>
        <p:spPr>
          <a:xfrm>
            <a:off x="1569600" y="6417000"/>
            <a:ext cx="435672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3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7621920" cy="1007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Fazit und Ausblick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1920" cy="1367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Was getan ist und was als nächstes möglich wäre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Google Shape;98;p3"/>
          <p:cNvSpPr/>
          <p:nvPr/>
        </p:nvSpPr>
        <p:spPr>
          <a:xfrm>
            <a:off x="589680" y="6417000"/>
            <a:ext cx="7480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6" name="PlaceHolder 3"/>
          <p:cNvSpPr>
            <a:spLocks noGrp="1"/>
          </p:cNvSpPr>
          <p:nvPr>
            <p:ph type="sldNum" idx="58"/>
          </p:nvPr>
        </p:nvSpPr>
        <p:spPr>
          <a:xfrm>
            <a:off x="11473200" y="6416280"/>
            <a:ext cx="173880" cy="2448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1F1AD20-E2B4-4E94-9E62-ADB092C042DD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62</a:t>
            </a:fld>
            <a:endParaRPr lang="de-D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178;p8"/>
          <p:cNvSpPr/>
          <p:nvPr/>
        </p:nvSpPr>
        <p:spPr>
          <a:xfrm>
            <a:off x="1569600" y="6417000"/>
            <a:ext cx="435672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480" cy="575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Inhalt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11103480" cy="45727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Zusammenfassung der drei Stufen und ihrer Garantien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Erweiterungsideen aus IDEE.md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Google Shape;181;p8"/>
          <p:cNvSpPr/>
          <p:nvPr/>
        </p:nvSpPr>
        <p:spPr>
          <a:xfrm>
            <a:off x="589680" y="6417000"/>
            <a:ext cx="7480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PlaceHolder 3"/>
          <p:cNvSpPr>
            <a:spLocks noGrp="1"/>
          </p:cNvSpPr>
          <p:nvPr>
            <p:ph type="sldNum" idx="59"/>
          </p:nvPr>
        </p:nvSpPr>
        <p:spPr>
          <a:xfrm>
            <a:off x="11473200" y="6416280"/>
            <a:ext cx="173880" cy="2448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11B1D0E-298A-4C20-B2A1-66352926E4DF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63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232;p14"/>
          <p:cNvSpPr/>
          <p:nvPr/>
        </p:nvSpPr>
        <p:spPr>
          <a:xfrm>
            <a:off x="1569600" y="6417000"/>
            <a:ext cx="435672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480" cy="575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Sources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4" name="PlaceHolder 2"/>
          <p:cNvSpPr>
            <a:spLocks noGrp="1"/>
          </p:cNvSpPr>
          <p:nvPr>
            <p:ph/>
          </p:nvPr>
        </p:nvSpPr>
        <p:spPr>
          <a:xfrm>
            <a:off x="543960" y="1471680"/>
            <a:ext cx="11103480" cy="45727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Bla bla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Google Shape;235;p14"/>
          <p:cNvSpPr/>
          <p:nvPr/>
        </p:nvSpPr>
        <p:spPr>
          <a:xfrm>
            <a:off x="589680" y="6417000"/>
            <a:ext cx="7480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PlaceHolder 3"/>
          <p:cNvSpPr>
            <a:spLocks noGrp="1"/>
          </p:cNvSpPr>
          <p:nvPr>
            <p:ph type="sldNum" idx="60"/>
          </p:nvPr>
        </p:nvSpPr>
        <p:spPr>
          <a:xfrm>
            <a:off x="11402640" y="6416280"/>
            <a:ext cx="244800" cy="2448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9936BC4-E928-4F13-B329-A79EE4432CC1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64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361E47"/>
      </a:dk1>
      <a:lt1>
        <a:srgbClr val="FFFFFF"/>
      </a:lt1>
      <a:dk2>
        <a:srgbClr val="A7A7A7"/>
      </a:dk2>
      <a:lt2>
        <a:srgbClr val="535353"/>
      </a:lt2>
      <a:accent1>
        <a:srgbClr val="E00514"/>
      </a:accent1>
      <a:accent2>
        <a:srgbClr val="A42564"/>
      </a:accent2>
      <a:accent3>
        <a:srgbClr val="5E3EE1"/>
      </a:accent3>
      <a:accent4>
        <a:srgbClr val="F6D0F1"/>
      </a:accent4>
      <a:accent5>
        <a:srgbClr val="B44D79"/>
      </a:accent5>
      <a:accent6>
        <a:srgbClr val="7E63E8"/>
      </a:accent6>
      <a:hlink>
        <a:srgbClr val="0000FF"/>
      </a:hlink>
      <a:folHlink>
        <a:srgbClr val="FF00FF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56</TotalTime>
  <Application>LibreOffice/26.2.5.2$Windows_X86_64 LibreOffice_project/cd7284b4cbbfeb507e630c1aac019f4157393acb</Application>
  <AppVersion>15.0000</AppVersion>
  <Words>2324</Words>
  <Paragraphs>463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de-DE</dc:language>
  <cp:lastModifiedBy/>
  <dcterms:modified xsi:type="dcterms:W3CDTF">2026-08-17T16:56:40Z</dcterms:modified>
  <cp:revision>50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6</vt:i4>
  </property>
  <property fmtid="{D5CDD505-2E9C-101B-9397-08002B2CF9AE}" pid="3" name="Notes">
    <vt:i4>27</vt:i4>
  </property>
  <property fmtid="{D5CDD505-2E9C-101B-9397-08002B2CF9AE}" pid="4" name="PresentationFormat">
    <vt:lpwstr>Breitbild</vt:lpwstr>
  </property>
  <property fmtid="{D5CDD505-2E9C-101B-9397-08002B2CF9AE}" pid="5" name="Slides">
    <vt:i4>45</vt:i4>
  </property>
</Properties>
</file>