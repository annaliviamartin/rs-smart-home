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4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media/image16.svg" ContentType="image/svg"/>
  <Override PartName="/ppt/media/image18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35.svg" ContentType="image/svg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6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dt" idx="1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ftr" idx="1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1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A053150-5157-4E36-B769-06ECB6412759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200" cy="342720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200" cy="34272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200" cy="342720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6 – Race Condition: WIP Limits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Testing-Spalte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Maximal 3 Tasks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einen Task hinein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sehen zunächst dieselbe Anzahl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Operationen erfolgreich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überschritten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ReentrantLock pro 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WIP-Prüfung und Update in einer kritischen Sektion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Locking initially only covered tasks, extending it to boards and columns required a full restructuring (tests and code, via an abstract lock service)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Keeping frontend state consistent required precise timing of WebSocket updates across all clients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Understanding synchronization deeply mattered more than just getting the code to run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5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71BAC3F-D119-45FD-9DDB-CA068A1A7B0C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2467800" y="1484280"/>
            <a:ext cx="7254720" cy="219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2467800" y="3681360"/>
            <a:ext cx="72547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0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" name="Google Shape;51;p24" descr="Grafik 6"/>
          <p:cNvPicPr/>
          <p:nvPr/>
        </p:nvPicPr>
        <p:blipFill>
          <a:blip r:embed="rId3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PlaceHolder 3"/>
          <p:cNvSpPr>
            <a:spLocks noGrp="1"/>
          </p:cNvSpPr>
          <p:nvPr>
            <p:ph type="sldNum" idx="2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02709F-0E1C-458A-A968-88D486F34F4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body"/>
          </p:nvPr>
        </p:nvSpPr>
        <p:spPr>
          <a:xfrm>
            <a:off x="6294600" y="0"/>
            <a:ext cx="5895720" cy="6856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294600" y="0"/>
            <a:ext cx="5895720" cy="6856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1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12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sldNum" idx="3"/>
          </p:nvPr>
        </p:nvSpPr>
        <p:spPr>
          <a:xfrm>
            <a:off x="5892840" y="6233760"/>
            <a:ext cx="28429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908153-4EF1-4935-B17D-C4D2FB0C66E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Titelfolie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84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sldNum" idx="4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A924AC-EDBF-4814-A3AF-D269012D74B9}" type="slidenum"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1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12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4240" cy="5205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sldNum" idx="5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C2B901-8298-4B16-B2B7-68011EE7681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6_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" name="Google Shape;63;p26" descr="Grafik 6"/>
          <p:cNvPicPr/>
          <p:nvPr/>
        </p:nvPicPr>
        <p:blipFill>
          <a:blip r:embed="rId3"/>
          <a:stretch/>
        </p:blipFill>
        <p:spPr>
          <a:xfrm>
            <a:off x="10081440" y="399240"/>
            <a:ext cx="179136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406200" y="1484280"/>
            <a:ext cx="2294640" cy="229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9351720" y="1484280"/>
            <a:ext cx="2294640" cy="229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16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386040" y="3937320"/>
            <a:ext cx="2314800" cy="1074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body"/>
          </p:nvPr>
        </p:nvSpPr>
        <p:spPr>
          <a:xfrm>
            <a:off x="9372960" y="3937320"/>
            <a:ext cx="2314800" cy="1074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Google Shape;69;p26" descr="Grafik 2"/>
          <p:cNvPicPr/>
          <p:nvPr/>
        </p:nvPicPr>
        <p:blipFill>
          <a:blip r:embed="rId4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PlaceHolder 7"/>
          <p:cNvSpPr>
            <a:spLocks noGrp="1"/>
          </p:cNvSpPr>
          <p:nvPr>
            <p:ph type="sldNum" idx="6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67C7D6-C4FE-47C3-994F-24893FE7B7F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Google Shape;72;p27" descr="Grafik 2"/>
          <p:cNvPicPr/>
          <p:nvPr/>
        </p:nvPicPr>
        <p:blipFill>
          <a:blip r:embed="rId3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PlaceHolder 1"/>
          <p:cNvSpPr>
            <a:spLocks noGrp="1"/>
          </p:cNvSpPr>
          <p:nvPr>
            <p:ph type="sldNum" idx="7"/>
          </p:nvPr>
        </p:nvSpPr>
        <p:spPr>
          <a:xfrm>
            <a:off x="5892840" y="6233760"/>
            <a:ext cx="28429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241827-56D6-4433-8F81-9E1875CE56F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1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12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Google Shape;13;p16" descr="Grafik 7"/>
          <p:cNvPicPr/>
          <p:nvPr/>
        </p:nvPicPr>
        <p:blipFill>
          <a:blip r:embed="rId3"/>
          <a:srcRect l="0" t="33697" r="9034" b="0"/>
          <a:stretch/>
        </p:blipFill>
        <p:spPr>
          <a:xfrm>
            <a:off x="4588200" y="0"/>
            <a:ext cx="7602120" cy="65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PlaceHolder 3"/>
          <p:cNvSpPr>
            <a:spLocks noGrp="1"/>
          </p:cNvSpPr>
          <p:nvPr>
            <p:ph type="sldNum" idx="8"/>
          </p:nvPr>
        </p:nvSpPr>
        <p:spPr>
          <a:xfrm>
            <a:off x="5892840" y="6233760"/>
            <a:ext cx="28429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A9EABE-3EC0-48E4-9D4E-90090F6833E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9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1B75E8-2BD1-4AB9-8399-401BD2A1E33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10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6C9CAD-9D08-4D8C-ADF2-1603CE88DE6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sldNum" idx="11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C6058A-4E78-47F3-8CEF-D16508901E5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Titelfolie"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84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" name="Google Shape;22;p18" descr="Grafik 3"/>
          <p:cNvPicPr/>
          <p:nvPr/>
        </p:nvPicPr>
        <p:blipFill>
          <a:blip r:embed="rId3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PlaceHolder 3"/>
          <p:cNvSpPr>
            <a:spLocks noGrp="1"/>
          </p:cNvSpPr>
          <p:nvPr>
            <p:ph type="sldNum" idx="12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68629D-B521-4867-9A2F-6EE16E58321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524016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70000" lnSpcReduction="1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16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13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631901-B901-40F4-8C59-401AB63FC26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4240" cy="5205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16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14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C369F2-5A15-4013-9177-9BDAC264832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&lt;Foliennummer&gt;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" name="Google Shape;57;p25"/>
          <p:cNvGrpSpPr/>
          <p:nvPr/>
        </p:nvGrpSpPr>
        <p:grpSpPr>
          <a:xfrm>
            <a:off x="10884240" y="488880"/>
            <a:ext cx="889560" cy="213120"/>
            <a:chOff x="10884240" y="488880"/>
            <a:chExt cx="889560" cy="213120"/>
          </a:xfrm>
        </p:grpSpPr>
        <p:sp>
          <p:nvSpPr>
            <p:cNvPr id="4" name="Google Shape;58;p25"/>
            <p:cNvSpPr/>
            <p:nvPr/>
          </p:nvSpPr>
          <p:spPr>
            <a:xfrm>
              <a:off x="10884240" y="490680"/>
              <a:ext cx="675000" cy="211320"/>
            </a:xfrm>
            <a:custGeom>
              <a:avLst/>
              <a:gdLst>
                <a:gd name="textAreaLeft" fmla="*/ 0 w 675000"/>
                <a:gd name="textAreaRight" fmla="*/ 676800 w 675000"/>
                <a:gd name="textAreaTop" fmla="*/ 0 h 211320"/>
                <a:gd name="textAreaBottom" fmla="*/ 213120 h 21132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0" y="0"/>
                  </a:moveTo>
                  <a:lnTo>
                    <a:pt x="1171" y="0"/>
                  </a:lnTo>
                  <a:lnTo>
                    <a:pt x="1171" y="7880"/>
                  </a:lnTo>
                  <a:lnTo>
                    <a:pt x="1201" y="7880"/>
                  </a:lnTo>
                  <a:cubicBezTo>
                    <a:pt x="1528" y="6418"/>
                    <a:pt x="2045" y="5707"/>
                    <a:pt x="2555" y="5707"/>
                  </a:cubicBezTo>
                  <a:cubicBezTo>
                    <a:pt x="3661" y="5707"/>
                    <a:pt x="4276" y="7850"/>
                    <a:pt x="4276" y="11496"/>
                  </a:cubicBezTo>
                  <a:lnTo>
                    <a:pt x="4276" y="21285"/>
                  </a:lnTo>
                  <a:lnTo>
                    <a:pt x="3105" y="21285"/>
                  </a:lnTo>
                  <a:lnTo>
                    <a:pt x="3105" y="12430"/>
                  </a:lnTo>
                  <a:cubicBezTo>
                    <a:pt x="3105" y="10135"/>
                    <a:pt x="2788" y="8906"/>
                    <a:pt x="2192" y="8906"/>
                  </a:cubicBezTo>
                  <a:cubicBezTo>
                    <a:pt x="1548" y="8906"/>
                    <a:pt x="1175" y="10125"/>
                    <a:pt x="1175" y="12724"/>
                  </a:cubicBezTo>
                  <a:lnTo>
                    <a:pt x="1175" y="21285"/>
                  </a:lnTo>
                  <a:lnTo>
                    <a:pt x="3" y="21285"/>
                  </a:lnTo>
                  <a:lnTo>
                    <a:pt x="3" y="0"/>
                  </a:lnTo>
                  <a:close/>
                  <a:moveTo>
                    <a:pt x="5160" y="18645"/>
                  </a:moveTo>
                  <a:cubicBezTo>
                    <a:pt x="5650" y="20879"/>
                    <a:pt x="6475" y="21600"/>
                    <a:pt x="7361" y="21600"/>
                  </a:cubicBezTo>
                  <a:cubicBezTo>
                    <a:pt x="8369" y="21600"/>
                    <a:pt x="9534" y="19924"/>
                    <a:pt x="9534" y="16411"/>
                  </a:cubicBezTo>
                  <a:cubicBezTo>
                    <a:pt x="9534" y="14116"/>
                    <a:pt x="9053" y="12653"/>
                    <a:pt x="8219" y="12146"/>
                  </a:cubicBezTo>
                  <a:lnTo>
                    <a:pt x="7479" y="11699"/>
                  </a:lnTo>
                  <a:cubicBezTo>
                    <a:pt x="6969" y="11404"/>
                    <a:pt x="6547" y="11252"/>
                    <a:pt x="6547" y="10175"/>
                  </a:cubicBezTo>
                  <a:cubicBezTo>
                    <a:pt x="6547" y="9008"/>
                    <a:pt x="6884" y="8480"/>
                    <a:pt x="7345" y="8480"/>
                  </a:cubicBezTo>
                  <a:cubicBezTo>
                    <a:pt x="7806" y="8480"/>
                    <a:pt x="8153" y="8926"/>
                    <a:pt x="8441" y="9972"/>
                  </a:cubicBezTo>
                  <a:lnTo>
                    <a:pt x="9288" y="8185"/>
                  </a:lnTo>
                  <a:cubicBezTo>
                    <a:pt x="8876" y="6367"/>
                    <a:pt x="8242" y="5677"/>
                    <a:pt x="7358" y="5677"/>
                  </a:cubicBezTo>
                  <a:cubicBezTo>
                    <a:pt x="6311" y="5677"/>
                    <a:pt x="5408" y="7494"/>
                    <a:pt x="5408" y="10693"/>
                  </a:cubicBezTo>
                  <a:cubicBezTo>
                    <a:pt x="5408" y="12988"/>
                    <a:pt x="5948" y="14217"/>
                    <a:pt x="6753" y="14664"/>
                  </a:cubicBezTo>
                  <a:lnTo>
                    <a:pt x="7397" y="15020"/>
                  </a:lnTo>
                  <a:cubicBezTo>
                    <a:pt x="8062" y="15375"/>
                    <a:pt x="8320" y="15649"/>
                    <a:pt x="8320" y="16837"/>
                  </a:cubicBezTo>
                  <a:cubicBezTo>
                    <a:pt x="8320" y="18208"/>
                    <a:pt x="7829" y="18716"/>
                    <a:pt x="7348" y="18716"/>
                  </a:cubicBezTo>
                  <a:cubicBezTo>
                    <a:pt x="6792" y="18716"/>
                    <a:pt x="6301" y="17975"/>
                    <a:pt x="5994" y="16715"/>
                  </a:cubicBezTo>
                  <a:lnTo>
                    <a:pt x="5166" y="18655"/>
                  </a:lnTo>
                  <a:moveTo>
                    <a:pt x="10447" y="21275"/>
                  </a:moveTo>
                  <a:lnTo>
                    <a:pt x="11618" y="21275"/>
                  </a:lnTo>
                  <a:lnTo>
                    <a:pt x="11618" y="13456"/>
                  </a:lnTo>
                  <a:cubicBezTo>
                    <a:pt x="11618" y="10622"/>
                    <a:pt x="12282" y="9038"/>
                    <a:pt x="13165" y="9038"/>
                  </a:cubicBezTo>
                  <a:cubicBezTo>
                    <a:pt x="13329" y="9038"/>
                    <a:pt x="13453" y="9038"/>
                    <a:pt x="13607" y="9130"/>
                  </a:cubicBezTo>
                  <a:lnTo>
                    <a:pt x="13607" y="5788"/>
                  </a:lnTo>
                  <a:cubicBezTo>
                    <a:pt x="13483" y="5697"/>
                    <a:pt x="13339" y="5697"/>
                    <a:pt x="13215" y="5697"/>
                  </a:cubicBezTo>
                  <a:cubicBezTo>
                    <a:pt x="12629" y="5697"/>
                    <a:pt x="11899" y="6916"/>
                    <a:pt x="11608" y="8530"/>
                  </a:cubicBezTo>
                  <a:lnTo>
                    <a:pt x="11589" y="8530"/>
                  </a:lnTo>
                  <a:lnTo>
                    <a:pt x="11589" y="5992"/>
                  </a:lnTo>
                  <a:lnTo>
                    <a:pt x="10443" y="5992"/>
                  </a:lnTo>
                  <a:lnTo>
                    <a:pt x="10443" y="21265"/>
                  </a:lnTo>
                  <a:close/>
                  <a:moveTo>
                    <a:pt x="14405" y="21275"/>
                  </a:moveTo>
                  <a:lnTo>
                    <a:pt x="15577" y="21275"/>
                  </a:lnTo>
                  <a:lnTo>
                    <a:pt x="15577" y="12298"/>
                  </a:lnTo>
                  <a:cubicBezTo>
                    <a:pt x="15577" y="9759"/>
                    <a:pt x="16117" y="8896"/>
                    <a:pt x="16529" y="8896"/>
                  </a:cubicBezTo>
                  <a:cubicBezTo>
                    <a:pt x="17239" y="8896"/>
                    <a:pt x="17422" y="10511"/>
                    <a:pt x="17422" y="12450"/>
                  </a:cubicBezTo>
                  <a:lnTo>
                    <a:pt x="17422" y="21285"/>
                  </a:lnTo>
                  <a:lnTo>
                    <a:pt x="18593" y="21285"/>
                  </a:lnTo>
                  <a:lnTo>
                    <a:pt x="18593" y="12481"/>
                  </a:lnTo>
                  <a:cubicBezTo>
                    <a:pt x="18593" y="10480"/>
                    <a:pt x="18871" y="8896"/>
                    <a:pt x="19536" y="8896"/>
                  </a:cubicBezTo>
                  <a:cubicBezTo>
                    <a:pt x="20200" y="8896"/>
                    <a:pt x="20429" y="10328"/>
                    <a:pt x="20429" y="12389"/>
                  </a:cubicBezTo>
                  <a:lnTo>
                    <a:pt x="20429" y="21275"/>
                  </a:lnTo>
                  <a:lnTo>
                    <a:pt x="21600" y="21275"/>
                  </a:lnTo>
                  <a:lnTo>
                    <a:pt x="21600" y="11069"/>
                  </a:lnTo>
                  <a:cubicBezTo>
                    <a:pt x="21600" y="7342"/>
                    <a:pt x="20792" y="5697"/>
                    <a:pt x="19879" y="5697"/>
                  </a:cubicBezTo>
                  <a:cubicBezTo>
                    <a:pt x="19205" y="5697"/>
                    <a:pt x="18708" y="6591"/>
                    <a:pt x="18361" y="7962"/>
                  </a:cubicBezTo>
                  <a:lnTo>
                    <a:pt x="18351" y="7962"/>
                  </a:lnTo>
                  <a:cubicBezTo>
                    <a:pt x="18044" y="6499"/>
                    <a:pt x="17602" y="5697"/>
                    <a:pt x="16948" y="5697"/>
                  </a:cubicBezTo>
                  <a:cubicBezTo>
                    <a:pt x="16372" y="5697"/>
                    <a:pt x="15891" y="6438"/>
                    <a:pt x="15554" y="7850"/>
                  </a:cubicBezTo>
                  <a:lnTo>
                    <a:pt x="15534" y="7850"/>
                  </a:lnTo>
                  <a:lnTo>
                    <a:pt x="15534" y="6002"/>
                  </a:lnTo>
                  <a:lnTo>
                    <a:pt x="14399" y="6002"/>
                  </a:lnTo>
                  <a:lnTo>
                    <a:pt x="14399" y="21275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tIns="45000" rIns="45720" bIns="45000" anchor="ctr">
              <a:noAutofit/>
            </a:bodyPr>
            <a:p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Google Shape;59;p25"/>
            <p:cNvSpPr/>
            <p:nvPr/>
          </p:nvSpPr>
          <p:spPr>
            <a:xfrm>
              <a:off x="11617920" y="488880"/>
              <a:ext cx="155880" cy="149040"/>
            </a:xfrm>
            <a:custGeom>
              <a:avLst/>
              <a:gdLst>
                <a:gd name="textAreaLeft" fmla="*/ 0 w 155880"/>
                <a:gd name="textAreaRight" fmla="*/ 157680 w 155880"/>
                <a:gd name="textAreaTop" fmla="*/ 0 h 149040"/>
                <a:gd name="textAreaBottom" fmla="*/ 150840 h 149040"/>
              </a:gdLst>
              <a:ahLst/>
              <a:cxnLst/>
              <a:rect l="textAreaLeft" t="textAreaTop" r="textAreaRight" b="textAreaBottom"/>
              <a:pathLst>
                <a:path w="21540" h="21587">
                  <a:moveTo>
                    <a:pt x="21456" y="11124"/>
                  </a:moveTo>
                  <a:lnTo>
                    <a:pt x="20699" y="12514"/>
                  </a:lnTo>
                  <a:cubicBezTo>
                    <a:pt x="20573" y="12729"/>
                    <a:pt x="20348" y="12858"/>
                    <a:pt x="20110" y="12858"/>
                  </a:cubicBezTo>
                  <a:lnTo>
                    <a:pt x="12793" y="12858"/>
                  </a:lnTo>
                  <a:lnTo>
                    <a:pt x="13775" y="14607"/>
                  </a:lnTo>
                  <a:cubicBezTo>
                    <a:pt x="13887" y="14822"/>
                    <a:pt x="13887" y="15080"/>
                    <a:pt x="13775" y="15280"/>
                  </a:cubicBezTo>
                  <a:lnTo>
                    <a:pt x="12990" y="16685"/>
                  </a:lnTo>
                  <a:cubicBezTo>
                    <a:pt x="12864" y="16886"/>
                    <a:pt x="12653" y="17015"/>
                    <a:pt x="12415" y="17015"/>
                  </a:cubicBezTo>
                  <a:lnTo>
                    <a:pt x="10859" y="17015"/>
                  </a:lnTo>
                  <a:cubicBezTo>
                    <a:pt x="10621" y="17043"/>
                    <a:pt x="10411" y="16900"/>
                    <a:pt x="10284" y="16699"/>
                  </a:cubicBezTo>
                  <a:lnTo>
                    <a:pt x="9275" y="14922"/>
                  </a:lnTo>
                  <a:lnTo>
                    <a:pt x="5701" y="21243"/>
                  </a:lnTo>
                  <a:cubicBezTo>
                    <a:pt x="5589" y="21458"/>
                    <a:pt x="5365" y="21587"/>
                    <a:pt x="5126" y="21587"/>
                  </a:cubicBezTo>
                  <a:lnTo>
                    <a:pt x="3570" y="21587"/>
                  </a:lnTo>
                  <a:cubicBezTo>
                    <a:pt x="3332" y="21573"/>
                    <a:pt x="3122" y="21444"/>
                    <a:pt x="3010" y="21243"/>
                  </a:cubicBezTo>
                  <a:lnTo>
                    <a:pt x="2211" y="19867"/>
                  </a:lnTo>
                  <a:cubicBezTo>
                    <a:pt x="2085" y="19652"/>
                    <a:pt x="2085" y="19394"/>
                    <a:pt x="2211" y="19179"/>
                  </a:cubicBezTo>
                  <a:lnTo>
                    <a:pt x="5785" y="12858"/>
                  </a:lnTo>
                  <a:lnTo>
                    <a:pt x="1426" y="12858"/>
                  </a:lnTo>
                  <a:cubicBezTo>
                    <a:pt x="1188" y="12858"/>
                    <a:pt x="977" y="12729"/>
                    <a:pt x="851" y="12514"/>
                  </a:cubicBezTo>
                  <a:lnTo>
                    <a:pt x="94" y="11124"/>
                  </a:lnTo>
                  <a:cubicBezTo>
                    <a:pt x="-32" y="10923"/>
                    <a:pt x="-32" y="10665"/>
                    <a:pt x="94" y="10464"/>
                  </a:cubicBezTo>
                  <a:lnTo>
                    <a:pt x="851" y="9074"/>
                  </a:lnTo>
                  <a:cubicBezTo>
                    <a:pt x="977" y="8859"/>
                    <a:pt x="1188" y="8730"/>
                    <a:pt x="1426" y="8730"/>
                  </a:cubicBezTo>
                  <a:lnTo>
                    <a:pt x="5799" y="8730"/>
                  </a:lnTo>
                  <a:lnTo>
                    <a:pt x="2225" y="2381"/>
                  </a:lnTo>
                  <a:cubicBezTo>
                    <a:pt x="2113" y="2180"/>
                    <a:pt x="2113" y="1908"/>
                    <a:pt x="2239" y="1707"/>
                  </a:cubicBezTo>
                  <a:lnTo>
                    <a:pt x="3024" y="331"/>
                  </a:lnTo>
                  <a:cubicBezTo>
                    <a:pt x="3150" y="130"/>
                    <a:pt x="3360" y="1"/>
                    <a:pt x="3584" y="1"/>
                  </a:cubicBezTo>
                  <a:lnTo>
                    <a:pt x="5154" y="1"/>
                  </a:lnTo>
                  <a:cubicBezTo>
                    <a:pt x="5393" y="-13"/>
                    <a:pt x="5617" y="116"/>
                    <a:pt x="5729" y="331"/>
                  </a:cubicBezTo>
                  <a:lnTo>
                    <a:pt x="9303" y="6666"/>
                  </a:lnTo>
                  <a:lnTo>
                    <a:pt x="10284" y="4918"/>
                  </a:lnTo>
                  <a:cubicBezTo>
                    <a:pt x="10397" y="4717"/>
                    <a:pt x="10621" y="4588"/>
                    <a:pt x="10845" y="4574"/>
                  </a:cubicBezTo>
                  <a:lnTo>
                    <a:pt x="12429" y="4574"/>
                  </a:lnTo>
                  <a:cubicBezTo>
                    <a:pt x="12667" y="4574"/>
                    <a:pt x="12878" y="4703"/>
                    <a:pt x="13004" y="4903"/>
                  </a:cubicBezTo>
                  <a:lnTo>
                    <a:pt x="13789" y="6279"/>
                  </a:lnTo>
                  <a:cubicBezTo>
                    <a:pt x="13915" y="6480"/>
                    <a:pt x="13915" y="6752"/>
                    <a:pt x="13789" y="6953"/>
                  </a:cubicBezTo>
                  <a:lnTo>
                    <a:pt x="12779" y="8730"/>
                  </a:lnTo>
                  <a:lnTo>
                    <a:pt x="20082" y="8730"/>
                  </a:lnTo>
                  <a:cubicBezTo>
                    <a:pt x="20320" y="8730"/>
                    <a:pt x="20545" y="8859"/>
                    <a:pt x="20657" y="9060"/>
                  </a:cubicBezTo>
                  <a:lnTo>
                    <a:pt x="21456" y="10450"/>
                  </a:lnTo>
                  <a:cubicBezTo>
                    <a:pt x="21568" y="10665"/>
                    <a:pt x="21568" y="10923"/>
                    <a:pt x="21456" y="11124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5720" tIns="45000" rIns="45720" bIns="45000" anchor="ctr">
              <a:noAutofit/>
            </a:bodyPr>
            <a:p>
              <a:endParaRPr lang="de-DE" sz="1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" name="PlaceHolder 1"/>
          <p:cNvSpPr>
            <a:spLocks noGrp="1"/>
          </p:cNvSpPr>
          <p:nvPr>
            <p:ph type="sldNum" idx="1"/>
          </p:nvPr>
        </p:nvSpPr>
        <p:spPr>
          <a:xfrm>
            <a:off x="11402640" y="6416640"/>
            <a:ext cx="243720" cy="244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CF0B40-62CB-47B9-86E3-68E5985D105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4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image" Target="../media/image14.png"/><Relationship Id="rId4" Type="http://schemas.openxmlformats.org/officeDocument/2006/relationships/image" Target="../media/image23.png"/><Relationship Id="rId5" Type="http://schemas.openxmlformats.org/officeDocument/2006/relationships/image" Target="../media/image24.svg"/><Relationship Id="rId6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6.png"/><Relationship Id="rId8" Type="http://schemas.openxmlformats.org/officeDocument/2006/relationships/image" Target="../media/image5.png"/><Relationship Id="rId9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4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6.png"/><Relationship Id="rId9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svg"/><Relationship Id="rId3" Type="http://schemas.openxmlformats.org/officeDocument/2006/relationships/slideLayout" Target="../slideLayouts/slideLayout4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svg"/><Relationship Id="rId3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1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Reliable Software – </a:t>
            </a:r>
            <a:br>
              <a:rPr sz="3340"/>
            </a:b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Smart Home System</a:t>
            </a:r>
            <a:endParaRPr lang="de-DE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5012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0;p1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Google Shape;81;p1" descr="Grafik 7"/>
          <p:cNvPicPr/>
          <p:nvPr/>
        </p:nvPicPr>
        <p:blipFill>
          <a:blip r:embed="rId1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" name="Grafik 14"/>
          <p:cNvPicPr/>
          <p:nvPr/>
        </p:nvPicPr>
        <p:blipFill>
          <a:blip r:embed="rId2"/>
          <a:stretch/>
        </p:blipFill>
        <p:spPr>
          <a:xfrm>
            <a:off x="5760000" y="3471120"/>
            <a:ext cx="3707640" cy="447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Grafik 16"/>
          <p:cNvPicPr/>
          <p:nvPr/>
        </p:nvPicPr>
        <p:blipFill>
          <a:blip r:embed="rId3"/>
          <a:stretch/>
        </p:blipFill>
        <p:spPr>
          <a:xfrm>
            <a:off x="8508240" y="2700000"/>
            <a:ext cx="3804840" cy="5446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6;p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1080000" y="198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Wo befindet sich eine Person?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89;p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sldNum" idx="18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A0C7674-8219-408E-854A-8468F6DC3E1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4"/>
          <p:cNvSpPr txBox="1"/>
          <p:nvPr/>
        </p:nvSpPr>
        <p:spPr>
          <a:xfrm>
            <a:off x="1440000" y="3104280"/>
            <a:ext cx="486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Ist eine Tür geöffnet oder geschlossen?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5"/>
          <p:cNvSpPr txBox="1"/>
          <p:nvPr/>
        </p:nvSpPr>
        <p:spPr>
          <a:xfrm>
            <a:off x="5763960" y="252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und Türen gibt es?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7"/>
          <p:cNvSpPr txBox="1"/>
          <p:nvPr/>
        </p:nvSpPr>
        <p:spPr>
          <a:xfrm>
            <a:off x="5400000" y="3868560"/>
            <a:ext cx="504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 fontScale="850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sind miteinander verbunden?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9"/>
          <p:cNvSpPr txBox="1"/>
          <p:nvPr/>
        </p:nvSpPr>
        <p:spPr>
          <a:xfrm>
            <a:off x="540000" y="486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Darf eine Person die Tür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10"/>
          <p:cNvSpPr txBox="1"/>
          <p:nvPr/>
        </p:nvSpPr>
        <p:spPr>
          <a:xfrm>
            <a:off x="5220000" y="4904280"/>
            <a:ext cx="504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Was passiert während des Durchgangs?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86;p 8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1623960" y="184428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Wo befindet sich eine Person?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89;p 8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sldNum" idx="19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0932DF4-D9F6-4D5D-9C3D-38A6AEB32CA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20"/>
          <p:cNvSpPr txBox="1"/>
          <p:nvPr/>
        </p:nvSpPr>
        <p:spPr>
          <a:xfrm>
            <a:off x="1080000" y="2852280"/>
            <a:ext cx="486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Ist eine Tür geöffnet oder geschlossen?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1"/>
          <p:cNvSpPr txBox="1"/>
          <p:nvPr/>
        </p:nvSpPr>
        <p:spPr>
          <a:xfrm>
            <a:off x="6123960" y="234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und Türen gibt es?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2"/>
          <p:cNvSpPr txBox="1"/>
          <p:nvPr/>
        </p:nvSpPr>
        <p:spPr>
          <a:xfrm>
            <a:off x="5400000" y="4068000"/>
            <a:ext cx="504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 fontScale="85000" lnSpcReduction="9999"/>
          </a:bodyPr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sind miteinander verbunden?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3"/>
          <p:cNvSpPr txBox="1"/>
          <p:nvPr/>
        </p:nvSpPr>
        <p:spPr>
          <a:xfrm>
            <a:off x="540000" y="486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Darf eine Person die Tür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4"/>
          <p:cNvSpPr txBox="1"/>
          <p:nvPr/>
        </p:nvSpPr>
        <p:spPr>
          <a:xfrm>
            <a:off x="5220000" y="4904280"/>
            <a:ext cx="504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Was passiert während des Durchgangs?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14"/>
          <p:cNvSpPr txBox="1"/>
          <p:nvPr/>
        </p:nvSpPr>
        <p:spPr>
          <a:xfrm>
            <a:off x="1512000" y="3348000"/>
            <a:ext cx="9540000" cy="72000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4000" b="1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Zugangssicherheit beweisen?</a:t>
            </a:r>
            <a:endParaRPr lang="de-DE" sz="40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95;p 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46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Grundlegende räumliche Struktur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Übersicht Gebäudestruktur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98;p 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sldNum" idx="20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5005E0-53D3-418A-ADE6-41617315914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86;p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Gebäudestruktur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89;p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21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1D2DB4-013E-40E7-BF10-D5358193489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3" name=""/>
          <p:cNvPicPr/>
          <p:nvPr/>
        </p:nvPicPr>
        <p:blipFill>
          <a:blip r:embed="rId1"/>
          <a:stretch/>
        </p:blipFill>
        <p:spPr>
          <a:xfrm>
            <a:off x="5580000" y="360000"/>
            <a:ext cx="4680000" cy="609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PlaceHolder 15"/>
          <p:cNvSpPr txBox="1"/>
          <p:nvPr/>
        </p:nvSpPr>
        <p:spPr>
          <a:xfrm>
            <a:off x="543960" y="1484640"/>
            <a:ext cx="4496040" cy="457164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Jede Person = ein Ort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Tür verbindet zwei Räume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Tür kann geöffnet/geschlossen sein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 darf nur bei geöffneter Tür passieren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Keine Teleportation ermöglichen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86;p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Weitere Grundgesetze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Alle Räume sind von allen Räumen aus erreichbar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Um das Gebäude herum existiert ein Außenbereich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Der Außenbereich kann nur durch eine Eingangstür betreten werden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Jeder Nachbarraum eines Raums ist wiederum Nachbar des Nachbarraums (Symmetrie)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89;p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22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DDFEFD-8A56-4A77-8C2E-72872F6E48E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95;p 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46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Alloy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Event B: Aufbau und schrittweise Verfeinerung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98;p 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23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00409B-CBD8-44DC-AA39-267422CA230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sldNum" idx="24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48D839-9CC1-4F99-AFB7-FC84C7E9809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9" name="Grafik 2"/>
          <p:cNvPicPr/>
          <p:nvPr/>
        </p:nvPicPr>
        <p:blipFill>
          <a:blip r:embed="rId1"/>
          <a:stretch/>
        </p:blipFill>
        <p:spPr>
          <a:xfrm>
            <a:off x="2303640" y="1268280"/>
            <a:ext cx="7583040" cy="457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sldNum" idx="25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E0F743C-74BD-4927-9E4B-3C5C045C3D1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4" name="Grafik 10"/>
          <p:cNvPicPr/>
          <p:nvPr/>
        </p:nvPicPr>
        <p:blipFill>
          <a:blip r:embed="rId1"/>
          <a:stretch/>
        </p:blipFill>
        <p:spPr>
          <a:xfrm>
            <a:off x="6013800" y="2561760"/>
            <a:ext cx="4980960" cy="195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Textfeld 11"/>
          <p:cNvSpPr/>
          <p:nvPr/>
        </p:nvSpPr>
        <p:spPr>
          <a:xfrm>
            <a:off x="589680" y="1268280"/>
            <a:ext cx="4249800" cy="432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abstract sig PERSON{}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BEWOHNER extends PERSON 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GAST extends PERSON 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abstract sig ORT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var personenImOrtGrob: set PERSON,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var personenImOrtFein: set PERSON,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nachbarn: some ORT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RAUM extends ORT {}{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nachbarn in TUER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GARTEN extends RAUM{}{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one nachbarn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TUER extends ORT{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var offen: one Bool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nachbarn in RAUM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Axiome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sldNum" idx="26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895A82-1FE8-4E99-91FC-6E835F64B01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0" name="Grafik 10"/>
          <p:cNvPicPr/>
          <p:nvPr/>
        </p:nvPicPr>
        <p:blipFill>
          <a:blip r:embed="rId1"/>
          <a:stretch/>
        </p:blipFill>
        <p:spPr>
          <a:xfrm>
            <a:off x="6490800" y="1574280"/>
            <a:ext cx="4980960" cy="195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xtfeld 11"/>
          <p:cNvSpPr/>
          <p:nvPr/>
        </p:nvSpPr>
        <p:spPr>
          <a:xfrm>
            <a:off x="543960" y="1873080"/>
            <a:ext cx="6821280" cy="33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genauEinenGarten { #GARTEN = 1}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alleRaumeInEinemGebaeude {all r: RAUM | r in GARTEN.^nachbarn}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einePersonInGenauEinemOrt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(all p: PERSON | #(p.~personenImOrtGrob) = 1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and #(p.~personenImOrtFein) = 1)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tuerImmerOffenWennPersonEnthalten{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always all t: TUER |  #(t.personenImOrtFein) &gt;= 1 implies t.offen =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alleNachbarnSindSymmetrisch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r: RAUM, t: TUER | r in t.nachbarn &lt;=&gt; t in r.nachbarn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t:TUER, r: RAUM | t in r.nachbarn &lt;=&gt; r in t.nachbarn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tuerVerbindetZweiRaeume {all t: TUER | #t.nachbarn = 2}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sldNum" idx="27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8D53BF-72CD-4ACE-9457-77DC1F34CE2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6" name="Grafik 2"/>
          <p:cNvPicPr/>
          <p:nvPr/>
        </p:nvPicPr>
        <p:blipFill>
          <a:blip r:embed="rId1"/>
          <a:stretch/>
        </p:blipFill>
        <p:spPr>
          <a:xfrm>
            <a:off x="2483640" y="2086560"/>
            <a:ext cx="5133240" cy="200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7" name="Grafik 4"/>
          <p:cNvPicPr/>
          <p:nvPr/>
        </p:nvPicPr>
        <p:blipFill>
          <a:blip r:embed="rId2"/>
          <a:stretch/>
        </p:blipFill>
        <p:spPr>
          <a:xfrm>
            <a:off x="637560" y="4434120"/>
            <a:ext cx="5457240" cy="1875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Grafik 6"/>
          <p:cNvPicPr/>
          <p:nvPr/>
        </p:nvPicPr>
        <p:blipFill>
          <a:blip r:embed="rId3"/>
          <a:stretch/>
        </p:blipFill>
        <p:spPr>
          <a:xfrm>
            <a:off x="6004080" y="2423880"/>
            <a:ext cx="4980960" cy="195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Grafik 3"/>
          <p:cNvPicPr/>
          <p:nvPr/>
        </p:nvPicPr>
        <p:blipFill>
          <a:blip r:embed="rId4"/>
          <a:stretch/>
        </p:blipFill>
        <p:spPr>
          <a:xfrm>
            <a:off x="416160" y="1748880"/>
            <a:ext cx="5066640" cy="198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840" cy="879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Grundlagen für die weiteren Schritte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itel 1"/>
          <p:cNvSpPr/>
          <p:nvPr/>
        </p:nvSpPr>
        <p:spPr>
          <a:xfrm>
            <a:off x="696240" y="3833640"/>
            <a:ext cx="762084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Grobes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" name=""/>
          <p:cNvPicPr/>
          <p:nvPr/>
        </p:nvPicPr>
        <p:blipFill>
          <a:blip r:embed="rId1"/>
          <a:stretch/>
        </p:blipFill>
        <p:spPr>
          <a:xfrm>
            <a:off x="5760000" y="3916800"/>
            <a:ext cx="5866200" cy="135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ldNum" idx="28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1A7D06-380C-4905-90C2-4F10D9DCABD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7" name="Grafik 2"/>
          <p:cNvPicPr/>
          <p:nvPr/>
        </p:nvPicPr>
        <p:blipFill>
          <a:blip r:embed="rId1"/>
          <a:stretch/>
        </p:blipFill>
        <p:spPr>
          <a:xfrm>
            <a:off x="3260520" y="4072320"/>
            <a:ext cx="5330880" cy="123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Textfeld 4"/>
          <p:cNvSpPr/>
          <p:nvPr/>
        </p:nvSpPr>
        <p:spPr>
          <a:xfrm>
            <a:off x="2715840" y="1553400"/>
            <a:ext cx="6759000" cy="22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feld 1"/>
          <p:cNvSpPr/>
          <p:nvPr/>
        </p:nvSpPr>
        <p:spPr>
          <a:xfrm>
            <a:off x="3260520" y="5493600"/>
            <a:ext cx="18777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feld 5"/>
          <p:cNvSpPr/>
          <p:nvPr/>
        </p:nvSpPr>
        <p:spPr>
          <a:xfrm>
            <a:off x="6713640" y="5491440"/>
            <a:ext cx="18777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feil: nach rechts 6"/>
          <p:cNvSpPr/>
          <p:nvPr/>
        </p:nvSpPr>
        <p:spPr>
          <a:xfrm rot="9762600">
            <a:off x="8504640" y="178884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feld 8"/>
          <p:cNvSpPr/>
          <p:nvPr/>
        </p:nvSpPr>
        <p:spPr>
          <a:xfrm>
            <a:off x="9334800" y="1457280"/>
            <a:ext cx="18777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Später von Verfeinerungen definiert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Orte, Räume/Türen, Nachbarschaft symmetrisch, Person genau in einem Raum, Ereignis bewege (Tür offen, Nachbarschaft nötig)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Ort/Raum/Tür/Person, facts für die Grundregeln, pred bewege, erste check/run-Beispiele (z. B. „keine Bewegung ohne offene Tür")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Zustandsdefinition, Funktion bewege, Beweis: Person bleibt nach Bewegung genau einem Raum zugeordnet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29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6C0627-085C-4530-AC79-3BAE08B0F96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84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Verfeinertes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543960" y="4689000"/>
            <a:ext cx="7620840" cy="12013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Umsetzung der Türen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43320" y="3696480"/>
            <a:ext cx="5475600" cy="1522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ldNum" idx="30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CDC60F-3422-4076-AD4E-8723F26DA9B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5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4160" cy="1035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Initialer 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sldNum" idx="31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E26142-FE5F-4D0C-9657-BE99D36A7D3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8560" cy="101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Grafik 5"/>
          <p:cNvPicPr/>
          <p:nvPr/>
        </p:nvPicPr>
        <p:blipFill>
          <a:blip r:embed="rId5"/>
          <a:stretch/>
        </p:blipFill>
        <p:spPr>
          <a:xfrm>
            <a:off x="4581360" y="147888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4" name="Grafik 8"/>
          <p:cNvPicPr/>
          <p:nvPr/>
        </p:nvPicPr>
        <p:blipFill>
          <a:blip r:embed="rId6"/>
          <a:stretch/>
        </p:blipFill>
        <p:spPr>
          <a:xfrm>
            <a:off x="4397040" y="318744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5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6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4920" cy="120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1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sldNum" idx="32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4CA33D-A883-4B38-9C5A-FE73268CF7A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8560" cy="101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3" name="Grafik 5"/>
          <p:cNvPicPr/>
          <p:nvPr/>
        </p:nvPicPr>
        <p:blipFill>
          <a:blip r:embed="rId5"/>
          <a:stretch/>
        </p:blipFill>
        <p:spPr>
          <a:xfrm>
            <a:off x="4581360" y="147888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4" name="Grafik 8"/>
          <p:cNvPicPr/>
          <p:nvPr/>
        </p:nvPicPr>
        <p:blipFill>
          <a:blip r:embed="rId6"/>
          <a:stretch/>
        </p:blipFill>
        <p:spPr>
          <a:xfrm>
            <a:off x="5572440" y="318744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5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6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7" name="Pfeil: nach rechts 4"/>
          <p:cNvSpPr/>
          <p:nvPr/>
        </p:nvSpPr>
        <p:spPr>
          <a:xfrm rot="20607000">
            <a:off x="2684520" y="22824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feld 7"/>
          <p:cNvSpPr/>
          <p:nvPr/>
        </p:nvSpPr>
        <p:spPr>
          <a:xfrm>
            <a:off x="355680" y="2547000"/>
            <a:ext cx="33004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2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sldNum" idx="33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5D1F3E-846D-462D-8AAB-0C37184498F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3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4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890880" y="1989360"/>
            <a:ext cx="4408560" cy="101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5" name="Grafik 5"/>
          <p:cNvPicPr/>
          <p:nvPr/>
        </p:nvPicPr>
        <p:blipFill>
          <a:blip r:embed="rId5"/>
          <a:stretch/>
        </p:blipFill>
        <p:spPr>
          <a:xfrm>
            <a:off x="7570440" y="147888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6" name="Grafik 8"/>
          <p:cNvPicPr/>
          <p:nvPr/>
        </p:nvPicPr>
        <p:blipFill>
          <a:blip r:embed="rId6"/>
          <a:stretch/>
        </p:blipFill>
        <p:spPr>
          <a:xfrm>
            <a:off x="7570440" y="318744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7" name="Grafik 10"/>
          <p:cNvPicPr/>
          <p:nvPr/>
        </p:nvPicPr>
        <p:blipFill>
          <a:blip r:embed="rId7"/>
          <a:stretch/>
        </p:blipFill>
        <p:spPr>
          <a:xfrm>
            <a:off x="3735360" y="12045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Grafik 12"/>
          <p:cNvPicPr/>
          <p:nvPr/>
        </p:nvPicPr>
        <p:blipFill>
          <a:blip r:embed="rId8"/>
          <a:stretch/>
        </p:blipFill>
        <p:spPr>
          <a:xfrm>
            <a:off x="3552840" y="301644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Pfeil: nach rechts 4"/>
          <p:cNvSpPr/>
          <p:nvPr/>
        </p:nvSpPr>
        <p:spPr>
          <a:xfrm rot="20607000">
            <a:off x="2684520" y="22824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feld 7"/>
          <p:cNvSpPr/>
          <p:nvPr/>
        </p:nvSpPr>
        <p:spPr>
          <a:xfrm>
            <a:off x="355680" y="2547000"/>
            <a:ext cx="33004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   o.personenImOrtGrob‘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ldNum" idx="34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4C8EAC-1138-44B0-9495-53691039034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5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6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4160" cy="103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Textfeld 8"/>
          <p:cNvSpPr/>
          <p:nvPr/>
        </p:nvSpPr>
        <p:spPr>
          <a:xfrm>
            <a:off x="543960" y="2838600"/>
            <a:ext cx="546336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elle 3"/>
          <p:cNvGraphicFramePr/>
          <p:nvPr/>
        </p:nvGraphicFramePr>
        <p:xfrm>
          <a:off x="2031840" y="2509200"/>
          <a:ext cx="8127000" cy="148320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  <a:gridCol w="2031840"/>
                <a:gridCol w="203184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86;p 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Tür wird eigener Ort, Ereignisse betreteTuer/verlasseTuer, Zustandsdiagramm ImRaum → InTür → ImRaum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Erweiterung der sigs/facts, neue preds betreteTuer/verlasseTuer, check dass „Bewegung ohne Zwischenzustand in der Tür" nicht mehr direkt zulässig ist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Erweiterte Zustandsdefinition, Beweis, dass Verkettung von betreteTuer und verlasseTuer dasselbe fachliche Ergebnis liefert wie bewege aus Stufe 1 (Refinement-Nachweis)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9;p 1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35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29BBEB-B784-46F8-B729-FFD15264897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2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2500" lnSpcReduction="9999"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Verfeinertes Modell mit Autorisierung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142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580000" y="4860000"/>
            <a:ext cx="5465880" cy="1608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sldNum" idx="36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7522F4-297A-4400-9159-0A477001E3C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2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1280" y="427536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3" name="Grafik 6"/>
          <p:cNvPicPr/>
          <p:nvPr/>
        </p:nvPicPr>
        <p:blipFill>
          <a:blip r:embed="rId3"/>
          <a:stretch/>
        </p:blipFill>
        <p:spPr>
          <a:xfrm>
            <a:off x="6731280" y="15195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Textfeld 8"/>
          <p:cNvSpPr/>
          <p:nvPr/>
        </p:nvSpPr>
        <p:spPr>
          <a:xfrm>
            <a:off x="543960" y="2838600"/>
            <a:ext cx="546336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Grafik 4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731280" y="2963880"/>
            <a:ext cx="4597920" cy="855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sldNum" idx="37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6FD213-A70C-422F-9B2E-DD608FE2F4E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0" name="Grafik 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1" name="Grafik 2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2" name="Grafik 7"/>
          <p:cNvPicPr/>
          <p:nvPr/>
        </p:nvPicPr>
        <p:blipFill>
          <a:blip r:embed="rId5"/>
          <a:stretch/>
        </p:blipFill>
        <p:spPr>
          <a:xfrm>
            <a:off x="4574160" y="184212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3" name="Grafik 10"/>
          <p:cNvPicPr/>
          <p:nvPr/>
        </p:nvPicPr>
        <p:blipFill>
          <a:blip r:embed="rId6"/>
          <a:stretch/>
        </p:blipFill>
        <p:spPr>
          <a:xfrm>
            <a:off x="3727800" y="15681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Multiplikationszeichen 11"/>
          <p:cNvSpPr/>
          <p:nvPr/>
        </p:nvSpPr>
        <p:spPr>
          <a:xfrm>
            <a:off x="5635080" y="4209840"/>
            <a:ext cx="920160" cy="920160"/>
          </a:xfrm>
          <a:prstGeom prst="mathMultiply">
            <a:avLst>
              <a:gd name="adj1" fmla="val 2352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45" name="Grafik 13"/>
          <p:cNvPicPr/>
          <p:nvPr/>
        </p:nvPicPr>
        <p:blipFill>
          <a:blip r:embed="rId7"/>
          <a:stretch/>
        </p:blipFill>
        <p:spPr>
          <a:xfrm>
            <a:off x="4475880" y="367740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6" name="Grafik 15"/>
          <p:cNvPicPr/>
          <p:nvPr/>
        </p:nvPicPr>
        <p:blipFill>
          <a:blip r:embed="rId8"/>
          <a:stretch/>
        </p:blipFill>
        <p:spPr>
          <a:xfrm>
            <a:off x="3629520" y="3403080"/>
            <a:ext cx="844920" cy="120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sldNum" idx="38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6E79A1-D748-403D-8B71-386F3F428F0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1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2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3" name="Grafik 11"/>
          <p:cNvPicPr/>
          <p:nvPr/>
        </p:nvPicPr>
        <p:blipFill>
          <a:blip r:embed="rId5"/>
          <a:stretch/>
        </p:blipFill>
        <p:spPr>
          <a:xfrm>
            <a:off x="4574160" y="184212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4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5" name="Grafik 15"/>
          <p:cNvPicPr/>
          <p:nvPr/>
        </p:nvPicPr>
        <p:blipFill>
          <a:blip r:embed="rId7"/>
          <a:stretch/>
        </p:blipFill>
        <p:spPr>
          <a:xfrm>
            <a:off x="4475880" y="367740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6" name="Grafik 17"/>
          <p:cNvPicPr/>
          <p:nvPr/>
        </p:nvPicPr>
        <p:blipFill>
          <a:blip r:embed="rId8"/>
          <a:stretch/>
        </p:blipFill>
        <p:spPr>
          <a:xfrm>
            <a:off x="3629520" y="340308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Pfeil: nach rechts 27"/>
          <p:cNvSpPr/>
          <p:nvPr/>
        </p:nvSpPr>
        <p:spPr>
          <a:xfrm rot="20607000">
            <a:off x="2576520" y="44784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feld 29"/>
          <p:cNvSpPr/>
          <p:nvPr/>
        </p:nvSpPr>
        <p:spPr>
          <a:xfrm>
            <a:off x="459000" y="5141160"/>
            <a:ext cx="6093360" cy="93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sldNum" idx="39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6C90D6-2A3D-4C58-8F08-89B442CDCA6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3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4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5" name="Grafik 11"/>
          <p:cNvPicPr/>
          <p:nvPr/>
        </p:nvPicPr>
        <p:blipFill>
          <a:blip r:embed="rId5"/>
          <a:stretch/>
        </p:blipFill>
        <p:spPr>
          <a:xfrm>
            <a:off x="4574160" y="184212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6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7" name="Grafik 15"/>
          <p:cNvPicPr/>
          <p:nvPr/>
        </p:nvPicPr>
        <p:blipFill>
          <a:blip r:embed="rId7"/>
          <a:stretch/>
        </p:blipFill>
        <p:spPr>
          <a:xfrm>
            <a:off x="5346000" y="367740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" name="Grafik 17"/>
          <p:cNvPicPr/>
          <p:nvPr/>
        </p:nvPicPr>
        <p:blipFill>
          <a:blip r:embed="rId8"/>
          <a:stretch/>
        </p:blipFill>
        <p:spPr>
          <a:xfrm>
            <a:off x="3629520" y="340308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Pfeil: nach rechts 2"/>
          <p:cNvSpPr/>
          <p:nvPr/>
        </p:nvSpPr>
        <p:spPr>
          <a:xfrm rot="20607000">
            <a:off x="2576520" y="44784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feld 5"/>
          <p:cNvSpPr/>
          <p:nvPr/>
        </p:nvSpPr>
        <p:spPr>
          <a:xfrm>
            <a:off x="459000" y="5141160"/>
            <a:ext cx="6093360" cy="93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sldNum" idx="40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B1770A-282B-4372-AE6D-56D632F03F6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5" name="Grafik 3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6" name="Grafik 8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796560" y="23403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7" name="Grafik 11"/>
          <p:cNvPicPr/>
          <p:nvPr/>
        </p:nvPicPr>
        <p:blipFill>
          <a:blip r:embed="rId5"/>
          <a:stretch/>
        </p:blipFill>
        <p:spPr>
          <a:xfrm>
            <a:off x="6697800" y="184212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8" name="Grafik 13"/>
          <p:cNvPicPr/>
          <p:nvPr/>
        </p:nvPicPr>
        <p:blipFill>
          <a:blip r:embed="rId6"/>
          <a:stretch/>
        </p:blipFill>
        <p:spPr>
          <a:xfrm>
            <a:off x="3727800" y="15681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9" name="Grafik 17"/>
          <p:cNvPicPr/>
          <p:nvPr/>
        </p:nvPicPr>
        <p:blipFill>
          <a:blip r:embed="rId7"/>
          <a:stretch/>
        </p:blipFill>
        <p:spPr>
          <a:xfrm>
            <a:off x="3629520" y="340308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0" name="Grafik 1"/>
          <p:cNvPicPr/>
          <p:nvPr/>
        </p:nvPicPr>
        <p:blipFill>
          <a:blip r:embed="rId8"/>
          <a:stretch/>
        </p:blipFill>
        <p:spPr>
          <a:xfrm>
            <a:off x="6891480" y="3677400"/>
            <a:ext cx="823320" cy="99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2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Synchronisierung der Modelle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4" name="Tabelle 3"/>
          <p:cNvGraphicFramePr/>
          <p:nvPr/>
        </p:nvGraphicFramePr>
        <p:xfrm>
          <a:off x="2031840" y="1593000"/>
          <a:ext cx="8127000" cy="148320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  <a:gridCol w="2031840"/>
                <a:gridCol w="2031840"/>
              </a:tblGrid>
              <a:tr h="37080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5" name="Textfeld 4"/>
          <p:cNvSpPr/>
          <p:nvPr/>
        </p:nvSpPr>
        <p:spPr>
          <a:xfrm>
            <a:off x="631080" y="4645440"/>
            <a:ext cx="4951800" cy="93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feld 6"/>
          <p:cNvSpPr/>
          <p:nvPr/>
        </p:nvSpPr>
        <p:spPr>
          <a:xfrm>
            <a:off x="6607800" y="4645440"/>
            <a:ext cx="4951800" cy="5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feld 7"/>
          <p:cNvSpPr/>
          <p:nvPr/>
        </p:nvSpPr>
        <p:spPr>
          <a:xfrm>
            <a:off x="631080" y="4169160"/>
            <a:ext cx="23061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1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feld 9"/>
          <p:cNvSpPr/>
          <p:nvPr/>
        </p:nvSpPr>
        <p:spPr>
          <a:xfrm>
            <a:off x="6607800" y="4169160"/>
            <a:ext cx="23061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2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feil: nach unten 10"/>
          <p:cNvSpPr/>
          <p:nvPr/>
        </p:nvSpPr>
        <p:spPr>
          <a:xfrm rot="2929200">
            <a:off x="3646800" y="3215880"/>
            <a:ext cx="477360" cy="857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0" name="Pfeil: nach unten 12"/>
          <p:cNvSpPr/>
          <p:nvPr/>
        </p:nvSpPr>
        <p:spPr>
          <a:xfrm rot="19296000">
            <a:off x="6715440" y="3213000"/>
            <a:ext cx="477360" cy="857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2" name="Tabelle 3"/>
          <p:cNvGraphicFramePr/>
          <p:nvPr/>
        </p:nvGraphicFramePr>
        <p:xfrm>
          <a:off x="1196640" y="2053800"/>
          <a:ext cx="9797040" cy="1849320"/>
        </p:xfrm>
        <a:graphic>
          <a:graphicData uri="http://schemas.openxmlformats.org/drawingml/2006/table">
            <a:tbl>
              <a:tblPr/>
              <a:tblGrid>
                <a:gridCol w="1959480"/>
                <a:gridCol w="1959480"/>
                <a:gridCol w="1959480"/>
                <a:gridCol w="1959480"/>
                <a:gridCol w="1959480"/>
              </a:tblGrid>
              <a:tr h="0">
                <a:tc>
                  <a:txBody>
                    <a:bodyPr anchor="t">
                      <a:noAutofit/>
                    </a:bodyPr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Frame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personenGrob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personenFein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türFälltZu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4" name="Grafik 4"/>
          <p:cNvPicPr/>
          <p:nvPr/>
        </p:nvPicPr>
        <p:blipFill>
          <a:blip r:embed="rId1"/>
          <a:stretch/>
        </p:blipFill>
        <p:spPr>
          <a:xfrm>
            <a:off x="2836800" y="2148120"/>
            <a:ext cx="6632280" cy="259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6" name="Grafik 4"/>
          <p:cNvPicPr/>
          <p:nvPr/>
        </p:nvPicPr>
        <p:blipFill>
          <a:blip r:embed="rId1"/>
          <a:stretch/>
        </p:blipFill>
        <p:spPr>
          <a:xfrm>
            <a:off x="2836800" y="2115000"/>
            <a:ext cx="6516720" cy="2553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8" name="Grafik 6"/>
          <p:cNvPicPr/>
          <p:nvPr/>
        </p:nvPicPr>
        <p:blipFill>
          <a:blip r:embed="rId1"/>
          <a:stretch/>
        </p:blipFill>
        <p:spPr>
          <a:xfrm>
            <a:off x="2836800" y="2115000"/>
            <a:ext cx="6525000" cy="2553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0" name="Grafik 5"/>
          <p:cNvPicPr/>
          <p:nvPr/>
        </p:nvPicPr>
        <p:blipFill>
          <a:blip r:embed="rId1"/>
          <a:stretch/>
        </p:blipFill>
        <p:spPr>
          <a:xfrm>
            <a:off x="2836800" y="2115000"/>
            <a:ext cx="7429680" cy="2553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86;p 3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Authentifizierungsgerät pro Tür, Bewohner:in vs. Gast, Ereignis authentifizieren, Vor-/Nachbedingungen bei Erfolg/Misserfolg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Authentifizierung/Bewohner/Gast, pred authentifizieren, checks wie „geschlossene Tür kann nicht ohne gültige Berechtigung passiert werden", Gegenbeispielsuche für Gast-Versuch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Beweis, dass fehlgeschlagene Authentifizierung den Zustand nicht verändert; Beweis der Invariante „geschlossene Türen bleiben ohne Berechtigung geschlossen“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89;p 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41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E4E029-DE3F-44B0-AD61-09C8B216F48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95;p 5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46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Event B: Beweise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98;p 5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42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A5E91C-9A54-4EFE-A3B4-4493DBC918B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37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86;p 5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Google Shape;89;p 5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sldNum" idx="43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579024-8795-4051-95FE-30B0B4C666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5" name="Grafik 9"/>
          <p:cNvPicPr/>
          <p:nvPr/>
        </p:nvPicPr>
        <p:blipFill>
          <a:blip r:embed="rId1"/>
          <a:stretch/>
        </p:blipFill>
        <p:spPr>
          <a:xfrm>
            <a:off x="3756240" y="1440000"/>
            <a:ext cx="776268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PlaceHolder 8"/>
          <p:cNvSpPr/>
          <p:nvPr/>
        </p:nvSpPr>
        <p:spPr>
          <a:xfrm>
            <a:off x="544320" y="1484280"/>
            <a:ext cx="485460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Statische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Festgelegte Regeln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Unveränderlich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86;p 18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Google Shape;89;p 18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 type="sldNum" idx="44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20225F-075B-4ED6-A566-540096E2AEF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21" name="Grafik 64"/>
          <p:cNvPicPr/>
          <p:nvPr/>
        </p:nvPicPr>
        <p:blipFill>
          <a:blip r:embed="rId1"/>
          <a:stretch/>
        </p:blipFill>
        <p:spPr>
          <a:xfrm>
            <a:off x="5637960" y="2340000"/>
            <a:ext cx="5340960" cy="209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PlaceHolder 60"/>
          <p:cNvSpPr/>
          <p:nvPr/>
        </p:nvSpPr>
        <p:spPr>
          <a:xfrm>
            <a:off x="544320" y="1484280"/>
            <a:ext cx="485460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Dynamische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personenImOrt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offen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letzterRaum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5637960" y="2628000"/>
            <a:ext cx="2460960" cy="430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"/>
          <p:cNvSpPr/>
          <p:nvPr/>
        </p:nvSpPr>
        <p:spPr>
          <a:xfrm>
            <a:off x="7740000" y="3960000"/>
            <a:ext cx="898920" cy="17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"/>
          <p:cNvSpPr/>
          <p:nvPr/>
        </p:nvSpPr>
        <p:spPr>
          <a:xfrm>
            <a:off x="7740000" y="3960000"/>
            <a:ext cx="898920" cy="17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86;p 4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9;p 4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45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A28722-28C0-4924-82E9-9513E1E4D28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0" name=""/>
          <p:cNvPicPr/>
          <p:nvPr/>
        </p:nvPicPr>
        <p:blipFill>
          <a:blip r:embed="rId1"/>
          <a:stretch/>
        </p:blipFill>
        <p:spPr>
          <a:xfrm>
            <a:off x="900000" y="1734480"/>
            <a:ext cx="7558920" cy="24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1" name=""/>
          <p:cNvPicPr/>
          <p:nvPr/>
        </p:nvPicPr>
        <p:blipFill>
          <a:blip r:embed="rId2"/>
          <a:stretch/>
        </p:blipFill>
        <p:spPr>
          <a:xfrm>
            <a:off x="891000" y="2160000"/>
            <a:ext cx="4147920" cy="11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Pfeil: nach rechts 8"/>
          <p:cNvSpPr/>
          <p:nvPr/>
        </p:nvSpPr>
        <p:spPr>
          <a:xfrm rot="9762600">
            <a:off x="6336000" y="121104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feld 17"/>
          <p:cNvSpPr/>
          <p:nvPr/>
        </p:nvSpPr>
        <p:spPr>
          <a:xfrm>
            <a:off x="7301160" y="102492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feil: nach rechts 9"/>
          <p:cNvSpPr/>
          <p:nvPr/>
        </p:nvSpPr>
        <p:spPr>
          <a:xfrm rot="9762600">
            <a:off x="4716000" y="23670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feld 18"/>
          <p:cNvSpPr/>
          <p:nvPr/>
        </p:nvSpPr>
        <p:spPr>
          <a:xfrm>
            <a:off x="5364000" y="227700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Raumstruktur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"/>
          <p:cNvSpPr/>
          <p:nvPr/>
        </p:nvSpPr>
        <p:spPr>
          <a:xfrm>
            <a:off x="720000" y="3492000"/>
            <a:ext cx="10440000" cy="360"/>
          </a:xfrm>
          <a:prstGeom prst="line">
            <a:avLst/>
          </a:prstGeom>
          <a:ln w="0">
            <a:solidFill>
              <a:srgbClr val="E0051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-45000" rIns="90000" bIns="-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" name=""/>
          <p:cNvPicPr/>
          <p:nvPr/>
        </p:nvPicPr>
        <p:blipFill>
          <a:blip r:embed="rId3"/>
          <a:stretch/>
        </p:blipFill>
        <p:spPr>
          <a:xfrm>
            <a:off x="865440" y="3960000"/>
            <a:ext cx="9664200" cy="143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Pfeil: nach rechts 11"/>
          <p:cNvSpPr/>
          <p:nvPr/>
        </p:nvSpPr>
        <p:spPr>
          <a:xfrm rot="12480000">
            <a:off x="6695280" y="54180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feld 20"/>
          <p:cNvSpPr/>
          <p:nvPr/>
        </p:nvSpPr>
        <p:spPr>
          <a:xfrm>
            <a:off x="7380000" y="576000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86;p 6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9;p 6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 type="sldNum" idx="46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5B9760-1414-4012-AE30-844E1723361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44" name=""/>
          <p:cNvPicPr/>
          <p:nvPr/>
        </p:nvPicPr>
        <p:blipFill>
          <a:blip r:embed="rId1"/>
          <a:stretch/>
        </p:blipFill>
        <p:spPr>
          <a:xfrm>
            <a:off x="1260000" y="2070720"/>
            <a:ext cx="9763560" cy="260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"/>
          <p:cNvSpPr/>
          <p:nvPr/>
        </p:nvSpPr>
        <p:spPr>
          <a:xfrm>
            <a:off x="1317960" y="2232000"/>
            <a:ext cx="4980960" cy="790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feil: nach rechts 10"/>
          <p:cNvSpPr/>
          <p:nvPr/>
        </p:nvSpPr>
        <p:spPr>
          <a:xfrm rot="12480000">
            <a:off x="6515280" y="48780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feld 19"/>
          <p:cNvSpPr/>
          <p:nvPr/>
        </p:nvSpPr>
        <p:spPr>
          <a:xfrm>
            <a:off x="7200000" y="522000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840" cy="879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Die Übersetzung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itel 3"/>
          <p:cNvSpPr/>
          <p:nvPr/>
        </p:nvSpPr>
        <p:spPr>
          <a:xfrm>
            <a:off x="696240" y="3833640"/>
            <a:ext cx="762084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Von Alloy nach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86;p 19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Alloy in Lean übersetzen?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89;p 19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 type="sldNum" idx="47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7A17BE-EFE8-485C-8CF1-59D9514AC58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Textfeld 21"/>
          <p:cNvSpPr/>
          <p:nvPr/>
        </p:nvSpPr>
        <p:spPr>
          <a:xfrm>
            <a:off x="3320280" y="2340000"/>
            <a:ext cx="5859000" cy="22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feil: nach rechts 13"/>
          <p:cNvSpPr/>
          <p:nvPr/>
        </p:nvSpPr>
        <p:spPr>
          <a:xfrm rot="10800000">
            <a:off x="9324000" y="296676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6" name="Pfeil: nach rechts 14"/>
          <p:cNvSpPr/>
          <p:nvPr/>
        </p:nvSpPr>
        <p:spPr>
          <a:xfrm>
            <a:off x="3132000" y="34920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7" name="Pfeil: nach rechts 15"/>
          <p:cNvSpPr/>
          <p:nvPr/>
        </p:nvSpPr>
        <p:spPr>
          <a:xfrm rot="13020000">
            <a:off x="7580880" y="474336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feld 22"/>
          <p:cNvSpPr/>
          <p:nvPr/>
        </p:nvSpPr>
        <p:spPr>
          <a:xfrm>
            <a:off x="8129520" y="515772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Basisannahmen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feld 23"/>
          <p:cNvSpPr/>
          <p:nvPr/>
        </p:nvSpPr>
        <p:spPr>
          <a:xfrm>
            <a:off x="9936000" y="302400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feld 24"/>
          <p:cNvSpPr/>
          <p:nvPr/>
        </p:nvSpPr>
        <p:spPr>
          <a:xfrm>
            <a:off x="1325520" y="353772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Nachbedingungen + Aktion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86;p 20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Übersetzung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755532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`pre_` bezeichnet eine Vorbedingung. 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`post_` bezeichnet eine Nachbedingung.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`frame_` bezeichnet Eigenschaften, die unverändert bleiben.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`aktion_` bezeichnet die eigentliche Zustandsänderung.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`...Schritt` bezeichnet eine vollständige Übergangsrelation.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Google Shape;89;p 20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48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5E47DC-49D3-4DC8-8C2F-321763BCC80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PlaceHolder 6"/>
          <p:cNvSpPr/>
          <p:nvPr/>
        </p:nvSpPr>
        <p:spPr>
          <a:xfrm>
            <a:off x="7616880" y="1404000"/>
            <a:ext cx="2102400" cy="26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 lnSpcReduction="9999"/>
          </a:bodyPr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r>
              <a:rPr lang="en-US" sz="20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}</a:t>
            </a:r>
            <a:endParaRPr lang="de-DE" sz="20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11"/>
          <p:cNvSpPr/>
          <p:nvPr/>
        </p:nvSpPr>
        <p:spPr>
          <a:xfrm>
            <a:off x="8100000" y="1484640"/>
            <a:ext cx="3546360" cy="247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rmAutofit/>
          </a:bodyPr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56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840" cy="879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betreteTuer als Beispiel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itel 8"/>
          <p:cNvSpPr/>
          <p:nvPr/>
        </p:nvSpPr>
        <p:spPr>
          <a:xfrm>
            <a:off x="696240" y="3833640"/>
            <a:ext cx="762084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b">
            <a:norm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Beispiel: verfeinertes Modell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300000" y="5040000"/>
            <a:ext cx="5475600" cy="1522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86;p 9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betrete Tür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Google Shape;89;p 9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sldNum" idx="49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85C6F7-A702-4DEB-9E7F-41BFFF4D786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5" name="Grafik 24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208200" y="42710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6" name="Grafik 25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302880" y="2457360"/>
            <a:ext cx="4408560" cy="101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7" name="Grafik 26"/>
          <p:cNvPicPr/>
          <p:nvPr/>
        </p:nvPicPr>
        <p:blipFill>
          <a:blip r:embed="rId5"/>
          <a:stretch/>
        </p:blipFill>
        <p:spPr>
          <a:xfrm>
            <a:off x="6993360" y="194688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8" name="Grafik 27"/>
          <p:cNvPicPr/>
          <p:nvPr/>
        </p:nvPicPr>
        <p:blipFill>
          <a:blip r:embed="rId6"/>
          <a:stretch/>
        </p:blipFill>
        <p:spPr>
          <a:xfrm>
            <a:off x="7984440" y="365544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9" name="Grafik 28"/>
          <p:cNvPicPr/>
          <p:nvPr/>
        </p:nvPicPr>
        <p:blipFill>
          <a:blip r:embed="rId7"/>
          <a:stretch/>
        </p:blipFill>
        <p:spPr>
          <a:xfrm>
            <a:off x="6147360" y="16725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0" name="Grafik 29"/>
          <p:cNvPicPr/>
          <p:nvPr/>
        </p:nvPicPr>
        <p:blipFill>
          <a:blip r:embed="rId8"/>
          <a:stretch/>
        </p:blipFill>
        <p:spPr>
          <a:xfrm>
            <a:off x="5964840" y="348444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Pfeil: nach rechts 3"/>
          <p:cNvSpPr/>
          <p:nvPr/>
        </p:nvSpPr>
        <p:spPr>
          <a:xfrm rot="1500000">
            <a:off x="4786920" y="323964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feld 2"/>
          <p:cNvSpPr/>
          <p:nvPr/>
        </p:nvSpPr>
        <p:spPr>
          <a:xfrm>
            <a:off x="211680" y="2223000"/>
            <a:ext cx="5475600" cy="260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betreteTuer[p: PERSON, von: RAUM, t: TUER]{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in von.personenImOrtFein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 in von.nachbarn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//nur eine Person darf die Tür betreten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#(t.personenImOrtFein) = 0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von.personenImOrtFein' = von.personenImOrtFein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t.personenImOrtFein' = t.personenImOrtFein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o: ORT - (von + t)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1800000" y="594000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86;p 14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Vorbedingung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Google Shape;89;p 14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 type="sldNum" idx="50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1D9100E-0213-483B-ACC3-8593F0A01C0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8" name=""/>
          <p:cNvPicPr/>
          <p:nvPr/>
        </p:nvPicPr>
        <p:blipFill>
          <a:blip r:embed="rId1"/>
          <a:stretch/>
        </p:blipFill>
        <p:spPr>
          <a:xfrm>
            <a:off x="1577520" y="2340000"/>
            <a:ext cx="9041760" cy="21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9" name=""/>
          <p:cNvSpPr/>
          <p:nvPr/>
        </p:nvSpPr>
        <p:spPr>
          <a:xfrm>
            <a:off x="1800000" y="587412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"/>
          <p:cNvSpPr/>
          <p:nvPr/>
        </p:nvSpPr>
        <p:spPr>
          <a:xfrm>
            <a:off x="1606680" y="5724000"/>
            <a:ext cx="138096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86;p 10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Aktion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Google Shape;89;p 10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 type="sldNum" idx="51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785ACA-5BC7-4FBA-BF05-C7803EF5A1B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1800000" y="587448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3528000" y="5760000"/>
            <a:ext cx="138096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7" name=""/>
          <p:cNvPicPr/>
          <p:nvPr/>
        </p:nvPicPr>
        <p:blipFill>
          <a:blip r:embed="rId1"/>
          <a:stretch/>
        </p:blipFill>
        <p:spPr>
          <a:xfrm>
            <a:off x="2122920" y="2340000"/>
            <a:ext cx="8316720" cy="1757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86;p 7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Nachbedingung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Google Shape;89;p 7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 type="sldNum" idx="52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7A5113-889F-42DB-8590-013FF9AB72E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2" name=""/>
          <p:cNvPicPr/>
          <p:nvPr/>
        </p:nvPicPr>
        <p:blipFill>
          <a:blip r:embed="rId1"/>
          <a:stretch/>
        </p:blipFill>
        <p:spPr>
          <a:xfrm>
            <a:off x="1337760" y="2483280"/>
            <a:ext cx="9281520" cy="165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"/>
          <p:cNvSpPr/>
          <p:nvPr/>
        </p:nvSpPr>
        <p:spPr>
          <a:xfrm>
            <a:off x="1800000" y="587448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5328000" y="5760000"/>
            <a:ext cx="138096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86;p 1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Google Shape;89;p 11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53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11238A-58EF-45A5-BDA1-90452FFB683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9" name=""/>
          <p:cNvPicPr/>
          <p:nvPr/>
        </p:nvPicPr>
        <p:blipFill>
          <a:blip r:embed="rId1"/>
          <a:stretch/>
        </p:blipFill>
        <p:spPr>
          <a:xfrm>
            <a:off x="1707120" y="1932840"/>
            <a:ext cx="8552160" cy="269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0" name=""/>
          <p:cNvSpPr/>
          <p:nvPr/>
        </p:nvSpPr>
        <p:spPr>
          <a:xfrm>
            <a:off x="1800000" y="587448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"/>
          <p:cNvSpPr/>
          <p:nvPr/>
        </p:nvSpPr>
        <p:spPr>
          <a:xfrm>
            <a:off x="1620000" y="5760000"/>
            <a:ext cx="508932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86;p 1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Google Shape;89;p 1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sldNum" idx="54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AA6CCE-326C-4E1E-BE86-0AFACD5C7D1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1800000" y="587448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7" name=""/>
          <p:cNvPicPr/>
          <p:nvPr/>
        </p:nvPicPr>
        <p:blipFill>
          <a:blip r:embed="rId1"/>
          <a:srcRect l="0" t="0" r="0" b="50863"/>
          <a:stretch/>
        </p:blipFill>
        <p:spPr>
          <a:xfrm>
            <a:off x="1980000" y="1675800"/>
            <a:ext cx="8099640" cy="282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"/>
          <p:cNvSpPr/>
          <p:nvPr/>
        </p:nvSpPr>
        <p:spPr>
          <a:xfrm>
            <a:off x="1620000" y="5760000"/>
            <a:ext cx="881964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2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Konsistenz zwischen Modellen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142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1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069800" y="5079240"/>
            <a:ext cx="7809120" cy="1579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86;p 16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Konsistenz zwischen den Modellen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Google Shape;89;p 16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sldNum" idx="55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53A4D73-8A66-44EE-814D-32C14C399BA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269800" y="2700000"/>
            <a:ext cx="7809120" cy="1579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86;p 13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Google Shape;89;p 1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 type="sldNum" idx="56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2FBDDD-EA58-46C8-B4A5-BBADBBBE8B8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31" name=""/>
          <p:cNvPicPr/>
          <p:nvPr/>
        </p:nvPicPr>
        <p:blipFill>
          <a:blip r:embed="rId1"/>
          <a:srcRect l="0" t="58606" r="0" b="0"/>
          <a:stretch/>
        </p:blipFill>
        <p:spPr>
          <a:xfrm>
            <a:off x="1440000" y="2340000"/>
            <a:ext cx="9037440" cy="193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"/>
          <p:cNvSpPr/>
          <p:nvPr/>
        </p:nvSpPr>
        <p:spPr>
          <a:xfrm>
            <a:off x="1800000" y="587448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95;p3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84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Was getan ist und was als nächstes möglich wäre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Google Shape;98;p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57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06C129-9C3D-4159-A917-4C65E1076C5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55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178;p8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Modellierung eines Zugangskontrollsystems mit Räumen, Türen, Personen, Berechtigungen und Authentifizierungsgeräten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Schrittweise Beschreibung in drei aufeinander aufbauenden Modellen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Nachbildung und Beweis der in Alloy entwickelten Modelle und Vorgänge in Lean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Erweiterbarkeit um zusätzliche Regeln, z. B. Raumkapazitäten, Uhrzeiten, Personentypen oder externe Bedingungen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Google Shape;181;p8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58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9DCEF6-A8DF-449F-B736-87B2DFBBD02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232;p14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Quellen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543960" y="14716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Bernd das Brot: https://erfurt-mitte.de/blogs/erfurt-mitte-blog/bernd-das-brot-merchandise-im-onlineshop-kultiges-kultbrot-fuer-fans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Sandmännchen: https://www.gmx.ch/magazine/unterhaltung/tv-shows/24-zentimeter-gross-unermuedlich-sandmann-55-30229448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Alle anderen Diagramme/Bilder sind durch uns erstellt worden.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Google Shape;235;p14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sldNum" idx="59"/>
          </p:nvPr>
        </p:nvSpPr>
        <p:spPr>
          <a:xfrm>
            <a:off x="11402640" y="6415200"/>
            <a:ext cx="24372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D26FD5-3DEE-4A56-BBBD-59FD60CBB0F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</TotalTime>
  <Application>LibreOffice/26.2.5.2$Windows_X86_64 LibreOffice_project/cd7284b4cbbfeb507e630c1aac019f4157393acb</Application>
  <AppVersion>15.0000</AppVersion>
  <Words>2324</Words>
  <Paragraphs>463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de-DE</dc:language>
  <cp:lastModifiedBy/>
  <dcterms:modified xsi:type="dcterms:W3CDTF">2026-08-18T14:44:12Z</dcterms:modified>
  <cp:revision>57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6</vt:i4>
  </property>
  <property fmtid="{D5CDD505-2E9C-101B-9397-08002B2CF9AE}" pid="3" name="Notes">
    <vt:i4>27</vt:i4>
  </property>
  <property fmtid="{D5CDD505-2E9C-101B-9397-08002B2CF9AE}" pid="4" name="PresentationFormat">
    <vt:lpwstr>Breitbild</vt:lpwstr>
  </property>
  <property fmtid="{D5CDD505-2E9C-101B-9397-08002B2CF9AE}" pid="5" name="Slides">
    <vt:i4>45</vt:i4>
  </property>
</Properties>
</file>