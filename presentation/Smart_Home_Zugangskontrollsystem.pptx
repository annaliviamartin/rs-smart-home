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8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50" d="100"/>
          <a:sy n="150" d="100"/>
        </p:scale>
        <p:origin x="5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Folie mittels Klicken verschieben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</a:p>
        </p:txBody>
      </p:sp>
      <p:sp>
        <p:nvSpPr>
          <p:cNvPr id="78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79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0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01BB0DB-6795-43FC-9B43-92B4A6F88ECD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1 – Titel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Begrüßung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Vorstellung unseres Projekts: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Collaborative Real-Time Kanban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Modul: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Principles, Algorithms and Models of Concurrency and Synchronization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Fokus: Synchronisation und Nebenläufigkeit in einem kollaborativen Kanban-Board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74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1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Wir haben Invarianten nicht als facts festgehalten, sondern nur über asserts überprüft, damit wir das Modell nicht zu sehr einschränken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2 – Motivation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Ziel: Mehrere Benutzer arbeiten gleichzeitig auf einem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Hauptproblem: Konsistenter Board-Zustand trotz gleichzeitiger Änderungen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 als zentrale Instanz für Konsistenz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= 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 Aufgabe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 könnten beide erfolgreich sein → Limit verletzt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 Synchronisation im Backend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6 – Race Condition: WIP Limits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Beispiel: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Testing-Spalte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Maximal 3 Tasks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 Nutzer verschieben gleichzeitig einen Task hinein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Beide sehen zunächst dieselbe Anzahl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Ohne Synchronisation: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Beide Operationen erfolgreich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WIP-Limit überschritten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Lösung: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ReentrantLock pro Spalte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15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WIP-Prüfung und Update in einer kritischen Sektion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Folie 1 – Titel</a:t>
            </a:r>
            <a:endParaRPr lang="de-D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Begrüßung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Vorstellung unseres Projekts: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Collaborative Real-Time Kanban 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Modul: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Principles, Algorithms and Models of Concurrency and Synchronization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Fokus: Synchronisation und Nebenläufigkeit in einem kollaborativen Kanban-Board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0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Locking initially only covered tasks, extending it to boards and columns required a full restructuring (tests and code, via an abstract lock service)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Keeping frontend state consistent required precise timing of WebSocket updates across all clients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Understanding synchronization deeply mattered more than just getting the code to run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4F4AB82-E636-43D8-A885-8D7FB15E9237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;p15" descr="Grafik 8" hidden="1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467800" y="1484280"/>
            <a:ext cx="7254360" cy="2194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2467800" y="3681360"/>
            <a:ext cx="725436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40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pic>
        <p:nvPicPr>
          <p:cNvPr id="10" name="Google Shape;51;p24" descr="Grafik 6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3"/>
          <p:cNvSpPr>
            <a:spLocks noGrp="1"/>
          </p:cNvSpPr>
          <p:nvPr>
            <p:ph type="sldNum" idx="2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1E2C68-7B3B-408F-AA5A-C451C4C5CCA9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sldNum" idx="3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C8F37E-54A8-4796-ABC5-2D4FF0EC028D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elfoli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;p15" descr="Grafik 8" hidden="1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762048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pic>
        <p:nvPicPr>
          <p:cNvPr id="19" name="Google Shape;22;p18" descr="Grafik 3"/>
          <p:cNvPicPr/>
          <p:nvPr/>
        </p:nvPicPr>
        <p:blipFill>
          <a:blip r:embed="rId3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3"/>
          <p:cNvSpPr>
            <a:spLocks noGrp="1"/>
          </p:cNvSpPr>
          <p:nvPr>
            <p:ph type="sldNum" idx="4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1CB981-E68C-4562-A661-8AB1B208876A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523980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70000" lnSpcReduction="1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43960" y="1484280"/>
            <a:ext cx="523980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sldNum" idx="5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830B39-6BBC-4423-A9BC-DE1A13A6E31C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343560" y="849960"/>
            <a:ext cx="5393880" cy="520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43960" y="1484280"/>
            <a:ext cx="523980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sldNum" idx="6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A04C94-BEB1-41FF-89D9-96BE21C12341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8;p15" descr="Grafik 8" hidden="1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6294600" y="0"/>
            <a:ext cx="5895360" cy="685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294600" y="0"/>
            <a:ext cx="5895360" cy="685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543960" y="3681360"/>
            <a:ext cx="554976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543960" y="4689360"/>
            <a:ext cx="554976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sldNum" idx="7"/>
          </p:nvPr>
        </p:nvSpPr>
        <p:spPr>
          <a:xfrm>
            <a:off x="5892840" y="6233760"/>
            <a:ext cx="28425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F4357C-0865-4EE0-9497-4EFB475B025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elfol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762048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sldNum" idx="8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453EDA-F31C-4AD7-A012-7CDC6BA3DE28}" type="slidenum"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554976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43960" y="4689360"/>
            <a:ext cx="554976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343560" y="849960"/>
            <a:ext cx="5393880" cy="520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9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9A5099-88E8-4EA4-B7F2-48D480665CB6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8;p15" descr="Grafik 8" hidden="1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pic>
        <p:nvPicPr>
          <p:cNvPr id="47" name="Google Shape;63;p26" descr="Grafik 6"/>
          <p:cNvPicPr/>
          <p:nvPr/>
        </p:nvPicPr>
        <p:blipFill>
          <a:blip r:embed="rId3"/>
          <a:stretch/>
        </p:blipFill>
        <p:spPr>
          <a:xfrm>
            <a:off x="10081440" y="399240"/>
            <a:ext cx="179100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406200" y="1484280"/>
            <a:ext cx="2294280" cy="229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9351720" y="1484280"/>
            <a:ext cx="2294280" cy="229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43960" y="1484280"/>
            <a:ext cx="523980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1752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1752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1752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175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386040" y="3937320"/>
            <a:ext cx="2314440" cy="1074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body"/>
          </p:nvPr>
        </p:nvSpPr>
        <p:spPr>
          <a:xfrm>
            <a:off x="9372960" y="3937320"/>
            <a:ext cx="2314440" cy="1074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pic>
        <p:nvPicPr>
          <p:cNvPr id="53" name="Google Shape;69;p26" descr="Grafik 2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7"/>
          <p:cNvSpPr>
            <a:spLocks noGrp="1"/>
          </p:cNvSpPr>
          <p:nvPr>
            <p:ph type="sldNum" idx="10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6D078E-12BE-43BC-B1C2-F400D3B3E3EE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8;p15" descr="Grafik 8" hidden="1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72;p27" descr="Grafik 2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sldNum" idx="11"/>
          </p:nvPr>
        </p:nvSpPr>
        <p:spPr>
          <a:xfrm>
            <a:off x="5892840" y="6233760"/>
            <a:ext cx="28425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DBE41A-7168-46E1-8D6E-07BE42984C23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8;p15" descr="Grafik 8" hidden="1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554976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43960" y="4689360"/>
            <a:ext cx="554976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pic>
        <p:nvPicPr>
          <p:cNvPr id="61" name="Google Shape;13;p16" descr="Grafik 7"/>
          <p:cNvPicPr/>
          <p:nvPr/>
        </p:nvPicPr>
        <p:blipFill>
          <a:blip r:embed="rId3"/>
          <a:srcRect t="33700" r="9034"/>
          <a:stretch/>
        </p:blipFill>
        <p:spPr>
          <a:xfrm>
            <a:off x="4588200" y="0"/>
            <a:ext cx="7601760" cy="65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3"/>
          <p:cNvSpPr>
            <a:spLocks noGrp="1"/>
          </p:cNvSpPr>
          <p:nvPr>
            <p:ph type="sldNum" idx="12"/>
          </p:nvPr>
        </p:nvSpPr>
        <p:spPr>
          <a:xfrm>
            <a:off x="5892840" y="6233760"/>
            <a:ext cx="28425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8725A3-66E2-485C-8578-6DE51AE253F8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13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64584D-3CC6-4657-9FC2-6A1EEA353AB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sldNum" idx="14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7894FC-B554-4D09-969A-37D2445DC4C2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8;p15" descr="Grafik 8"/>
          <p:cNvPicPr/>
          <p:nvPr/>
        </p:nvPicPr>
        <p:blipFill>
          <a:blip r:embed="rId2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  <p:sp>
        <p:nvSpPr>
          <p:cNvPr id="74" name="PlaceHolder 3"/>
          <p:cNvSpPr>
            <a:spLocks noGrp="1"/>
          </p:cNvSpPr>
          <p:nvPr>
            <p:ph type="sldNum" idx="15"/>
          </p:nvPr>
        </p:nvSpPr>
        <p:spPr>
          <a:xfrm>
            <a:off x="11402640" y="6416640"/>
            <a:ext cx="243360" cy="2444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4440D8-689B-4E83-A99E-8C97330CC2A9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15" descr="Grafik 8" hidden="1"/>
          <p:cNvPicPr/>
          <p:nvPr/>
        </p:nvPicPr>
        <p:blipFill>
          <a:blip r:embed="rId3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" name="Google Shape;57;p25"/>
          <p:cNvGrpSpPr/>
          <p:nvPr/>
        </p:nvGrpSpPr>
        <p:grpSpPr>
          <a:xfrm>
            <a:off x="10884240" y="488880"/>
            <a:ext cx="889200" cy="212760"/>
            <a:chOff x="10884240" y="488880"/>
            <a:chExt cx="889200" cy="212760"/>
          </a:xfrm>
        </p:grpSpPr>
        <p:sp>
          <p:nvSpPr>
            <p:cNvPr id="4" name="Google Shape;58;p25"/>
            <p:cNvSpPr/>
            <p:nvPr/>
          </p:nvSpPr>
          <p:spPr>
            <a:xfrm>
              <a:off x="10884240" y="490680"/>
              <a:ext cx="674640" cy="210960"/>
            </a:xfrm>
            <a:custGeom>
              <a:avLst/>
              <a:gdLst>
                <a:gd name="textAreaLeft" fmla="*/ 0 w 674640"/>
                <a:gd name="textAreaRight" fmla="*/ 676800 w 674640"/>
                <a:gd name="textAreaTop" fmla="*/ 0 h 210960"/>
                <a:gd name="textAreaBottom" fmla="*/ 213120 h 2109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171" y="0"/>
                  </a:lnTo>
                  <a:lnTo>
                    <a:pt x="1171" y="7880"/>
                  </a:lnTo>
                  <a:lnTo>
                    <a:pt x="1201" y="7880"/>
                  </a:lnTo>
                  <a:cubicBezTo>
                    <a:pt x="1528" y="6418"/>
                    <a:pt x="2045" y="5707"/>
                    <a:pt x="2555" y="5707"/>
                  </a:cubicBezTo>
                  <a:cubicBezTo>
                    <a:pt x="3661" y="5707"/>
                    <a:pt x="4276" y="7850"/>
                    <a:pt x="4276" y="11496"/>
                  </a:cubicBezTo>
                  <a:lnTo>
                    <a:pt x="4276" y="21285"/>
                  </a:lnTo>
                  <a:lnTo>
                    <a:pt x="3105" y="21285"/>
                  </a:lnTo>
                  <a:lnTo>
                    <a:pt x="3105" y="12430"/>
                  </a:lnTo>
                  <a:cubicBezTo>
                    <a:pt x="3105" y="10135"/>
                    <a:pt x="2788" y="8906"/>
                    <a:pt x="2192" y="8906"/>
                  </a:cubicBezTo>
                  <a:cubicBezTo>
                    <a:pt x="1548" y="8906"/>
                    <a:pt x="1175" y="10125"/>
                    <a:pt x="1175" y="12724"/>
                  </a:cubicBezTo>
                  <a:lnTo>
                    <a:pt x="1175" y="21285"/>
                  </a:lnTo>
                  <a:lnTo>
                    <a:pt x="3" y="21285"/>
                  </a:lnTo>
                  <a:lnTo>
                    <a:pt x="3" y="0"/>
                  </a:lnTo>
                  <a:close/>
                  <a:moveTo>
                    <a:pt x="5160" y="18645"/>
                  </a:moveTo>
                  <a:cubicBezTo>
                    <a:pt x="5650" y="20879"/>
                    <a:pt x="6475" y="21600"/>
                    <a:pt x="7361" y="21600"/>
                  </a:cubicBezTo>
                  <a:cubicBezTo>
                    <a:pt x="8369" y="21600"/>
                    <a:pt x="9534" y="19924"/>
                    <a:pt x="9534" y="16411"/>
                  </a:cubicBezTo>
                  <a:cubicBezTo>
                    <a:pt x="9534" y="14116"/>
                    <a:pt x="9053" y="12653"/>
                    <a:pt x="8219" y="12146"/>
                  </a:cubicBezTo>
                  <a:lnTo>
                    <a:pt x="7479" y="11699"/>
                  </a:lnTo>
                  <a:cubicBezTo>
                    <a:pt x="6969" y="11404"/>
                    <a:pt x="6547" y="11252"/>
                    <a:pt x="6547" y="10175"/>
                  </a:cubicBezTo>
                  <a:cubicBezTo>
                    <a:pt x="6547" y="9008"/>
                    <a:pt x="6884" y="8480"/>
                    <a:pt x="7345" y="8480"/>
                  </a:cubicBezTo>
                  <a:cubicBezTo>
                    <a:pt x="7806" y="8480"/>
                    <a:pt x="8153" y="8926"/>
                    <a:pt x="8441" y="9972"/>
                  </a:cubicBezTo>
                  <a:lnTo>
                    <a:pt x="9288" y="8185"/>
                  </a:lnTo>
                  <a:cubicBezTo>
                    <a:pt x="8876" y="6367"/>
                    <a:pt x="8242" y="5677"/>
                    <a:pt x="7358" y="5677"/>
                  </a:cubicBezTo>
                  <a:cubicBezTo>
                    <a:pt x="6311" y="5677"/>
                    <a:pt x="5408" y="7494"/>
                    <a:pt x="5408" y="10693"/>
                  </a:cubicBezTo>
                  <a:cubicBezTo>
                    <a:pt x="5408" y="12988"/>
                    <a:pt x="5948" y="14217"/>
                    <a:pt x="6753" y="14664"/>
                  </a:cubicBezTo>
                  <a:lnTo>
                    <a:pt x="7397" y="15020"/>
                  </a:lnTo>
                  <a:cubicBezTo>
                    <a:pt x="8062" y="15375"/>
                    <a:pt x="8320" y="15649"/>
                    <a:pt x="8320" y="16837"/>
                  </a:cubicBezTo>
                  <a:cubicBezTo>
                    <a:pt x="8320" y="18208"/>
                    <a:pt x="7829" y="18716"/>
                    <a:pt x="7348" y="18716"/>
                  </a:cubicBezTo>
                  <a:cubicBezTo>
                    <a:pt x="6792" y="18716"/>
                    <a:pt x="6301" y="17975"/>
                    <a:pt x="5994" y="16715"/>
                  </a:cubicBezTo>
                  <a:lnTo>
                    <a:pt x="5166" y="18655"/>
                  </a:lnTo>
                  <a:moveTo>
                    <a:pt x="10447" y="21275"/>
                  </a:moveTo>
                  <a:lnTo>
                    <a:pt x="11618" y="21275"/>
                  </a:lnTo>
                  <a:lnTo>
                    <a:pt x="11618" y="13456"/>
                  </a:lnTo>
                  <a:cubicBezTo>
                    <a:pt x="11618" y="10622"/>
                    <a:pt x="12282" y="9038"/>
                    <a:pt x="13165" y="9038"/>
                  </a:cubicBezTo>
                  <a:cubicBezTo>
                    <a:pt x="13329" y="9038"/>
                    <a:pt x="13453" y="9038"/>
                    <a:pt x="13607" y="9130"/>
                  </a:cubicBezTo>
                  <a:lnTo>
                    <a:pt x="13607" y="5788"/>
                  </a:lnTo>
                  <a:cubicBezTo>
                    <a:pt x="13483" y="5697"/>
                    <a:pt x="13339" y="5697"/>
                    <a:pt x="13215" y="5697"/>
                  </a:cubicBezTo>
                  <a:cubicBezTo>
                    <a:pt x="12629" y="5697"/>
                    <a:pt x="11899" y="6916"/>
                    <a:pt x="11608" y="8530"/>
                  </a:cubicBezTo>
                  <a:lnTo>
                    <a:pt x="11589" y="8530"/>
                  </a:lnTo>
                  <a:lnTo>
                    <a:pt x="11589" y="5992"/>
                  </a:lnTo>
                  <a:lnTo>
                    <a:pt x="10443" y="5992"/>
                  </a:lnTo>
                  <a:lnTo>
                    <a:pt x="10443" y="21265"/>
                  </a:lnTo>
                  <a:close/>
                  <a:moveTo>
                    <a:pt x="14405" y="21275"/>
                  </a:moveTo>
                  <a:lnTo>
                    <a:pt x="15577" y="21275"/>
                  </a:lnTo>
                  <a:lnTo>
                    <a:pt x="15577" y="12298"/>
                  </a:lnTo>
                  <a:cubicBezTo>
                    <a:pt x="15577" y="9759"/>
                    <a:pt x="16117" y="8896"/>
                    <a:pt x="16529" y="8896"/>
                  </a:cubicBezTo>
                  <a:cubicBezTo>
                    <a:pt x="17239" y="8896"/>
                    <a:pt x="17422" y="10511"/>
                    <a:pt x="17422" y="12450"/>
                  </a:cubicBezTo>
                  <a:lnTo>
                    <a:pt x="17422" y="21285"/>
                  </a:lnTo>
                  <a:lnTo>
                    <a:pt x="18593" y="21285"/>
                  </a:lnTo>
                  <a:lnTo>
                    <a:pt x="18593" y="12481"/>
                  </a:lnTo>
                  <a:cubicBezTo>
                    <a:pt x="18593" y="10480"/>
                    <a:pt x="18871" y="8896"/>
                    <a:pt x="19536" y="8896"/>
                  </a:cubicBezTo>
                  <a:cubicBezTo>
                    <a:pt x="20200" y="8896"/>
                    <a:pt x="20429" y="10328"/>
                    <a:pt x="20429" y="12389"/>
                  </a:cubicBezTo>
                  <a:lnTo>
                    <a:pt x="20429" y="21275"/>
                  </a:lnTo>
                  <a:lnTo>
                    <a:pt x="21600" y="21275"/>
                  </a:lnTo>
                  <a:lnTo>
                    <a:pt x="21600" y="11069"/>
                  </a:lnTo>
                  <a:cubicBezTo>
                    <a:pt x="21600" y="7342"/>
                    <a:pt x="20792" y="5697"/>
                    <a:pt x="19879" y="5697"/>
                  </a:cubicBezTo>
                  <a:cubicBezTo>
                    <a:pt x="19205" y="5697"/>
                    <a:pt x="18708" y="6591"/>
                    <a:pt x="18361" y="7962"/>
                  </a:cubicBezTo>
                  <a:lnTo>
                    <a:pt x="18351" y="7962"/>
                  </a:lnTo>
                  <a:cubicBezTo>
                    <a:pt x="18044" y="6499"/>
                    <a:pt x="17602" y="5697"/>
                    <a:pt x="16948" y="5697"/>
                  </a:cubicBezTo>
                  <a:cubicBezTo>
                    <a:pt x="16372" y="5697"/>
                    <a:pt x="15891" y="6438"/>
                    <a:pt x="15554" y="7850"/>
                  </a:cubicBezTo>
                  <a:lnTo>
                    <a:pt x="15534" y="7850"/>
                  </a:lnTo>
                  <a:lnTo>
                    <a:pt x="15534" y="6002"/>
                  </a:lnTo>
                  <a:lnTo>
                    <a:pt x="14399" y="6002"/>
                  </a:lnTo>
                  <a:lnTo>
                    <a:pt x="14399" y="2127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59;p25"/>
            <p:cNvSpPr/>
            <p:nvPr/>
          </p:nvSpPr>
          <p:spPr>
            <a:xfrm>
              <a:off x="11617920" y="488880"/>
              <a:ext cx="155520" cy="148680"/>
            </a:xfrm>
            <a:custGeom>
              <a:avLst/>
              <a:gdLst>
                <a:gd name="textAreaLeft" fmla="*/ 0 w 155520"/>
                <a:gd name="textAreaRight" fmla="*/ 157680 w 155520"/>
                <a:gd name="textAreaTop" fmla="*/ 0 h 148680"/>
                <a:gd name="textAreaBottom" fmla="*/ 150840 h 148680"/>
              </a:gdLst>
              <a:ahLst/>
              <a:cxnLst/>
              <a:rect l="textAreaLeft" t="textAreaTop" r="textAreaRight" b="textAreaBottom"/>
              <a:pathLst>
                <a:path w="21540" h="21587">
                  <a:moveTo>
                    <a:pt x="21456" y="11124"/>
                  </a:moveTo>
                  <a:lnTo>
                    <a:pt x="20699" y="12514"/>
                  </a:lnTo>
                  <a:cubicBezTo>
                    <a:pt x="20573" y="12729"/>
                    <a:pt x="20348" y="12858"/>
                    <a:pt x="20110" y="12858"/>
                  </a:cubicBezTo>
                  <a:lnTo>
                    <a:pt x="12793" y="12858"/>
                  </a:lnTo>
                  <a:lnTo>
                    <a:pt x="13775" y="14607"/>
                  </a:lnTo>
                  <a:cubicBezTo>
                    <a:pt x="13887" y="14822"/>
                    <a:pt x="13887" y="15080"/>
                    <a:pt x="13775" y="15280"/>
                  </a:cubicBezTo>
                  <a:lnTo>
                    <a:pt x="12990" y="16685"/>
                  </a:lnTo>
                  <a:cubicBezTo>
                    <a:pt x="12864" y="16886"/>
                    <a:pt x="12653" y="17015"/>
                    <a:pt x="12415" y="17015"/>
                  </a:cubicBezTo>
                  <a:lnTo>
                    <a:pt x="10859" y="17015"/>
                  </a:lnTo>
                  <a:cubicBezTo>
                    <a:pt x="10621" y="17043"/>
                    <a:pt x="10411" y="16900"/>
                    <a:pt x="10284" y="16699"/>
                  </a:cubicBezTo>
                  <a:lnTo>
                    <a:pt x="9275" y="14922"/>
                  </a:lnTo>
                  <a:lnTo>
                    <a:pt x="5701" y="21243"/>
                  </a:lnTo>
                  <a:cubicBezTo>
                    <a:pt x="5589" y="21458"/>
                    <a:pt x="5365" y="21587"/>
                    <a:pt x="5126" y="21587"/>
                  </a:cubicBezTo>
                  <a:lnTo>
                    <a:pt x="3570" y="21587"/>
                  </a:lnTo>
                  <a:cubicBezTo>
                    <a:pt x="3332" y="21573"/>
                    <a:pt x="3122" y="21444"/>
                    <a:pt x="3010" y="21243"/>
                  </a:cubicBezTo>
                  <a:lnTo>
                    <a:pt x="2211" y="19867"/>
                  </a:lnTo>
                  <a:cubicBezTo>
                    <a:pt x="2085" y="19652"/>
                    <a:pt x="2085" y="19394"/>
                    <a:pt x="2211" y="19179"/>
                  </a:cubicBezTo>
                  <a:lnTo>
                    <a:pt x="5785" y="12858"/>
                  </a:lnTo>
                  <a:lnTo>
                    <a:pt x="1426" y="12858"/>
                  </a:lnTo>
                  <a:cubicBezTo>
                    <a:pt x="1188" y="12858"/>
                    <a:pt x="977" y="12729"/>
                    <a:pt x="851" y="12514"/>
                  </a:cubicBezTo>
                  <a:lnTo>
                    <a:pt x="94" y="11124"/>
                  </a:lnTo>
                  <a:cubicBezTo>
                    <a:pt x="-32" y="10923"/>
                    <a:pt x="-32" y="10665"/>
                    <a:pt x="94" y="10464"/>
                  </a:cubicBezTo>
                  <a:lnTo>
                    <a:pt x="851" y="9074"/>
                  </a:lnTo>
                  <a:cubicBezTo>
                    <a:pt x="977" y="8859"/>
                    <a:pt x="1188" y="8730"/>
                    <a:pt x="1426" y="8730"/>
                  </a:cubicBezTo>
                  <a:lnTo>
                    <a:pt x="5799" y="8730"/>
                  </a:lnTo>
                  <a:lnTo>
                    <a:pt x="2225" y="2381"/>
                  </a:lnTo>
                  <a:cubicBezTo>
                    <a:pt x="2113" y="2180"/>
                    <a:pt x="2113" y="1908"/>
                    <a:pt x="2239" y="1707"/>
                  </a:cubicBezTo>
                  <a:lnTo>
                    <a:pt x="3024" y="331"/>
                  </a:lnTo>
                  <a:cubicBezTo>
                    <a:pt x="3150" y="130"/>
                    <a:pt x="3360" y="1"/>
                    <a:pt x="3584" y="1"/>
                  </a:cubicBezTo>
                  <a:lnTo>
                    <a:pt x="5154" y="1"/>
                  </a:lnTo>
                  <a:cubicBezTo>
                    <a:pt x="5393" y="-13"/>
                    <a:pt x="5617" y="116"/>
                    <a:pt x="5729" y="331"/>
                  </a:cubicBezTo>
                  <a:lnTo>
                    <a:pt x="9303" y="6666"/>
                  </a:lnTo>
                  <a:lnTo>
                    <a:pt x="10284" y="4918"/>
                  </a:lnTo>
                  <a:cubicBezTo>
                    <a:pt x="10397" y="4717"/>
                    <a:pt x="10621" y="4588"/>
                    <a:pt x="10845" y="4574"/>
                  </a:cubicBezTo>
                  <a:lnTo>
                    <a:pt x="12429" y="4574"/>
                  </a:lnTo>
                  <a:cubicBezTo>
                    <a:pt x="12667" y="4574"/>
                    <a:pt x="12878" y="4703"/>
                    <a:pt x="13004" y="4903"/>
                  </a:cubicBezTo>
                  <a:lnTo>
                    <a:pt x="13789" y="6279"/>
                  </a:lnTo>
                  <a:cubicBezTo>
                    <a:pt x="13915" y="6480"/>
                    <a:pt x="13915" y="6752"/>
                    <a:pt x="13789" y="6953"/>
                  </a:cubicBezTo>
                  <a:lnTo>
                    <a:pt x="12779" y="8730"/>
                  </a:lnTo>
                  <a:lnTo>
                    <a:pt x="20082" y="8730"/>
                  </a:lnTo>
                  <a:cubicBezTo>
                    <a:pt x="20320" y="8730"/>
                    <a:pt x="20545" y="8859"/>
                    <a:pt x="20657" y="9060"/>
                  </a:cubicBezTo>
                  <a:lnTo>
                    <a:pt x="21456" y="10450"/>
                  </a:lnTo>
                  <a:cubicBezTo>
                    <a:pt x="21568" y="10665"/>
                    <a:pt x="21568" y="10923"/>
                    <a:pt x="21456" y="1112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endPara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402640" y="6416640"/>
            <a:ext cx="243360" cy="2437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3781FF-A556-46EE-AAE3-A4322C052A3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554976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 fontScale="90000"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4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Reliable Software – </a:t>
            </a:r>
            <a:br>
              <a:rPr sz="3340"/>
            </a:br>
            <a:r>
              <a:rPr lang="en-US" sz="334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Smart Home System</a:t>
            </a:r>
            <a:endParaRPr lang="de-DE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543960" y="4689360"/>
            <a:ext cx="554976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Verena Kipp, Anna-Livia Martin, David Rossel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80;p1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Google Shape;81;p1" descr="Grafik 7"/>
          <p:cNvPicPr/>
          <p:nvPr/>
        </p:nvPicPr>
        <p:blipFill>
          <a:blip r:embed="rId3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rafik 14"/>
          <p:cNvPicPr/>
          <p:nvPr/>
        </p:nvPicPr>
        <p:blipFill>
          <a:blip r:embed="rId4"/>
          <a:stretch/>
        </p:blipFill>
        <p:spPr>
          <a:xfrm>
            <a:off x="5760000" y="3471120"/>
            <a:ext cx="3707280" cy="447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rafik 16"/>
          <p:cNvPicPr/>
          <p:nvPr/>
        </p:nvPicPr>
        <p:blipFill>
          <a:blip r:embed="rId5"/>
          <a:stretch/>
        </p:blipFill>
        <p:spPr>
          <a:xfrm>
            <a:off x="8508240" y="2700000"/>
            <a:ext cx="3804480" cy="5446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6;p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Motivation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1080000" y="1980000"/>
            <a:ext cx="4315680" cy="4953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Wo befindet sich eine Person?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89;p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9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4235BD-FCC9-44EF-BFDD-0D77C5E6FB4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/>
          <p:nvPr/>
        </p:nvSpPr>
        <p:spPr>
          <a:xfrm>
            <a:off x="1440000" y="3104280"/>
            <a:ext cx="4859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Ist eine Tür geöffnet oder geschlossen?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5"/>
          <p:cNvSpPr/>
          <p:nvPr/>
        </p:nvSpPr>
        <p:spPr>
          <a:xfrm>
            <a:off x="5763960" y="2520000"/>
            <a:ext cx="431568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Welche Räume und Türen gibt es?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/>
          <p:nvPr/>
        </p:nvSpPr>
        <p:spPr>
          <a:xfrm>
            <a:off x="5400000" y="3868560"/>
            <a:ext cx="5039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Welche Räume sind miteinander verbunden?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9"/>
          <p:cNvSpPr/>
          <p:nvPr/>
        </p:nvSpPr>
        <p:spPr>
          <a:xfrm>
            <a:off x="540000" y="4860000"/>
            <a:ext cx="431568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Darf eine Person die Tür öffnen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0"/>
          <p:cNvSpPr/>
          <p:nvPr/>
        </p:nvSpPr>
        <p:spPr>
          <a:xfrm>
            <a:off x="5220000" y="4904280"/>
            <a:ext cx="5039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Was passiert während des Durchgangs?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86;p 8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Motivation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623960" y="1844280"/>
            <a:ext cx="4315680" cy="4953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Wo befindet sich eine Person?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89;p 8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0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1C0DB3-0A8F-40B5-8DB6-3B1FB1BDB65A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0"/>
          <p:cNvSpPr/>
          <p:nvPr/>
        </p:nvSpPr>
        <p:spPr>
          <a:xfrm>
            <a:off x="1080000" y="2852280"/>
            <a:ext cx="4859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Ist eine Tür geöffnet oder geschlossen?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1"/>
          <p:cNvSpPr/>
          <p:nvPr/>
        </p:nvSpPr>
        <p:spPr>
          <a:xfrm>
            <a:off x="6123960" y="2340000"/>
            <a:ext cx="431568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Welche Räume und Türen gibt es?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2"/>
          <p:cNvSpPr/>
          <p:nvPr/>
        </p:nvSpPr>
        <p:spPr>
          <a:xfrm>
            <a:off x="5400000" y="4068000"/>
            <a:ext cx="5039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Welche Räume sind miteinander verbunden?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3"/>
          <p:cNvSpPr/>
          <p:nvPr/>
        </p:nvSpPr>
        <p:spPr>
          <a:xfrm>
            <a:off x="540000" y="4860000"/>
            <a:ext cx="431568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Darf eine Person die Tür öffnen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4"/>
          <p:cNvSpPr/>
          <p:nvPr/>
        </p:nvSpPr>
        <p:spPr>
          <a:xfrm>
            <a:off x="5220000" y="4904280"/>
            <a:ext cx="5039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Was passiert während des Durchgangs?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4"/>
          <p:cNvSpPr/>
          <p:nvPr/>
        </p:nvSpPr>
        <p:spPr>
          <a:xfrm>
            <a:off x="1512000" y="3348000"/>
            <a:ext cx="9539640" cy="7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lang="en-US" sz="4000" b="1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Wie Zugangssicherheit beweisen?</a:t>
            </a:r>
            <a:endParaRPr lang="de-DE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95;p 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899424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Grundlegende räumliche Struktur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Übersicht Gebäudestruktur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98;p 3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21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66100B-AD06-450B-AE88-4A4944CA00F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</a:t>
            </a:fld>
            <a:endParaRPr lang="de-DE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86;p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Gebäudestruktur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89;p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22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FFAFAF-53BA-48EA-9592-8EF41D403D3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Grafik 112"/>
          <p:cNvPicPr/>
          <p:nvPr/>
        </p:nvPicPr>
        <p:blipFill>
          <a:blip r:embed="rId3"/>
          <a:stretch/>
        </p:blipFill>
        <p:spPr>
          <a:xfrm>
            <a:off x="5580000" y="360000"/>
            <a:ext cx="4679640" cy="609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5"/>
          <p:cNvSpPr/>
          <p:nvPr/>
        </p:nvSpPr>
        <p:spPr>
          <a:xfrm>
            <a:off x="543960" y="1484640"/>
            <a:ext cx="4679640" cy="45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Jede Person an einem Ort gleichzeitig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Tür verbindet zwei Räume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Tür kann geöffnet/geschlossen sein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Person darf nur bei geöffneter Tür passieren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Keine Teleportation ermöglichen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86;p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Weitere Grundgesetze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Alle Räume sind von allen Räumen aus erreichbar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Um das Gebäude herum existiert ein Außenbereich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Der Außenbereich kann nur durch eine Eingangstür betreten werden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Jeder Nachbarraum eines Raums ist wiederum Nachbar des Nachbarraums (Symmetrie)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89;p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23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F5662A-DF20-4E76-A0F5-B129BB536ED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95;p 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899424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Umsetzung in Alloy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Event B: Aufbau und schrittweise Verfeinerung des Modells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98;p 3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24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DE08C6-0531-4542-8C4E-44FB09461CB2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</a:t>
            </a:fld>
            <a:endParaRPr lang="de-DE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Übersicht der Objekte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25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80F2A6-765E-440D-9738-4F0CCBC19EC6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8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Grafik 2"/>
          <p:cNvPicPr/>
          <p:nvPr/>
        </p:nvPicPr>
        <p:blipFill>
          <a:blip r:embed="rId3"/>
          <a:stretch/>
        </p:blipFill>
        <p:spPr>
          <a:xfrm>
            <a:off x="2303640" y="1268280"/>
            <a:ext cx="7582680" cy="457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Übersicht der Axiome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26"/>
          </p:nvPr>
        </p:nvSpPr>
        <p:spPr>
          <a:xfrm>
            <a:off x="11473200" y="6414840"/>
            <a:ext cx="24660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4BB3FE-F35E-4299-AD50-9DA011D539F6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Grafik 10"/>
          <p:cNvPicPr/>
          <p:nvPr/>
        </p:nvPicPr>
        <p:blipFill>
          <a:blip r:embed="rId3"/>
          <a:stretch/>
        </p:blipFill>
        <p:spPr>
          <a:xfrm>
            <a:off x="6490800" y="1574280"/>
            <a:ext cx="4980600" cy="19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feld 11"/>
          <p:cNvSpPr/>
          <p:nvPr/>
        </p:nvSpPr>
        <p:spPr>
          <a:xfrm>
            <a:off x="543960" y="1873080"/>
            <a:ext cx="6820920" cy="330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fact genauEinenGarten { #GARTEN = 1}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fact alleRaumeInEinemGebaeude {all r: RAUM | r in GARTEN.^nachbarn}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fact einePersonInGenauEinemOrt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(all p: PERSON | #(p.~personenImOrtGrob) = 1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and #(p.~personenImOrtFein) = 1)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fact tuerImmerOffenWennPersonEnthalten{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all t: TUER |  #(t.personenImOrtFein) &gt;= 1 implies t.offen =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fact alleNachbarnSindSymmetrisch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r: RAUM, t: TUER | r in t.nachbarn &lt;=&gt; t in r.nachbarn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t:TUER, r: RAUM | t in r.nachbarn &lt;=&gt; r in t.nachbarn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fact tuerVerbindetZweiRaeume {all t: TUER | #t.nachbarn = 2}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86;p 1"/>
          <p:cNvSpPr/>
          <p:nvPr/>
        </p:nvSpPr>
        <p:spPr>
          <a:xfrm>
            <a:off x="1569600" y="6417000"/>
            <a:ext cx="435636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3120" cy="575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Übersicht der Invarianten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89;p 2"/>
          <p:cNvSpPr/>
          <p:nvPr/>
        </p:nvSpPr>
        <p:spPr>
          <a:xfrm>
            <a:off x="589680" y="6417000"/>
            <a:ext cx="74772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27"/>
          </p:nvPr>
        </p:nvSpPr>
        <p:spPr>
          <a:xfrm>
            <a:off x="11473200" y="6415920"/>
            <a:ext cx="246600" cy="2451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816A2B-1744-45EA-9DE2-5E4BBA297B6C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10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Grafik 10"/>
          <p:cNvPicPr/>
          <p:nvPr/>
        </p:nvPicPr>
        <p:blipFill>
          <a:blip r:embed="rId3"/>
          <a:stretch/>
        </p:blipFill>
        <p:spPr>
          <a:xfrm>
            <a:off x="5926320" y="3552480"/>
            <a:ext cx="5720400" cy="224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feld 11"/>
          <p:cNvSpPr/>
          <p:nvPr/>
        </p:nvSpPr>
        <p:spPr>
          <a:xfrm>
            <a:off x="543960" y="1426680"/>
            <a:ext cx="7705440" cy="48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assert keineTeleportation_GROB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all p: PERSON, von, nach: ORT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(p in von.personenImOrtGrob and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nach.personenImOrtGrob' implies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(nach in von.nachbarn.nachbarn)) or (p in von.personenImOrtGrob and p in von.personenImOrtGrob')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assert keineTeleportation_FEIN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all p: PERSON, von, nach: ORT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(p in von.personenImOrtFein and p in nach.personenImOrtFein' implies (nach in von.nachbarn)) or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(p in von.personenImOrtFein and p in von.personenImOrtFein')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assert personIstNieInTuer_GROB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all p: PERSON, t: TUER |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(p not in t.personenImOrtGrob)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assert personenImGrobmodellNurInRaeumen{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all t: TUER | no t.personenImOrtGrob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assert verfeinerungKorrekt {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always all p: PERSON, r1, r2: RAUM |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(p in r1.personenImOrtFein and p in r2.personenImOrtFein')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implies (p in r1.personenImOrtGrob' and p in r2.personenImOrtGrob‘)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Übersicht der Objekte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28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5FEC7B-D025-4198-8C7B-13BFB498C5B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Grafik 2"/>
          <p:cNvPicPr/>
          <p:nvPr/>
        </p:nvPicPr>
        <p:blipFill>
          <a:blip r:embed="rId3"/>
          <a:stretch/>
        </p:blipFill>
        <p:spPr>
          <a:xfrm>
            <a:off x="2483640" y="2086560"/>
            <a:ext cx="5132880" cy="20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rafik 4"/>
          <p:cNvPicPr/>
          <p:nvPr/>
        </p:nvPicPr>
        <p:blipFill>
          <a:blip r:embed="rId4"/>
          <a:stretch/>
        </p:blipFill>
        <p:spPr>
          <a:xfrm>
            <a:off x="637560" y="4434120"/>
            <a:ext cx="5456880" cy="187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rafik 6"/>
          <p:cNvPicPr/>
          <p:nvPr/>
        </p:nvPicPr>
        <p:blipFill>
          <a:blip r:embed="rId5"/>
          <a:stretch/>
        </p:blipFill>
        <p:spPr>
          <a:xfrm>
            <a:off x="6004080" y="2423880"/>
            <a:ext cx="4980600" cy="19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rafik 3"/>
          <p:cNvPicPr/>
          <p:nvPr/>
        </p:nvPicPr>
        <p:blipFill>
          <a:blip r:embed="rId6"/>
          <a:stretch/>
        </p:blipFill>
        <p:spPr>
          <a:xfrm>
            <a:off x="416160" y="1748880"/>
            <a:ext cx="5066280" cy="197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/>
          </p:nvPr>
        </p:nvSpPr>
        <p:spPr>
          <a:xfrm>
            <a:off x="696240" y="4841280"/>
            <a:ext cx="7620480" cy="8791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Grundlagen für die weiteren Schritte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itel 1"/>
          <p:cNvSpPr/>
          <p:nvPr/>
        </p:nvSpPr>
        <p:spPr>
          <a:xfrm>
            <a:off x="696240" y="3833640"/>
            <a:ext cx="7620480" cy="100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b">
            <a:normAutofit fontScale="925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Ereignisse des Grobes Modells</a:t>
            </a:r>
          </a:p>
        </p:txBody>
      </p:sp>
      <p:pic>
        <p:nvPicPr>
          <p:cNvPr id="156" name="Grafik 151"/>
          <p:cNvPicPr/>
          <p:nvPr/>
        </p:nvPicPr>
        <p:blipFill>
          <a:blip r:embed="rId2"/>
          <a:stretch/>
        </p:blipFill>
        <p:spPr>
          <a:xfrm>
            <a:off x="5720040" y="1540800"/>
            <a:ext cx="5865840" cy="1353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86;p 1"/>
          <p:cNvSpPr/>
          <p:nvPr/>
        </p:nvSpPr>
        <p:spPr>
          <a:xfrm>
            <a:off x="1569600" y="6417360"/>
            <a:ext cx="43560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760" cy="574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Grobes Modell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89;p 2"/>
          <p:cNvSpPr/>
          <p:nvPr/>
        </p:nvSpPr>
        <p:spPr>
          <a:xfrm>
            <a:off x="589680" y="6417360"/>
            <a:ext cx="7473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29"/>
          </p:nvPr>
        </p:nvSpPr>
        <p:spPr>
          <a:xfrm>
            <a:off x="11473200" y="6415560"/>
            <a:ext cx="246600" cy="2455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8B549D-03B9-4F4C-97DC-C35D3BE0982C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feld 4"/>
          <p:cNvSpPr/>
          <p:nvPr/>
        </p:nvSpPr>
        <p:spPr>
          <a:xfrm>
            <a:off x="2715840" y="1553400"/>
            <a:ext cx="6759360" cy="229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schrittGrob[p: PERSON, von, nach: RAUM]{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//pre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von.personenImOrtGrob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t: TUER | t in von.nachbarn and t in nach.nachbarn and t.offen in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//post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von.personenImOrtGrob' = von.personenImOrtGrob -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nach.personenImOrtGrob' = nach.personenImOrtGrob +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//frame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- (von + nach)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feld 1"/>
          <p:cNvSpPr/>
          <p:nvPr/>
        </p:nvSpPr>
        <p:spPr>
          <a:xfrm>
            <a:off x="3260520" y="5493600"/>
            <a:ext cx="187812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feld 5"/>
          <p:cNvSpPr/>
          <p:nvPr/>
        </p:nvSpPr>
        <p:spPr>
          <a:xfrm>
            <a:off x="6713640" y="5491440"/>
            <a:ext cx="187812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nach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feil: nach rechts 6"/>
          <p:cNvSpPr/>
          <p:nvPr/>
        </p:nvSpPr>
        <p:spPr>
          <a:xfrm rot="9762600">
            <a:off x="8504280" y="1788840"/>
            <a:ext cx="935280" cy="38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feld 8"/>
          <p:cNvSpPr/>
          <p:nvPr/>
        </p:nvSpPr>
        <p:spPr>
          <a:xfrm>
            <a:off x="9334800" y="1457280"/>
            <a:ext cx="187812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Später von Verfeinerungen definiert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Grafik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260520" y="3949560"/>
            <a:ext cx="5331240" cy="123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rafik 5"/>
          <p:cNvPicPr/>
          <p:nvPr/>
        </p:nvPicPr>
        <p:blipFill>
          <a:blip r:embed="rId3"/>
          <a:stretch/>
        </p:blipFill>
        <p:spPr>
          <a:xfrm>
            <a:off x="4387680" y="3660480"/>
            <a:ext cx="823680" cy="995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86;p 1"/>
          <p:cNvSpPr/>
          <p:nvPr/>
        </p:nvSpPr>
        <p:spPr>
          <a:xfrm>
            <a:off x="1569600" y="6417360"/>
            <a:ext cx="43560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760" cy="574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Grobes Modell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89;p 2"/>
          <p:cNvSpPr/>
          <p:nvPr/>
        </p:nvSpPr>
        <p:spPr>
          <a:xfrm>
            <a:off x="589680" y="6417360"/>
            <a:ext cx="7473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ldNum" idx="30"/>
          </p:nvPr>
        </p:nvSpPr>
        <p:spPr>
          <a:xfrm>
            <a:off x="11473200" y="6415560"/>
            <a:ext cx="240120" cy="2455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906B7F-9A2C-4A1A-8C75-11058F51F04E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14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feld 4"/>
          <p:cNvSpPr/>
          <p:nvPr/>
        </p:nvSpPr>
        <p:spPr>
          <a:xfrm>
            <a:off x="2715840" y="1553400"/>
            <a:ext cx="6759360" cy="229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schrittGrob[p: PERSON, von, nach: RAUM]{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//pre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von.personenImOrtGrob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t: TUER | t in von.nachbarn and t in nach.nachbarn and t.offen in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//post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von.personenImOrtGrob' = von.personenImOrtGrob -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nach.personenImOrtGrob' = nach.personenImOrtGrob +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//frame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- (von + nach)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feld 1"/>
          <p:cNvSpPr/>
          <p:nvPr/>
        </p:nvSpPr>
        <p:spPr>
          <a:xfrm>
            <a:off x="3260520" y="5493600"/>
            <a:ext cx="187812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feld 5"/>
          <p:cNvSpPr/>
          <p:nvPr/>
        </p:nvSpPr>
        <p:spPr>
          <a:xfrm>
            <a:off x="6713640" y="5491440"/>
            <a:ext cx="187812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nach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feil: nach rechts 6"/>
          <p:cNvSpPr/>
          <p:nvPr/>
        </p:nvSpPr>
        <p:spPr>
          <a:xfrm rot="9762600">
            <a:off x="8504280" y="1788840"/>
            <a:ext cx="935280" cy="38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feld 8"/>
          <p:cNvSpPr/>
          <p:nvPr/>
        </p:nvSpPr>
        <p:spPr>
          <a:xfrm>
            <a:off x="9334800" y="1457280"/>
            <a:ext cx="187812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Später von Verfeinerungen definiert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Grafik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260520" y="3949560"/>
            <a:ext cx="5331240" cy="123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rafik 5"/>
          <p:cNvPicPr/>
          <p:nvPr/>
        </p:nvPicPr>
        <p:blipFill>
          <a:blip r:embed="rId3"/>
          <a:stretch/>
        </p:blipFill>
        <p:spPr>
          <a:xfrm>
            <a:off x="6583680" y="3570120"/>
            <a:ext cx="823680" cy="995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Inhalt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Anforderung: Orte, Räume/Türen, Nachbarschaft symmetrisch, Person genau in einem Raum, Ereignis bewege (Tür offen, Nachbarschaft nötig)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Alloy: sigs für Ort/Raum/Tür/Person, facts für die Grundregeln, pred bewege, erste check/run-Beispiele (z. B. „keine Bewegung ohne offene Tür")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Lean: Zustandsdefinition, Funktion bewege, Beweis: Person bleibt nach Bewegung genau einem Raum zugeordnet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31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BC4CEA-F088-42BA-94BD-EDAF04DC898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762048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Ereignisse des feinen Modells</a:t>
            </a: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43960" y="4689000"/>
            <a:ext cx="7620480" cy="12009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Umsetzung der Türen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Grafik 16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95880" y="1547280"/>
            <a:ext cx="5475240" cy="152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32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AC2E3F-6312-44B8-BE47-80FF53F3412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1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738120" y="377352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rafik 6"/>
          <p:cNvPicPr/>
          <p:nvPr/>
        </p:nvPicPr>
        <p:blipFill>
          <a:blip r:embed="rId3"/>
          <a:stretch/>
        </p:blipFill>
        <p:spPr>
          <a:xfrm>
            <a:off x="6784200" y="2117520"/>
            <a:ext cx="4483800" cy="1035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86;p 1"/>
          <p:cNvSpPr/>
          <p:nvPr/>
        </p:nvSpPr>
        <p:spPr>
          <a:xfrm>
            <a:off x="1569600" y="6417360"/>
            <a:ext cx="43560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760" cy="574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Modell: Initialer Zustand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89;p 2"/>
          <p:cNvSpPr/>
          <p:nvPr/>
        </p:nvSpPr>
        <p:spPr>
          <a:xfrm>
            <a:off x="589680" y="6417360"/>
            <a:ext cx="7473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33"/>
          </p:nvPr>
        </p:nvSpPr>
        <p:spPr>
          <a:xfrm>
            <a:off x="11473200" y="6415560"/>
            <a:ext cx="266760" cy="2455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E0A06C-DC78-46F1-9444-05B9F2729793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18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7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200" y="3803040"/>
            <a:ext cx="4598280" cy="8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rafik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890880" y="1989360"/>
            <a:ext cx="4408920" cy="101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rafik 5"/>
          <p:cNvPicPr/>
          <p:nvPr/>
        </p:nvPicPr>
        <p:blipFill>
          <a:blip r:embed="rId4"/>
          <a:stretch/>
        </p:blipFill>
        <p:spPr>
          <a:xfrm>
            <a:off x="4581360" y="1478880"/>
            <a:ext cx="82368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Grafik 8"/>
          <p:cNvPicPr/>
          <p:nvPr/>
        </p:nvPicPr>
        <p:blipFill>
          <a:blip r:embed="rId4"/>
          <a:stretch/>
        </p:blipFill>
        <p:spPr>
          <a:xfrm>
            <a:off x="4397040" y="3187440"/>
            <a:ext cx="82368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Grafik 10"/>
          <p:cNvPicPr/>
          <p:nvPr/>
        </p:nvPicPr>
        <p:blipFill>
          <a:blip r:embed="rId5"/>
          <a:stretch/>
        </p:blipFill>
        <p:spPr>
          <a:xfrm>
            <a:off x="3735360" y="1204560"/>
            <a:ext cx="845280" cy="120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Grafik 12"/>
          <p:cNvPicPr/>
          <p:nvPr/>
        </p:nvPicPr>
        <p:blipFill>
          <a:blip r:embed="rId5"/>
          <a:stretch/>
        </p:blipFill>
        <p:spPr>
          <a:xfrm>
            <a:off x="3552840" y="3016440"/>
            <a:ext cx="845280" cy="12099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03" name="Tabelle 3"/>
          <p:cNvGraphicFramePr/>
          <p:nvPr/>
        </p:nvGraphicFramePr>
        <p:xfrm>
          <a:off x="8990640" y="1668960"/>
          <a:ext cx="2230200" cy="1341000"/>
        </p:xfrm>
        <a:graphic>
          <a:graphicData uri="http://schemas.openxmlformats.org/drawingml/2006/table">
            <a:tbl>
              <a:tblPr/>
              <a:tblGrid>
                <a:gridCol w="7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320">
                <a:tc>
                  <a:txBody>
                    <a:bodyPr/>
                    <a:lstStyle/>
                    <a:p>
                      <a:endParaRPr lang="de-DE" sz="10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2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Grobes Modell: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Verfeinerung: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86;p 1"/>
          <p:cNvSpPr/>
          <p:nvPr/>
        </p:nvSpPr>
        <p:spPr>
          <a:xfrm>
            <a:off x="1569600" y="6417360"/>
            <a:ext cx="43560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760" cy="574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Modell: Schritt 1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89;p 2"/>
          <p:cNvSpPr/>
          <p:nvPr/>
        </p:nvSpPr>
        <p:spPr>
          <a:xfrm>
            <a:off x="589680" y="6417360"/>
            <a:ext cx="7473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34"/>
          </p:nvPr>
        </p:nvSpPr>
        <p:spPr>
          <a:xfrm>
            <a:off x="11473200" y="6415560"/>
            <a:ext cx="246600" cy="2455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6927A7-94BC-4D03-ACC2-A85FD0078F8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8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200" y="3803040"/>
            <a:ext cx="4598280" cy="8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Grafik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890880" y="1989360"/>
            <a:ext cx="4408920" cy="101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rafik 5"/>
          <p:cNvPicPr/>
          <p:nvPr/>
        </p:nvPicPr>
        <p:blipFill>
          <a:blip r:embed="rId4"/>
          <a:stretch/>
        </p:blipFill>
        <p:spPr>
          <a:xfrm>
            <a:off x="4581360" y="1478880"/>
            <a:ext cx="82368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Grafik 8"/>
          <p:cNvPicPr/>
          <p:nvPr/>
        </p:nvPicPr>
        <p:blipFill>
          <a:blip r:embed="rId4"/>
          <a:stretch/>
        </p:blipFill>
        <p:spPr>
          <a:xfrm>
            <a:off x="5572440" y="3187440"/>
            <a:ext cx="82368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rafik 10"/>
          <p:cNvPicPr/>
          <p:nvPr/>
        </p:nvPicPr>
        <p:blipFill>
          <a:blip r:embed="rId5"/>
          <a:stretch/>
        </p:blipFill>
        <p:spPr>
          <a:xfrm>
            <a:off x="3735360" y="1204560"/>
            <a:ext cx="845280" cy="120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Grafik 12"/>
          <p:cNvPicPr/>
          <p:nvPr/>
        </p:nvPicPr>
        <p:blipFill>
          <a:blip r:embed="rId5"/>
          <a:stretch/>
        </p:blipFill>
        <p:spPr>
          <a:xfrm>
            <a:off x="3552840" y="3016440"/>
            <a:ext cx="845280" cy="120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Pfeil: nach rechts 4"/>
          <p:cNvSpPr/>
          <p:nvPr/>
        </p:nvSpPr>
        <p:spPr>
          <a:xfrm rot="20607000">
            <a:off x="2684520" y="2282400"/>
            <a:ext cx="935280" cy="38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feld 7"/>
          <p:cNvSpPr/>
          <p:nvPr/>
        </p:nvSpPr>
        <p:spPr>
          <a:xfrm>
            <a:off x="355680" y="2547000"/>
            <a:ext cx="3300840" cy="76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StutterSchritt_2{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all o: ORT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o.personenImOrtGrob‘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6" name="Tabelle 3"/>
          <p:cNvGraphicFramePr/>
          <p:nvPr/>
        </p:nvGraphicFramePr>
        <p:xfrm>
          <a:off x="8990640" y="1668960"/>
          <a:ext cx="2230200" cy="1338720"/>
        </p:xfrm>
        <a:graphic>
          <a:graphicData uri="http://schemas.openxmlformats.org/drawingml/2006/table">
            <a:tbl>
              <a:tblPr/>
              <a:tblGrid>
                <a:gridCol w="7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320">
                <a:tc>
                  <a:txBody>
                    <a:bodyPr/>
                    <a:lstStyle/>
                    <a:p>
                      <a:endParaRPr lang="de-DE" sz="10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2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Grobes Modell: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Verfeinerung: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7" name="Textfeld 4"/>
          <p:cNvSpPr/>
          <p:nvPr/>
        </p:nvSpPr>
        <p:spPr>
          <a:xfrm>
            <a:off x="589680" y="4842360"/>
            <a:ext cx="5551560" cy="11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schrittFein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p: PERSON, r1, r2: RAUM, t: TUER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((betreteTuer[p, r1, t] and StutterSchritt_2) or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(verlasseTuer[p, r2, t] and schrittGrob[p, r1, r2])) and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vorbedingungenMoveFein[r1, r2, t]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86;p 1"/>
          <p:cNvSpPr/>
          <p:nvPr/>
        </p:nvSpPr>
        <p:spPr>
          <a:xfrm>
            <a:off x="1569600" y="6417360"/>
            <a:ext cx="43560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760" cy="574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Modell: Schritt 2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89;p 2"/>
          <p:cNvSpPr/>
          <p:nvPr/>
        </p:nvSpPr>
        <p:spPr>
          <a:xfrm>
            <a:off x="589680" y="6417360"/>
            <a:ext cx="7473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35"/>
          </p:nvPr>
        </p:nvSpPr>
        <p:spPr>
          <a:xfrm>
            <a:off x="11473200" y="6415560"/>
            <a:ext cx="240120" cy="2455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F0F705-F7E6-4F35-AF2D-43FA405A3A28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20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2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200" y="3803040"/>
            <a:ext cx="4598280" cy="8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Grafik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890880" y="1989360"/>
            <a:ext cx="4408920" cy="101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Grafik 5"/>
          <p:cNvPicPr/>
          <p:nvPr/>
        </p:nvPicPr>
        <p:blipFill>
          <a:blip r:embed="rId4"/>
          <a:stretch/>
        </p:blipFill>
        <p:spPr>
          <a:xfrm>
            <a:off x="7570440" y="1478880"/>
            <a:ext cx="82368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Grafik 8"/>
          <p:cNvPicPr/>
          <p:nvPr/>
        </p:nvPicPr>
        <p:blipFill>
          <a:blip r:embed="rId4"/>
          <a:stretch/>
        </p:blipFill>
        <p:spPr>
          <a:xfrm>
            <a:off x="7570440" y="3187440"/>
            <a:ext cx="82368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rafik 10"/>
          <p:cNvPicPr/>
          <p:nvPr/>
        </p:nvPicPr>
        <p:blipFill>
          <a:blip r:embed="rId5"/>
          <a:stretch/>
        </p:blipFill>
        <p:spPr>
          <a:xfrm>
            <a:off x="3735360" y="1204560"/>
            <a:ext cx="845280" cy="120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Grafik 12"/>
          <p:cNvPicPr/>
          <p:nvPr/>
        </p:nvPicPr>
        <p:blipFill>
          <a:blip r:embed="rId5"/>
          <a:stretch/>
        </p:blipFill>
        <p:spPr>
          <a:xfrm>
            <a:off x="3552840" y="3016440"/>
            <a:ext cx="845280" cy="12099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28" name="Tabelle 3"/>
          <p:cNvGraphicFramePr/>
          <p:nvPr/>
        </p:nvGraphicFramePr>
        <p:xfrm>
          <a:off x="8990640" y="1668960"/>
          <a:ext cx="2230200" cy="1338720"/>
        </p:xfrm>
        <a:graphic>
          <a:graphicData uri="http://schemas.openxmlformats.org/drawingml/2006/table">
            <a:tbl>
              <a:tblPr/>
              <a:tblGrid>
                <a:gridCol w="7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320">
                <a:tc>
                  <a:txBody>
                    <a:bodyPr/>
                    <a:lstStyle/>
                    <a:p>
                      <a:endParaRPr lang="de-DE" sz="10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2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Grobes Modell: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Verfeinerung: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9" name="Pfeil: nach rechts 4"/>
          <p:cNvSpPr/>
          <p:nvPr/>
        </p:nvSpPr>
        <p:spPr>
          <a:xfrm rot="20607000">
            <a:off x="2684520" y="2282400"/>
            <a:ext cx="935280" cy="38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feld 7"/>
          <p:cNvSpPr/>
          <p:nvPr/>
        </p:nvSpPr>
        <p:spPr>
          <a:xfrm>
            <a:off x="355680" y="2547000"/>
            <a:ext cx="3300840" cy="76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StutterSchritt_2{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all o: ORT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o.personenImOrtGrob‘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feld 10"/>
          <p:cNvSpPr/>
          <p:nvPr/>
        </p:nvSpPr>
        <p:spPr>
          <a:xfrm>
            <a:off x="589680" y="4842360"/>
            <a:ext cx="5551560" cy="11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schrittFein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p: PERSON, r1, r2: RAUM, t: TUER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((betreteTuer[p, r1, t] and StutterSchritt_2) or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(verlasseTuer[p, r2, t] and schrittGrob[p, r1, r2])) and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vorbedingungenMoveFein[r1, r2, t]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36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82BECE-8D2F-4EA3-AAC5-F790BC35E72D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6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738120" y="377352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Grafik 6"/>
          <p:cNvPicPr/>
          <p:nvPr/>
        </p:nvPicPr>
        <p:blipFill>
          <a:blip r:embed="rId3"/>
          <a:stretch/>
        </p:blipFill>
        <p:spPr>
          <a:xfrm>
            <a:off x="6784200" y="2117520"/>
            <a:ext cx="4483800" cy="103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feld 8"/>
          <p:cNvSpPr/>
          <p:nvPr/>
        </p:nvSpPr>
        <p:spPr>
          <a:xfrm>
            <a:off x="543960" y="2838600"/>
            <a:ext cx="546300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schrittFein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p: PERSON, r1, r2: RAUM, t: TUER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((betreteTuer[p, r1, t] and StutterSchritt_2[t]) or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(verlasseTuer[p, r2, t] and schrittGrob[p, r1, r2])) and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vorbedingungenMoveFein[r1, r2, t]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Übersicht Verfeinerung</a:t>
            </a:r>
          </a:p>
        </p:txBody>
      </p:sp>
      <p:graphicFrame>
        <p:nvGraphicFramePr>
          <p:cNvPr id="240" name="Tabelle 3"/>
          <p:cNvGraphicFramePr/>
          <p:nvPr/>
        </p:nvGraphicFramePr>
        <p:xfrm>
          <a:off x="2031840" y="2509200"/>
          <a:ext cx="8127000" cy="1483200"/>
        </p:xfrm>
        <a:graphic>
          <a:graphicData uri="http://schemas.openxmlformats.org/drawingml/2006/table">
            <a:tbl>
              <a:tblPr/>
              <a:tblGrid>
                <a:gridCol w="203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endParaRPr lang="de-DE" sz="18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2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Grobes Modell: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Verfeinerung: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86;p 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Inhalt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Anforderung: Tür wird eigener Ort, Ereignisse betreteTuer/verlasseTuer, Zustandsdiagramm ImRaum → InTür → ImRaum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Alloy: Erweiterung der sigs/facts, neue preds betreteTuer/verlasseTuer, check dass „Bewegung ohne Zwischenzustand in der Tür" nicht mehr direkt zulässig ist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Lean: Erweiterte Zustandsdefinition, Beweis, dass Verkettung von betreteTuer und verlasseTuer dasselbe fachliche Ergebnis liefert wie bewege aus Stufe 1 (Refinement-Nachweis)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89;p 1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37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F3E542-E937-490F-B2BE-29CC072AFDC3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861984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Ereignis: Autorisierung</a:t>
            </a: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141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Nur Bewohner dürfen Türen öffnen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Grafik 22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77880" y="1743120"/>
            <a:ext cx="5465520" cy="1607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 mit Autorisierung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ldNum" idx="38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2A5CC1-2008-415E-A73D-A5B7A8630999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3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731280" y="427536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Grafik 6"/>
          <p:cNvPicPr/>
          <p:nvPr/>
        </p:nvPicPr>
        <p:blipFill>
          <a:blip r:embed="rId3"/>
          <a:stretch/>
        </p:blipFill>
        <p:spPr>
          <a:xfrm>
            <a:off x="6731280" y="1519560"/>
            <a:ext cx="4597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feld 8"/>
          <p:cNvSpPr/>
          <p:nvPr/>
        </p:nvSpPr>
        <p:spPr>
          <a:xfrm>
            <a:off x="543960" y="2838600"/>
            <a:ext cx="546300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schrittFein 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p: PERSON, r1, r2: RAUM, t: TUER |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((betreteTuer[p, r1, t] and StutterSchritt_2[t]) or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(verlasseTuer[p, r2, t] and schrittGrob[p, r1, r2])) and 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	vorbedingungenMoveFein[r1, r2, t]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Grafik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731280" y="2963880"/>
            <a:ext cx="4597560" cy="855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 dirty="0" err="1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Autorisierung</a:t>
            </a:r>
            <a:endParaRPr lang="de-DE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ldNum" idx="39"/>
          </p:nvPr>
        </p:nvSpPr>
        <p:spPr>
          <a:xfrm>
            <a:off x="11473200" y="6414840"/>
            <a:ext cx="27360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87B99F-7A7E-459E-B6CC-F2E8C163265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26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1" name="Grafik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560" y="424224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rafik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796560" y="2340360"/>
            <a:ext cx="4597560" cy="106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Grafik 7"/>
          <p:cNvPicPr/>
          <p:nvPr/>
        </p:nvPicPr>
        <p:blipFill>
          <a:blip r:embed="rId4"/>
          <a:stretch/>
        </p:blipFill>
        <p:spPr>
          <a:xfrm>
            <a:off x="4574160" y="184212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Grafik 10"/>
          <p:cNvPicPr/>
          <p:nvPr/>
        </p:nvPicPr>
        <p:blipFill>
          <a:blip r:embed="rId5"/>
          <a:stretch/>
        </p:blipFill>
        <p:spPr>
          <a:xfrm>
            <a:off x="3727800" y="156816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Multiplikationszeichen 11"/>
          <p:cNvSpPr/>
          <p:nvPr/>
        </p:nvSpPr>
        <p:spPr>
          <a:xfrm>
            <a:off x="5635080" y="4209840"/>
            <a:ext cx="919800" cy="919800"/>
          </a:xfrm>
          <a:prstGeom prst="mathMultiply">
            <a:avLst>
              <a:gd name="adj1" fmla="val 2352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66" name="Grafik 13"/>
          <p:cNvPicPr/>
          <p:nvPr/>
        </p:nvPicPr>
        <p:blipFill>
          <a:blip r:embed="rId4"/>
          <a:stretch/>
        </p:blipFill>
        <p:spPr>
          <a:xfrm>
            <a:off x="4475880" y="367740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Grafik 15"/>
          <p:cNvPicPr/>
          <p:nvPr/>
        </p:nvPicPr>
        <p:blipFill>
          <a:blip r:embed="rId5"/>
          <a:stretch/>
        </p:blipFill>
        <p:spPr>
          <a:xfrm>
            <a:off x="3629520" y="340308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feld 29">
            <a:extLst>
              <a:ext uri="{FF2B5EF4-FFF2-40B4-BE49-F238E27FC236}">
                <a16:creationId xmlns:a16="http://schemas.microsoft.com/office/drawing/2014/main" id="{0F678D81-4A88-94A6-2561-ABD95ABF263B}"/>
              </a:ext>
            </a:extLst>
          </p:cNvPr>
          <p:cNvSpPr/>
          <p:nvPr/>
        </p:nvSpPr>
        <p:spPr>
          <a:xfrm>
            <a:off x="5574930" y="1016996"/>
            <a:ext cx="6470320" cy="9372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de-DE" sz="1100" dirty="0" err="1">
                <a:solidFill>
                  <a:schemeClr val="dk1"/>
                </a:solidFill>
              </a:rPr>
              <a:t>pred</a:t>
            </a:r>
            <a:r>
              <a:rPr lang="de-DE" sz="1100" dirty="0">
                <a:solidFill>
                  <a:schemeClr val="dk1"/>
                </a:solidFill>
              </a:rPr>
              <a:t> </a:t>
            </a:r>
            <a:r>
              <a:rPr lang="de-DE" sz="1100" dirty="0" err="1">
                <a:solidFill>
                  <a:schemeClr val="dk1"/>
                </a:solidFill>
              </a:rPr>
              <a:t>schrittSehrFein</a:t>
            </a:r>
            <a:r>
              <a:rPr lang="de-DE" sz="1100" dirty="0">
                <a:solidFill>
                  <a:schemeClr val="dk1"/>
                </a:solidFill>
              </a:rPr>
              <a:t> {</a:t>
            </a:r>
          </a:p>
          <a:p>
            <a:r>
              <a:rPr lang="de-DE" sz="1100" dirty="0">
                <a:solidFill>
                  <a:schemeClr val="dk1"/>
                </a:solidFill>
              </a:rPr>
              <a:t>	</a:t>
            </a:r>
            <a:r>
              <a:rPr lang="de-DE" sz="1100" dirty="0" err="1">
                <a:solidFill>
                  <a:schemeClr val="dk1"/>
                </a:solidFill>
              </a:rPr>
              <a:t>some</a:t>
            </a:r>
            <a:r>
              <a:rPr lang="de-DE" sz="1100" dirty="0">
                <a:solidFill>
                  <a:schemeClr val="dk1"/>
                </a:solidFill>
              </a:rPr>
              <a:t> p: PERSON, t: TUER |</a:t>
            </a:r>
          </a:p>
          <a:p>
            <a:r>
              <a:rPr lang="de-DE" sz="1100" dirty="0">
                <a:solidFill>
                  <a:schemeClr val="dk1"/>
                </a:solidFill>
              </a:rPr>
              <a:t>	(</a:t>
            </a:r>
            <a:r>
              <a:rPr lang="de-DE" sz="1100" dirty="0" err="1">
                <a:solidFill>
                  <a:schemeClr val="dk1"/>
                </a:solidFill>
              </a:rPr>
              <a:t>oeffneTuer</a:t>
            </a:r>
            <a:r>
              <a:rPr lang="de-DE" sz="1100" dirty="0">
                <a:solidFill>
                  <a:schemeClr val="dk1"/>
                </a:solidFill>
              </a:rPr>
              <a:t>[p, t] and StutterSchritt_1) </a:t>
            </a:r>
            <a:r>
              <a:rPr lang="de-DE" sz="1100" dirty="0" err="1">
                <a:solidFill>
                  <a:schemeClr val="dk1"/>
                </a:solidFill>
              </a:rPr>
              <a:t>or</a:t>
            </a:r>
            <a:r>
              <a:rPr lang="de-DE" sz="1100" dirty="0">
                <a:solidFill>
                  <a:schemeClr val="dk1"/>
                </a:solidFill>
              </a:rPr>
              <a:t> (</a:t>
            </a:r>
            <a:r>
              <a:rPr lang="de-DE" sz="1100" dirty="0" err="1">
                <a:solidFill>
                  <a:schemeClr val="dk1"/>
                </a:solidFill>
              </a:rPr>
              <a:t>schrittFein</a:t>
            </a:r>
            <a:r>
              <a:rPr lang="de-DE" sz="1100" dirty="0">
                <a:solidFill>
                  <a:schemeClr val="dk1"/>
                </a:solidFill>
              </a:rPr>
              <a:t> and </a:t>
            </a:r>
            <a:r>
              <a:rPr lang="de-DE" sz="1100" dirty="0" err="1">
                <a:solidFill>
                  <a:schemeClr val="dk1"/>
                </a:solidFill>
              </a:rPr>
              <a:t>tuerBleibtOffenOderFaelltZu</a:t>
            </a:r>
            <a:r>
              <a:rPr lang="de-DE" sz="1100" dirty="0">
                <a:solidFill>
                  <a:schemeClr val="dk1"/>
                </a:solidFill>
              </a:rPr>
              <a:t>)	</a:t>
            </a:r>
          </a:p>
          <a:p>
            <a:r>
              <a:rPr lang="de-DE" sz="1100" dirty="0">
                <a:solidFill>
                  <a:schemeClr val="dk1"/>
                </a:solidFill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Autorisierung: Schritt 1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ldNum" idx="40"/>
          </p:nvPr>
        </p:nvSpPr>
        <p:spPr>
          <a:xfrm>
            <a:off x="11473200" y="6415200"/>
            <a:ext cx="233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4FF98A-9217-441D-8E30-B2E53A401192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2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560" y="424224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Grafik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796560" y="2340360"/>
            <a:ext cx="4597560" cy="106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Grafik 11"/>
          <p:cNvPicPr/>
          <p:nvPr/>
        </p:nvPicPr>
        <p:blipFill>
          <a:blip r:embed="rId4"/>
          <a:stretch/>
        </p:blipFill>
        <p:spPr>
          <a:xfrm>
            <a:off x="4574160" y="184212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Grafik 13"/>
          <p:cNvPicPr/>
          <p:nvPr/>
        </p:nvPicPr>
        <p:blipFill>
          <a:blip r:embed="rId5"/>
          <a:stretch/>
        </p:blipFill>
        <p:spPr>
          <a:xfrm>
            <a:off x="3727800" y="156816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Grafik 15"/>
          <p:cNvPicPr/>
          <p:nvPr/>
        </p:nvPicPr>
        <p:blipFill>
          <a:blip r:embed="rId4"/>
          <a:stretch/>
        </p:blipFill>
        <p:spPr>
          <a:xfrm>
            <a:off x="4475880" y="367740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Grafik 17"/>
          <p:cNvPicPr/>
          <p:nvPr/>
        </p:nvPicPr>
        <p:blipFill>
          <a:blip r:embed="rId5"/>
          <a:stretch/>
        </p:blipFill>
        <p:spPr>
          <a:xfrm>
            <a:off x="3629520" y="340308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Pfeil: nach rechts 27"/>
          <p:cNvSpPr/>
          <p:nvPr/>
        </p:nvSpPr>
        <p:spPr>
          <a:xfrm rot="20607000">
            <a:off x="2576520" y="44784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feld 29"/>
          <p:cNvSpPr/>
          <p:nvPr/>
        </p:nvSpPr>
        <p:spPr>
          <a:xfrm>
            <a:off x="459000" y="5141160"/>
            <a:ext cx="609300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pred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StutterSchritt_1{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	all o: ORT |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o.personenImOrtFein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' =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o.personenImOrtFein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	all o: ORT |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o.personenImOrtGrob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' =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o.personenImOrtGrob</a:t>
            </a:r>
            <a:endParaRPr lang="de-DE" sz="1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feld 29">
            <a:extLst>
              <a:ext uri="{FF2B5EF4-FFF2-40B4-BE49-F238E27FC236}">
                <a16:creationId xmlns:a16="http://schemas.microsoft.com/office/drawing/2014/main" id="{C97655DB-1027-36F5-65A2-D8739633BE9D}"/>
              </a:ext>
            </a:extLst>
          </p:cNvPr>
          <p:cNvSpPr/>
          <p:nvPr/>
        </p:nvSpPr>
        <p:spPr>
          <a:xfrm>
            <a:off x="5574930" y="1016996"/>
            <a:ext cx="6470320" cy="9372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de-DE" sz="1100" dirty="0" err="1">
                <a:solidFill>
                  <a:schemeClr val="dk1"/>
                </a:solidFill>
              </a:rPr>
              <a:t>pred</a:t>
            </a:r>
            <a:r>
              <a:rPr lang="de-DE" sz="1100" dirty="0">
                <a:solidFill>
                  <a:schemeClr val="dk1"/>
                </a:solidFill>
              </a:rPr>
              <a:t> </a:t>
            </a:r>
            <a:r>
              <a:rPr lang="de-DE" sz="1100" dirty="0" err="1">
                <a:solidFill>
                  <a:schemeClr val="dk1"/>
                </a:solidFill>
              </a:rPr>
              <a:t>schrittSehrFein</a:t>
            </a:r>
            <a:r>
              <a:rPr lang="de-DE" sz="1100" dirty="0">
                <a:solidFill>
                  <a:schemeClr val="dk1"/>
                </a:solidFill>
              </a:rPr>
              <a:t> {</a:t>
            </a:r>
          </a:p>
          <a:p>
            <a:r>
              <a:rPr lang="de-DE" sz="1100" dirty="0">
                <a:solidFill>
                  <a:schemeClr val="dk1"/>
                </a:solidFill>
              </a:rPr>
              <a:t>	</a:t>
            </a:r>
            <a:r>
              <a:rPr lang="de-DE" sz="1100" dirty="0" err="1">
                <a:solidFill>
                  <a:schemeClr val="dk1"/>
                </a:solidFill>
              </a:rPr>
              <a:t>some</a:t>
            </a:r>
            <a:r>
              <a:rPr lang="de-DE" sz="1100" dirty="0">
                <a:solidFill>
                  <a:schemeClr val="dk1"/>
                </a:solidFill>
              </a:rPr>
              <a:t> p: PERSON, t: TUER |</a:t>
            </a:r>
          </a:p>
          <a:p>
            <a:r>
              <a:rPr lang="de-DE" sz="1100" dirty="0">
                <a:solidFill>
                  <a:schemeClr val="dk1"/>
                </a:solidFill>
              </a:rPr>
              <a:t>	(</a:t>
            </a:r>
            <a:r>
              <a:rPr lang="de-DE" sz="1100" dirty="0" err="1">
                <a:solidFill>
                  <a:schemeClr val="dk1"/>
                </a:solidFill>
              </a:rPr>
              <a:t>oeffneTuer</a:t>
            </a:r>
            <a:r>
              <a:rPr lang="de-DE" sz="1100" dirty="0">
                <a:solidFill>
                  <a:schemeClr val="dk1"/>
                </a:solidFill>
              </a:rPr>
              <a:t>[p, t] and StutterSchritt_1) </a:t>
            </a:r>
            <a:r>
              <a:rPr lang="de-DE" sz="1100" dirty="0" err="1">
                <a:solidFill>
                  <a:schemeClr val="dk1"/>
                </a:solidFill>
              </a:rPr>
              <a:t>or</a:t>
            </a:r>
            <a:r>
              <a:rPr lang="de-DE" sz="1100" dirty="0">
                <a:solidFill>
                  <a:schemeClr val="dk1"/>
                </a:solidFill>
              </a:rPr>
              <a:t> (</a:t>
            </a:r>
            <a:r>
              <a:rPr lang="de-DE" sz="1100" dirty="0" err="1">
                <a:solidFill>
                  <a:schemeClr val="dk1"/>
                </a:solidFill>
              </a:rPr>
              <a:t>schrittFein</a:t>
            </a:r>
            <a:r>
              <a:rPr lang="de-DE" sz="1100" dirty="0">
                <a:solidFill>
                  <a:schemeClr val="dk1"/>
                </a:solidFill>
              </a:rPr>
              <a:t> and </a:t>
            </a:r>
            <a:r>
              <a:rPr lang="de-DE" sz="1100" dirty="0" err="1">
                <a:solidFill>
                  <a:schemeClr val="dk1"/>
                </a:solidFill>
              </a:rPr>
              <a:t>tuerBleibtOffenOderFaelltZu</a:t>
            </a:r>
            <a:r>
              <a:rPr lang="de-DE" sz="1100" dirty="0">
                <a:solidFill>
                  <a:schemeClr val="dk1"/>
                </a:solidFill>
              </a:rPr>
              <a:t>)	</a:t>
            </a:r>
          </a:p>
          <a:p>
            <a:r>
              <a:rPr lang="de-DE" sz="1100" dirty="0">
                <a:solidFill>
                  <a:schemeClr val="dk1"/>
                </a:solidFill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Autorisierung: Schritt 2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sldNum" idx="41"/>
          </p:nvPr>
        </p:nvSpPr>
        <p:spPr>
          <a:xfrm>
            <a:off x="11473200" y="6414840"/>
            <a:ext cx="233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1915A8-858C-41A7-AE28-3C18A89D1E2E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28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4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560" y="424224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Grafik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796560" y="2340360"/>
            <a:ext cx="4597560" cy="106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Grafik 11"/>
          <p:cNvPicPr/>
          <p:nvPr/>
        </p:nvPicPr>
        <p:blipFill>
          <a:blip r:embed="rId4"/>
          <a:stretch/>
        </p:blipFill>
        <p:spPr>
          <a:xfrm>
            <a:off x="4574160" y="184212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Grafik 13"/>
          <p:cNvPicPr/>
          <p:nvPr/>
        </p:nvPicPr>
        <p:blipFill>
          <a:blip r:embed="rId5"/>
          <a:stretch/>
        </p:blipFill>
        <p:spPr>
          <a:xfrm>
            <a:off x="3727800" y="156816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Grafik 15"/>
          <p:cNvPicPr/>
          <p:nvPr/>
        </p:nvPicPr>
        <p:blipFill>
          <a:blip r:embed="rId4"/>
          <a:stretch/>
        </p:blipFill>
        <p:spPr>
          <a:xfrm>
            <a:off x="5346000" y="367740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Grafik 17"/>
          <p:cNvPicPr/>
          <p:nvPr/>
        </p:nvPicPr>
        <p:blipFill>
          <a:blip r:embed="rId5"/>
          <a:stretch/>
        </p:blipFill>
        <p:spPr>
          <a:xfrm>
            <a:off x="3629520" y="340308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Pfeil: nach rechts 2"/>
          <p:cNvSpPr/>
          <p:nvPr/>
        </p:nvSpPr>
        <p:spPr>
          <a:xfrm rot="20607000">
            <a:off x="2576520" y="44784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feld 5"/>
          <p:cNvSpPr/>
          <p:nvPr/>
        </p:nvSpPr>
        <p:spPr>
          <a:xfrm>
            <a:off x="459000" y="5141160"/>
            <a:ext cx="609300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pred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StutterSchritt_1{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	all o: ORT |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o.personenImOrtFein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' =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o.personenImOrtFein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	all o: ORT |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o.personenImOrtGrob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' =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o.personenImOrtGrob</a:t>
            </a:r>
            <a:endParaRPr lang="de-DE" sz="1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feld 29">
            <a:extLst>
              <a:ext uri="{FF2B5EF4-FFF2-40B4-BE49-F238E27FC236}">
                <a16:creationId xmlns:a16="http://schemas.microsoft.com/office/drawing/2014/main" id="{857A6D2A-BD50-1849-5A58-CEC384723C62}"/>
              </a:ext>
            </a:extLst>
          </p:cNvPr>
          <p:cNvSpPr/>
          <p:nvPr/>
        </p:nvSpPr>
        <p:spPr>
          <a:xfrm>
            <a:off x="5574930" y="1016996"/>
            <a:ext cx="6470320" cy="9372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de-DE" sz="1100" dirty="0" err="1">
                <a:solidFill>
                  <a:schemeClr val="dk1"/>
                </a:solidFill>
              </a:rPr>
              <a:t>pred</a:t>
            </a:r>
            <a:r>
              <a:rPr lang="de-DE" sz="1100" dirty="0">
                <a:solidFill>
                  <a:schemeClr val="dk1"/>
                </a:solidFill>
              </a:rPr>
              <a:t> </a:t>
            </a:r>
            <a:r>
              <a:rPr lang="de-DE" sz="1100" dirty="0" err="1">
                <a:solidFill>
                  <a:schemeClr val="dk1"/>
                </a:solidFill>
              </a:rPr>
              <a:t>schrittSehrFein</a:t>
            </a:r>
            <a:r>
              <a:rPr lang="de-DE" sz="1100" dirty="0">
                <a:solidFill>
                  <a:schemeClr val="dk1"/>
                </a:solidFill>
              </a:rPr>
              <a:t> {</a:t>
            </a:r>
          </a:p>
          <a:p>
            <a:r>
              <a:rPr lang="de-DE" sz="1100" dirty="0">
                <a:solidFill>
                  <a:schemeClr val="dk1"/>
                </a:solidFill>
              </a:rPr>
              <a:t>	</a:t>
            </a:r>
            <a:r>
              <a:rPr lang="de-DE" sz="1100" dirty="0" err="1">
                <a:solidFill>
                  <a:schemeClr val="dk1"/>
                </a:solidFill>
              </a:rPr>
              <a:t>some</a:t>
            </a:r>
            <a:r>
              <a:rPr lang="de-DE" sz="1100" dirty="0">
                <a:solidFill>
                  <a:schemeClr val="dk1"/>
                </a:solidFill>
              </a:rPr>
              <a:t> p: PERSON, t: TUER |</a:t>
            </a:r>
          </a:p>
          <a:p>
            <a:r>
              <a:rPr lang="de-DE" sz="1100" dirty="0">
                <a:solidFill>
                  <a:schemeClr val="dk1"/>
                </a:solidFill>
              </a:rPr>
              <a:t>	(</a:t>
            </a:r>
            <a:r>
              <a:rPr lang="de-DE" sz="1100" dirty="0" err="1">
                <a:solidFill>
                  <a:schemeClr val="dk1"/>
                </a:solidFill>
              </a:rPr>
              <a:t>oeffneTuer</a:t>
            </a:r>
            <a:r>
              <a:rPr lang="de-DE" sz="1100" dirty="0">
                <a:solidFill>
                  <a:schemeClr val="dk1"/>
                </a:solidFill>
              </a:rPr>
              <a:t>[p, t] and StutterSchritt_1) </a:t>
            </a:r>
            <a:r>
              <a:rPr lang="de-DE" sz="1100" dirty="0" err="1">
                <a:solidFill>
                  <a:schemeClr val="dk1"/>
                </a:solidFill>
              </a:rPr>
              <a:t>or</a:t>
            </a:r>
            <a:r>
              <a:rPr lang="de-DE" sz="1100" dirty="0">
                <a:solidFill>
                  <a:schemeClr val="dk1"/>
                </a:solidFill>
              </a:rPr>
              <a:t> (</a:t>
            </a:r>
            <a:r>
              <a:rPr lang="de-DE" sz="1100" dirty="0" err="1">
                <a:solidFill>
                  <a:schemeClr val="dk1"/>
                </a:solidFill>
              </a:rPr>
              <a:t>schrittFein</a:t>
            </a:r>
            <a:r>
              <a:rPr lang="de-DE" sz="1100" dirty="0">
                <a:solidFill>
                  <a:schemeClr val="dk1"/>
                </a:solidFill>
              </a:rPr>
              <a:t> and </a:t>
            </a:r>
            <a:r>
              <a:rPr lang="de-DE" sz="1100" dirty="0" err="1">
                <a:solidFill>
                  <a:schemeClr val="dk1"/>
                </a:solidFill>
              </a:rPr>
              <a:t>tuerBleibtOffenOderFaelltZu</a:t>
            </a:r>
            <a:r>
              <a:rPr lang="de-DE" sz="1100" dirty="0">
                <a:solidFill>
                  <a:schemeClr val="dk1"/>
                </a:solidFill>
              </a:rPr>
              <a:t>)	</a:t>
            </a:r>
          </a:p>
          <a:p>
            <a:r>
              <a:rPr lang="de-DE" sz="1100" dirty="0">
                <a:solidFill>
                  <a:schemeClr val="dk1"/>
                </a:solidFill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Autorisierung: Schritt 3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42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59BD53-F174-406E-A424-BD52E4BFA944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29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6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96560" y="424224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Grafik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796560" y="2340360"/>
            <a:ext cx="4597560" cy="106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Grafik 11"/>
          <p:cNvPicPr/>
          <p:nvPr/>
        </p:nvPicPr>
        <p:blipFill>
          <a:blip r:embed="rId4"/>
          <a:stretch/>
        </p:blipFill>
        <p:spPr>
          <a:xfrm>
            <a:off x="6697800" y="184212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Grafik 13"/>
          <p:cNvPicPr/>
          <p:nvPr/>
        </p:nvPicPr>
        <p:blipFill>
          <a:blip r:embed="rId5"/>
          <a:stretch/>
        </p:blipFill>
        <p:spPr>
          <a:xfrm>
            <a:off x="3727800" y="156816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Grafik 17"/>
          <p:cNvPicPr/>
          <p:nvPr/>
        </p:nvPicPr>
        <p:blipFill>
          <a:blip r:embed="rId5"/>
          <a:stretch/>
        </p:blipFill>
        <p:spPr>
          <a:xfrm>
            <a:off x="3629520" y="340308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Grafik 1"/>
          <p:cNvPicPr/>
          <p:nvPr/>
        </p:nvPicPr>
        <p:blipFill>
          <a:blip r:embed="rId4"/>
          <a:stretch/>
        </p:blipFill>
        <p:spPr>
          <a:xfrm>
            <a:off x="6891480" y="367740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feld 29">
            <a:extLst>
              <a:ext uri="{FF2B5EF4-FFF2-40B4-BE49-F238E27FC236}">
                <a16:creationId xmlns:a16="http://schemas.microsoft.com/office/drawing/2014/main" id="{47FC23CF-31EB-85AA-E863-6357BE5D3B34}"/>
              </a:ext>
            </a:extLst>
          </p:cNvPr>
          <p:cNvSpPr/>
          <p:nvPr/>
        </p:nvSpPr>
        <p:spPr>
          <a:xfrm>
            <a:off x="5574930" y="1016996"/>
            <a:ext cx="6470320" cy="9372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de-DE" sz="1100" dirty="0" err="1">
                <a:solidFill>
                  <a:schemeClr val="dk1"/>
                </a:solidFill>
              </a:rPr>
              <a:t>pred</a:t>
            </a:r>
            <a:r>
              <a:rPr lang="de-DE" sz="1100" dirty="0">
                <a:solidFill>
                  <a:schemeClr val="dk1"/>
                </a:solidFill>
              </a:rPr>
              <a:t> </a:t>
            </a:r>
            <a:r>
              <a:rPr lang="de-DE" sz="1100" dirty="0" err="1">
                <a:solidFill>
                  <a:schemeClr val="dk1"/>
                </a:solidFill>
              </a:rPr>
              <a:t>schrittSehrFein</a:t>
            </a:r>
            <a:r>
              <a:rPr lang="de-DE" sz="1100" dirty="0">
                <a:solidFill>
                  <a:schemeClr val="dk1"/>
                </a:solidFill>
              </a:rPr>
              <a:t> {</a:t>
            </a:r>
          </a:p>
          <a:p>
            <a:r>
              <a:rPr lang="de-DE" sz="1100" dirty="0">
                <a:solidFill>
                  <a:schemeClr val="dk1"/>
                </a:solidFill>
              </a:rPr>
              <a:t>	</a:t>
            </a:r>
            <a:r>
              <a:rPr lang="de-DE" sz="1100" dirty="0" err="1">
                <a:solidFill>
                  <a:schemeClr val="dk1"/>
                </a:solidFill>
              </a:rPr>
              <a:t>some</a:t>
            </a:r>
            <a:r>
              <a:rPr lang="de-DE" sz="1100" dirty="0">
                <a:solidFill>
                  <a:schemeClr val="dk1"/>
                </a:solidFill>
              </a:rPr>
              <a:t> p: PERSON, t: TUER |</a:t>
            </a:r>
          </a:p>
          <a:p>
            <a:r>
              <a:rPr lang="de-DE" sz="1100" dirty="0">
                <a:solidFill>
                  <a:schemeClr val="dk1"/>
                </a:solidFill>
              </a:rPr>
              <a:t>	(</a:t>
            </a:r>
            <a:r>
              <a:rPr lang="de-DE" sz="1100" dirty="0" err="1">
                <a:solidFill>
                  <a:schemeClr val="dk1"/>
                </a:solidFill>
              </a:rPr>
              <a:t>oeffneTuer</a:t>
            </a:r>
            <a:r>
              <a:rPr lang="de-DE" sz="1100" dirty="0">
                <a:solidFill>
                  <a:schemeClr val="dk1"/>
                </a:solidFill>
              </a:rPr>
              <a:t>[p, t] and StutterSchritt_1) </a:t>
            </a:r>
            <a:r>
              <a:rPr lang="de-DE" sz="1100" dirty="0" err="1">
                <a:solidFill>
                  <a:schemeClr val="dk1"/>
                </a:solidFill>
              </a:rPr>
              <a:t>or</a:t>
            </a:r>
            <a:r>
              <a:rPr lang="de-DE" sz="1100" dirty="0">
                <a:solidFill>
                  <a:schemeClr val="dk1"/>
                </a:solidFill>
              </a:rPr>
              <a:t> (</a:t>
            </a:r>
            <a:r>
              <a:rPr lang="de-DE" sz="1100" dirty="0" err="1">
                <a:solidFill>
                  <a:schemeClr val="dk1"/>
                </a:solidFill>
              </a:rPr>
              <a:t>schrittFein</a:t>
            </a:r>
            <a:r>
              <a:rPr lang="de-DE" sz="1100" dirty="0">
                <a:solidFill>
                  <a:schemeClr val="dk1"/>
                </a:solidFill>
              </a:rPr>
              <a:t> and </a:t>
            </a:r>
            <a:r>
              <a:rPr lang="de-DE" sz="1100" dirty="0" err="1">
                <a:solidFill>
                  <a:schemeClr val="dk1"/>
                </a:solidFill>
              </a:rPr>
              <a:t>tuerBleibtOffenOderFaelltZu</a:t>
            </a:r>
            <a:r>
              <a:rPr lang="de-DE" sz="1100" dirty="0">
                <a:solidFill>
                  <a:schemeClr val="dk1"/>
                </a:solidFill>
              </a:rPr>
              <a:t>)	</a:t>
            </a:r>
          </a:p>
          <a:p>
            <a:r>
              <a:rPr lang="de-DE" sz="1100" dirty="0">
                <a:solidFill>
                  <a:schemeClr val="dk1"/>
                </a:solidFill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861984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Synchronisierung der Modelle</a:t>
            </a: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Nur Bewohner dürfen Türen öffnen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sldNum" idx="43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5029D3-F8D1-4F65-B1B3-4C517A8838A9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Übersicht Verfeinerung</a:t>
            </a:r>
          </a:p>
        </p:txBody>
      </p:sp>
      <p:graphicFrame>
        <p:nvGraphicFramePr>
          <p:cNvPr id="308" name="Tabelle 3"/>
          <p:cNvGraphicFramePr/>
          <p:nvPr/>
        </p:nvGraphicFramePr>
        <p:xfrm>
          <a:off x="2031840" y="1593000"/>
          <a:ext cx="8127360" cy="1483200"/>
        </p:xfrm>
        <a:graphic>
          <a:graphicData uri="http://schemas.openxmlformats.org/drawingml/2006/table">
            <a:tbl>
              <a:tblPr/>
              <a:tblGrid>
                <a:gridCol w="203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endParaRPr lang="de-DE" sz="18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2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3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Grobes Modell: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lt2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lt2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Verfeinerung: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lt2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Autorisierung: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Öffne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9" name="Textfeld 4"/>
          <p:cNvSpPr/>
          <p:nvPr/>
        </p:nvSpPr>
        <p:spPr>
          <a:xfrm>
            <a:off x="631080" y="4645440"/>
            <a:ext cx="495144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pred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StutterSchritt_1{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	all o: ORT |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o.personenImOrtFein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' =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o.personenImOrtFein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	all o: ORT |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o.personenImOrtGrob</a:t>
            </a: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' = </a:t>
            </a:r>
            <a:r>
              <a:rPr lang="de-DE" sz="11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o.personenImOrtGrob</a:t>
            </a:r>
            <a:endParaRPr lang="de-DE" sz="1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feld 6"/>
          <p:cNvSpPr/>
          <p:nvPr/>
        </p:nvSpPr>
        <p:spPr>
          <a:xfrm>
            <a:off x="6607800" y="4645440"/>
            <a:ext cx="4951440" cy="59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StutterSchritt_2{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feld 7"/>
          <p:cNvSpPr/>
          <p:nvPr/>
        </p:nvSpPr>
        <p:spPr>
          <a:xfrm>
            <a:off x="631080" y="4169160"/>
            <a:ext cx="230580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Stutter Schritt 1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feld 9"/>
          <p:cNvSpPr/>
          <p:nvPr/>
        </p:nvSpPr>
        <p:spPr>
          <a:xfrm>
            <a:off x="6607800" y="4169160"/>
            <a:ext cx="230580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Stutter Schritt 2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feil: nach unten 10"/>
          <p:cNvSpPr/>
          <p:nvPr/>
        </p:nvSpPr>
        <p:spPr>
          <a:xfrm rot="2929200">
            <a:off x="3646800" y="3215520"/>
            <a:ext cx="477000" cy="857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4" name="Pfeil: nach unten 12"/>
          <p:cNvSpPr/>
          <p:nvPr/>
        </p:nvSpPr>
        <p:spPr>
          <a:xfrm rot="19296000">
            <a:off x="6715080" y="3213000"/>
            <a:ext cx="477000" cy="857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sldNum" idx="44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A577C1-24AA-42BD-B005-B09968FAD6FB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32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Übersicht Verfeinerung</a:t>
            </a:r>
          </a:p>
        </p:txBody>
      </p:sp>
      <p:graphicFrame>
        <p:nvGraphicFramePr>
          <p:cNvPr id="319" name="Tabelle 3"/>
          <p:cNvGraphicFramePr/>
          <p:nvPr/>
        </p:nvGraphicFramePr>
        <p:xfrm>
          <a:off x="1196640" y="2053800"/>
          <a:ext cx="9797400" cy="1848960"/>
        </p:xfrm>
        <a:graphic>
          <a:graphicData uri="http://schemas.openxmlformats.org/drawingml/2006/table">
            <a:tbl>
              <a:tblPr/>
              <a:tblGrid>
                <a:gridCol w="195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9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9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e-DE" sz="18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2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Schritt 3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Frame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Grobes Modell: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lt2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lt2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Arial"/>
                        </a:rPr>
                        <a:t>personenGrob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Verfeinerung: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lt2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Arial"/>
                        </a:rPr>
                        <a:t>personenFein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Autorisierung: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Öffne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Tür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Betrete Raum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Arial"/>
                        </a:rPr>
                        <a:t>türen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Stutter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Arial"/>
                        </a:rPr>
                        <a:t>Stutter_1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Arial"/>
                        </a:rPr>
                        <a:t>Stutter_2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800" b="0" u="none" strike="noStrike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361E47"/>
                      </a:solidFill>
                      <a:prstDash val="solid"/>
                    </a:lnT>
                    <a:lnB w="12240">
                      <a:solidFill>
                        <a:srgbClr val="361E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Num" idx="45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45C5D6-F8DD-42EF-8B1B-A59DA3CC607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Beispiel</a:t>
            </a:r>
          </a:p>
        </p:txBody>
      </p:sp>
      <p:pic>
        <p:nvPicPr>
          <p:cNvPr id="324" name="Grafik 4"/>
          <p:cNvPicPr/>
          <p:nvPr/>
        </p:nvPicPr>
        <p:blipFill>
          <a:blip r:embed="rId2"/>
          <a:stretch/>
        </p:blipFill>
        <p:spPr>
          <a:xfrm>
            <a:off x="2836800" y="2148120"/>
            <a:ext cx="6631920" cy="2591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sldNum" idx="46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3D6F47-0701-4FE7-B9A5-64C73A17415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34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Beispiel</a:t>
            </a:r>
          </a:p>
        </p:txBody>
      </p:sp>
      <p:pic>
        <p:nvPicPr>
          <p:cNvPr id="329" name="Grafik 4"/>
          <p:cNvPicPr/>
          <p:nvPr/>
        </p:nvPicPr>
        <p:blipFill>
          <a:blip r:embed="rId2"/>
          <a:stretch/>
        </p:blipFill>
        <p:spPr>
          <a:xfrm>
            <a:off x="2836800" y="2115000"/>
            <a:ext cx="6516360" cy="2553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sldNum" idx="47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889CE5-BC29-477A-8B9E-3F882551DD6F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Beispiel</a:t>
            </a:r>
          </a:p>
        </p:txBody>
      </p:sp>
      <p:pic>
        <p:nvPicPr>
          <p:cNvPr id="334" name="Grafik 6"/>
          <p:cNvPicPr/>
          <p:nvPr/>
        </p:nvPicPr>
        <p:blipFill>
          <a:blip r:embed="rId2"/>
          <a:stretch/>
        </p:blipFill>
        <p:spPr>
          <a:xfrm>
            <a:off x="2836800" y="2115000"/>
            <a:ext cx="6524640" cy="2553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86;p 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89;p 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sldNum" idx="48"/>
          </p:nvPr>
        </p:nvSpPr>
        <p:spPr>
          <a:xfrm>
            <a:off x="11473200" y="6414840"/>
            <a:ext cx="253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0B2D71-C9AF-4ABC-98C6-6486B254F78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36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Beispiel</a:t>
            </a:r>
          </a:p>
        </p:txBody>
      </p:sp>
      <p:pic>
        <p:nvPicPr>
          <p:cNvPr id="339" name="Grafik 5"/>
          <p:cNvPicPr/>
          <p:nvPr/>
        </p:nvPicPr>
        <p:blipFill>
          <a:blip r:embed="rId2"/>
          <a:stretch/>
        </p:blipFill>
        <p:spPr>
          <a:xfrm>
            <a:off x="2836800" y="2115000"/>
            <a:ext cx="7429320" cy="2553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86;p 3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Inhalt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Anforderung: Authentifizierungsgerät pro Tür, Bewohner:in vs. Gast, Ereignis authentifizieren, Vor-/Nachbedingungen bei Erfolg/Misserfolg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Alloy: sigs für Authentifizierung/Bewohner/Gast, pred authentifizieren, checks wie „geschlossene Tür kann nicht ohne gültige Berechtigung passiert werden", Gegenbeispielsuche für Gast-Versuch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Arial"/>
              <a:buChar char="•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Lean: Beweis, dass fehlgeschlagene Authentifizierung den Zustand nicht verändert; Beweis der Invariante „geschlossene Türen bleiben ohne Berechtigung geschlossen“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89;p 3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49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C498B7-638B-4892-A573-A6BB05578C12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95;p 5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1025424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Umsetzung in Lean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Event B: Beweise des Modells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98;p 5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0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8C4E03-9027-4D84-8E59-A8960C606526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38</a:t>
            </a:fld>
            <a:endParaRPr lang="de-DE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86;p 5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Übersicht der Objekte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89;p 5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sldNum" idx="51"/>
          </p:nvPr>
        </p:nvSpPr>
        <p:spPr>
          <a:xfrm>
            <a:off x="11473200" y="6414840"/>
            <a:ext cx="24660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C4B930-6FC8-4759-8208-8F9A08B216A1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39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4" name="Grafik 9"/>
          <p:cNvPicPr/>
          <p:nvPr/>
        </p:nvPicPr>
        <p:blipFill>
          <a:blip r:embed="rId3"/>
          <a:stretch/>
        </p:blipFill>
        <p:spPr>
          <a:xfrm>
            <a:off x="3756240" y="1440000"/>
            <a:ext cx="7762320" cy="467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PlaceHolder 8"/>
          <p:cNvSpPr/>
          <p:nvPr/>
        </p:nvSpPr>
        <p:spPr>
          <a:xfrm>
            <a:off x="544320" y="1484280"/>
            <a:ext cx="4854240" cy="45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Statische Struktur: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Festgelegte Regeln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Unveränderlich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86;p 18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Übersicht der Objekte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89;p 18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sldNum" idx="52"/>
          </p:nvPr>
        </p:nvSpPr>
        <p:spPr>
          <a:xfrm>
            <a:off x="11473200" y="6414840"/>
            <a:ext cx="233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9B0B5-09B1-424C-B17B-4F99C2653DD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40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0" name="Grafik 64"/>
          <p:cNvPicPr/>
          <p:nvPr/>
        </p:nvPicPr>
        <p:blipFill>
          <a:blip r:embed="rId3"/>
          <a:stretch/>
        </p:blipFill>
        <p:spPr>
          <a:xfrm>
            <a:off x="5637960" y="2340000"/>
            <a:ext cx="5340600" cy="20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PlaceHolder 60"/>
          <p:cNvSpPr/>
          <p:nvPr/>
        </p:nvSpPr>
        <p:spPr>
          <a:xfrm>
            <a:off x="544320" y="1484280"/>
            <a:ext cx="4854240" cy="45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Dynamische Struktur: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personenImOrtFein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personenImOrtGrob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offen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Flussdiagramm: Prozess 322"/>
          <p:cNvSpPr/>
          <p:nvPr/>
        </p:nvSpPr>
        <p:spPr>
          <a:xfrm>
            <a:off x="5637960" y="2628000"/>
            <a:ext cx="2460600" cy="43056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Flussdiagramm: Prozess 323"/>
          <p:cNvSpPr/>
          <p:nvPr/>
        </p:nvSpPr>
        <p:spPr>
          <a:xfrm>
            <a:off x="7740000" y="3960000"/>
            <a:ext cx="898560" cy="17856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Flussdiagramm: Prozess 324"/>
          <p:cNvSpPr/>
          <p:nvPr/>
        </p:nvSpPr>
        <p:spPr>
          <a:xfrm>
            <a:off x="7740000" y="3960000"/>
            <a:ext cx="898560" cy="17856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86;p 4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SimpleGraph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89;p 4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Num" idx="53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53B4A0-3D9A-404E-BFE7-9153B15D926A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9" name="Grafik 329"/>
          <p:cNvPicPr/>
          <p:nvPr/>
        </p:nvPicPr>
        <p:blipFill>
          <a:blip r:embed="rId3"/>
          <a:stretch/>
        </p:blipFill>
        <p:spPr>
          <a:xfrm>
            <a:off x="900000" y="1734480"/>
            <a:ext cx="7558560" cy="244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86;p 15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SimpleGraph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89;p 15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sldNum" idx="54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8D823B-CA27-46EA-97DB-8B483CE671D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42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4" name="Grafik 18"/>
          <p:cNvPicPr/>
          <p:nvPr/>
        </p:nvPicPr>
        <p:blipFill>
          <a:blip r:embed="rId3"/>
          <a:stretch/>
        </p:blipFill>
        <p:spPr>
          <a:xfrm>
            <a:off x="900000" y="1734480"/>
            <a:ext cx="755856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Pfeil: nach rechts 5"/>
          <p:cNvSpPr/>
          <p:nvPr/>
        </p:nvSpPr>
        <p:spPr>
          <a:xfrm rot="9762600">
            <a:off x="6336360" y="121104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feld 12"/>
          <p:cNvSpPr/>
          <p:nvPr/>
        </p:nvSpPr>
        <p:spPr>
          <a:xfrm>
            <a:off x="7301160" y="10249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Loopless + Symmetrisch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86;p 24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SimpleGraph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89;p 24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sldNum" idx="55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A6E2A5-CD0F-46B8-AC87-A41AC3E1ED6E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1" name="Grafik 37"/>
          <p:cNvPicPr/>
          <p:nvPr/>
        </p:nvPicPr>
        <p:blipFill>
          <a:blip r:embed="rId3"/>
          <a:stretch/>
        </p:blipFill>
        <p:spPr>
          <a:xfrm>
            <a:off x="900000" y="1734480"/>
            <a:ext cx="755856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Pfeil: nach rechts 8"/>
          <p:cNvSpPr/>
          <p:nvPr/>
        </p:nvSpPr>
        <p:spPr>
          <a:xfrm rot="9762600">
            <a:off x="6336360" y="121104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feld 13"/>
          <p:cNvSpPr/>
          <p:nvPr/>
        </p:nvSpPr>
        <p:spPr>
          <a:xfrm>
            <a:off x="7301160" y="10249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Loopless + Symmetrisch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4" name="Grafik 19"/>
          <p:cNvPicPr/>
          <p:nvPr/>
        </p:nvPicPr>
        <p:blipFill>
          <a:blip r:embed="rId4"/>
          <a:stretch/>
        </p:blipFill>
        <p:spPr>
          <a:xfrm>
            <a:off x="891360" y="2160000"/>
            <a:ext cx="4147560" cy="111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86;p 23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SimpleGraph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89;p 23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ldNum" idx="56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CE572A-BB65-4B56-B4AA-B8EB3CD7CEF3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44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9" name="Grafik 20"/>
          <p:cNvPicPr/>
          <p:nvPr/>
        </p:nvPicPr>
        <p:blipFill>
          <a:blip r:embed="rId3"/>
          <a:stretch/>
        </p:blipFill>
        <p:spPr>
          <a:xfrm>
            <a:off x="900000" y="1734480"/>
            <a:ext cx="7558560" cy="2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Grafik 36"/>
          <p:cNvPicPr/>
          <p:nvPr/>
        </p:nvPicPr>
        <p:blipFill>
          <a:blip r:embed="rId4"/>
          <a:stretch/>
        </p:blipFill>
        <p:spPr>
          <a:xfrm>
            <a:off x="891000" y="2160000"/>
            <a:ext cx="4147560" cy="11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Pfeil: nach rechts 7"/>
          <p:cNvSpPr/>
          <p:nvPr/>
        </p:nvSpPr>
        <p:spPr>
          <a:xfrm rot="9762600">
            <a:off x="6336360" y="121104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feld 3"/>
          <p:cNvSpPr/>
          <p:nvPr/>
        </p:nvSpPr>
        <p:spPr>
          <a:xfrm>
            <a:off x="7301160" y="10249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Loopless + Symmetrisch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Grafik 392"/>
          <p:cNvPicPr/>
          <p:nvPr/>
        </p:nvPicPr>
        <p:blipFill>
          <a:blip r:embed="rId5"/>
          <a:stretch/>
        </p:blipFill>
        <p:spPr>
          <a:xfrm>
            <a:off x="5333760" y="2160000"/>
            <a:ext cx="2406240" cy="2381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86;p 17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SimpleGraph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89;p 17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sldNum" idx="57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464E7E-99D6-4546-B5C7-83DB4766B901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8" name="Grafik 21"/>
          <p:cNvPicPr/>
          <p:nvPr/>
        </p:nvPicPr>
        <p:blipFill>
          <a:blip r:embed="rId3"/>
          <a:stretch/>
        </p:blipFill>
        <p:spPr>
          <a:xfrm>
            <a:off x="900000" y="1734480"/>
            <a:ext cx="7558560" cy="2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rafik 22"/>
          <p:cNvPicPr/>
          <p:nvPr/>
        </p:nvPicPr>
        <p:blipFill>
          <a:blip r:embed="rId4"/>
          <a:stretch/>
        </p:blipFill>
        <p:spPr>
          <a:xfrm>
            <a:off x="891000" y="2160000"/>
            <a:ext cx="4147560" cy="11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Pfeil: nach rechts 16"/>
          <p:cNvSpPr/>
          <p:nvPr/>
        </p:nvSpPr>
        <p:spPr>
          <a:xfrm rot="9762600">
            <a:off x="6336360" y="121104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feld 15"/>
          <p:cNvSpPr/>
          <p:nvPr/>
        </p:nvSpPr>
        <p:spPr>
          <a:xfrm>
            <a:off x="7301160" y="10249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Loopless + Symmetrisch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erader Verbinder 3"/>
          <p:cNvSpPr/>
          <p:nvPr/>
        </p:nvSpPr>
        <p:spPr>
          <a:xfrm>
            <a:off x="720000" y="3492000"/>
            <a:ext cx="10440000" cy="360"/>
          </a:xfrm>
          <a:prstGeom prst="line">
            <a:avLst/>
          </a:prstGeom>
          <a:ln w="0">
            <a:solidFill>
              <a:srgbClr val="E0051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Grafik 23"/>
          <p:cNvPicPr/>
          <p:nvPr/>
        </p:nvPicPr>
        <p:blipFill>
          <a:blip r:embed="rId5"/>
          <a:stretch/>
        </p:blipFill>
        <p:spPr>
          <a:xfrm>
            <a:off x="865440" y="3960000"/>
            <a:ext cx="9663840" cy="14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86;p 2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SimpleGraph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89;p 21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ldNum" idx="58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195C28-B61F-4933-B642-1A5574708F1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46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8" name="Grafik 30"/>
          <p:cNvPicPr/>
          <p:nvPr/>
        </p:nvPicPr>
        <p:blipFill>
          <a:blip r:embed="rId3"/>
          <a:stretch/>
        </p:blipFill>
        <p:spPr>
          <a:xfrm>
            <a:off x="900000" y="1734480"/>
            <a:ext cx="7558560" cy="2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Grafik 31"/>
          <p:cNvPicPr/>
          <p:nvPr/>
        </p:nvPicPr>
        <p:blipFill>
          <a:blip r:embed="rId4"/>
          <a:stretch/>
        </p:blipFill>
        <p:spPr>
          <a:xfrm>
            <a:off x="891000" y="2160000"/>
            <a:ext cx="4147560" cy="11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Pfeil: nach rechts 19"/>
          <p:cNvSpPr/>
          <p:nvPr/>
        </p:nvSpPr>
        <p:spPr>
          <a:xfrm rot="9762600">
            <a:off x="6336360" y="121104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feld 26"/>
          <p:cNvSpPr/>
          <p:nvPr/>
        </p:nvSpPr>
        <p:spPr>
          <a:xfrm>
            <a:off x="7301160" y="10249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Loopless + Symmetrisch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erader Verbinder 4"/>
          <p:cNvSpPr/>
          <p:nvPr/>
        </p:nvSpPr>
        <p:spPr>
          <a:xfrm>
            <a:off x="720000" y="3492000"/>
            <a:ext cx="10440000" cy="360"/>
          </a:xfrm>
          <a:prstGeom prst="line">
            <a:avLst/>
          </a:prstGeom>
          <a:ln w="0">
            <a:solidFill>
              <a:srgbClr val="E0051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3" name="Grafik 32"/>
          <p:cNvPicPr/>
          <p:nvPr/>
        </p:nvPicPr>
        <p:blipFill>
          <a:blip r:embed="rId5"/>
          <a:stretch/>
        </p:blipFill>
        <p:spPr>
          <a:xfrm>
            <a:off x="865440" y="3960000"/>
            <a:ext cx="9663840" cy="14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Pfeil: nach rechts 21"/>
          <p:cNvSpPr/>
          <p:nvPr/>
        </p:nvSpPr>
        <p:spPr>
          <a:xfrm rot="12480000">
            <a:off x="6695280" y="541836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feld 28"/>
          <p:cNvSpPr/>
          <p:nvPr/>
        </p:nvSpPr>
        <p:spPr>
          <a:xfrm>
            <a:off x="7380000" y="576000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Grundannahmen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rafik 415"/>
          <p:cNvPicPr/>
          <p:nvPr/>
        </p:nvPicPr>
        <p:blipFill>
          <a:blip r:embed="rId3"/>
          <a:stretch/>
        </p:blipFill>
        <p:spPr>
          <a:xfrm>
            <a:off x="1800000" y="2160000"/>
            <a:ext cx="9143640" cy="265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Google Shape;86;p 6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Zustand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Google Shape;89;p 6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Num" idx="59"/>
          </p:nvPr>
        </p:nvSpPr>
        <p:spPr>
          <a:xfrm>
            <a:off x="11473200" y="6415200"/>
            <a:ext cx="27360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9E21F7-8C2C-4014-8C69-E3D95375A2F2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Rechteck 420"/>
          <p:cNvSpPr/>
          <p:nvPr/>
        </p:nvSpPr>
        <p:spPr>
          <a:xfrm flipV="1">
            <a:off x="1980000" y="3023640"/>
            <a:ext cx="8820000" cy="2016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86;p 2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Zustand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89;p 2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ldNum" idx="60"/>
          </p:nvPr>
        </p:nvSpPr>
        <p:spPr>
          <a:xfrm>
            <a:off x="11473200" y="6415200"/>
            <a:ext cx="27360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1EDB33-1AA6-42FF-BD7D-06CBB3EEAA8E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48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6" name="Grafik 425"/>
          <p:cNvPicPr/>
          <p:nvPr/>
        </p:nvPicPr>
        <p:blipFill>
          <a:blip r:embed="rId3"/>
          <a:stretch/>
        </p:blipFill>
        <p:spPr>
          <a:xfrm>
            <a:off x="1800360" y="2160000"/>
            <a:ext cx="9143640" cy="265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Rechteck 426"/>
          <p:cNvSpPr/>
          <p:nvPr/>
        </p:nvSpPr>
        <p:spPr>
          <a:xfrm flipV="1">
            <a:off x="1980360" y="2375640"/>
            <a:ext cx="8820000" cy="684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86;p 25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Zustand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89;p 25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sldNum" idx="61"/>
          </p:nvPr>
        </p:nvSpPr>
        <p:spPr>
          <a:xfrm>
            <a:off x="11473200" y="6415200"/>
            <a:ext cx="27360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6AB298-6B42-4C0E-A728-71F7686059CC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49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Pfeil: nach rechts 10"/>
          <p:cNvSpPr/>
          <p:nvPr/>
        </p:nvSpPr>
        <p:spPr>
          <a:xfrm rot="12480000">
            <a:off x="6515280" y="487836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feld 16"/>
          <p:cNvSpPr/>
          <p:nvPr/>
        </p:nvSpPr>
        <p:spPr>
          <a:xfrm>
            <a:off x="7200000" y="522000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Grundannahmen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Grafik 433"/>
          <p:cNvPicPr/>
          <p:nvPr/>
        </p:nvPicPr>
        <p:blipFill>
          <a:blip r:embed="rId3"/>
          <a:stretch/>
        </p:blipFill>
        <p:spPr>
          <a:xfrm>
            <a:off x="1800720" y="2160360"/>
            <a:ext cx="9143640" cy="265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Rechteck 434"/>
          <p:cNvSpPr/>
          <p:nvPr/>
        </p:nvSpPr>
        <p:spPr>
          <a:xfrm flipV="1">
            <a:off x="1980720" y="2376000"/>
            <a:ext cx="8820000" cy="684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/>
          </p:nvPr>
        </p:nvSpPr>
        <p:spPr>
          <a:xfrm>
            <a:off x="696240" y="4841280"/>
            <a:ext cx="7620480" cy="8791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Übersetzung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itel 3"/>
          <p:cNvSpPr/>
          <p:nvPr/>
        </p:nvSpPr>
        <p:spPr>
          <a:xfrm>
            <a:off x="696240" y="3833640"/>
            <a:ext cx="7620480" cy="100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b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Von Alloy nach Lean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86;p 19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Wie Alloy in Lean übersetzen?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89;p 19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sldNum" idx="62"/>
          </p:nvPr>
        </p:nvSpPr>
        <p:spPr>
          <a:xfrm>
            <a:off x="11473200" y="6414840"/>
            <a:ext cx="24012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E79100-F248-47C8-AC95-24A25BFB6503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Textfeld 21"/>
          <p:cNvSpPr/>
          <p:nvPr/>
        </p:nvSpPr>
        <p:spPr>
          <a:xfrm>
            <a:off x="3320280" y="2340000"/>
            <a:ext cx="5858640" cy="22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schrittGrob[p: PERSON, von, nach: RAUM]{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//pre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von.personenImOrtGrob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t: TUER | t in von.nachbarn and t in nach.nachbarn and t.offen in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//post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von.personenImOrtGrob' = von.personenImOrtGrob -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nach.personenImOrtGrob' = nach.personenImOrtGrob +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//frame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- (von + nach)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86;p 26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Wie Alloy in Lean übersetzen?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89;p 26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sldNum" idx="63"/>
          </p:nvPr>
        </p:nvSpPr>
        <p:spPr>
          <a:xfrm>
            <a:off x="11473200" y="6414840"/>
            <a:ext cx="24012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5ACD25-F9AF-42D8-8F22-15009E8679FA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52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Textfeld 14"/>
          <p:cNvSpPr/>
          <p:nvPr/>
        </p:nvSpPr>
        <p:spPr>
          <a:xfrm>
            <a:off x="3320280" y="2340000"/>
            <a:ext cx="5858640" cy="22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schrittGrob[p: PERSON, von, nach: RAUM]{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//pre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von.personenImOrtGrob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t: TUER | t in von.nachbarn and t in nach.nachbarn and t.offen in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//post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von.personenImOrtGrob' = von.personenImOrtGrob -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nach.personenImOrtGrob' = nach.personenImOrtGrob +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//frame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- (von + nach)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feil: nach rechts 9"/>
          <p:cNvSpPr/>
          <p:nvPr/>
        </p:nvSpPr>
        <p:spPr>
          <a:xfrm rot="10800000">
            <a:off x="9324360" y="296712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feld 18"/>
          <p:cNvSpPr/>
          <p:nvPr/>
        </p:nvSpPr>
        <p:spPr>
          <a:xfrm>
            <a:off x="9936000" y="302400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86;p 27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Wie Alloy in Lean übersetzen?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89;p 27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sldNum" idx="64"/>
          </p:nvPr>
        </p:nvSpPr>
        <p:spPr>
          <a:xfrm>
            <a:off x="11473200" y="6414840"/>
            <a:ext cx="24012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D047F4-F07D-4633-A66C-EC55D31CB090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Textfeld 20"/>
          <p:cNvSpPr/>
          <p:nvPr/>
        </p:nvSpPr>
        <p:spPr>
          <a:xfrm>
            <a:off x="3320280" y="2340000"/>
            <a:ext cx="5858640" cy="22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schrittGrob[p: PERSON, von, nach: RAUM]{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//pre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von.personenImOrtGrob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t: TUER | t in von.nachbarn and t in nach.nachbarn and t.offen in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//post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von.personenImOrtGrob' = von.personenImOrtGrob -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nach.personenImOrtGrob' = nach.personenImOrtGrob +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//frame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- (von + nach)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feil: nach rechts 17"/>
          <p:cNvSpPr/>
          <p:nvPr/>
        </p:nvSpPr>
        <p:spPr>
          <a:xfrm rot="10800000">
            <a:off x="9324360" y="296712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6" name="Pfeil: nach rechts 18"/>
          <p:cNvSpPr/>
          <p:nvPr/>
        </p:nvSpPr>
        <p:spPr>
          <a:xfrm>
            <a:off x="3132000" y="34920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feld 27"/>
          <p:cNvSpPr/>
          <p:nvPr/>
        </p:nvSpPr>
        <p:spPr>
          <a:xfrm>
            <a:off x="9936000" y="302400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feld 30"/>
          <p:cNvSpPr/>
          <p:nvPr/>
        </p:nvSpPr>
        <p:spPr>
          <a:xfrm>
            <a:off x="1325520" y="35377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Nachbedingungen + Aktion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86;p 28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Wie Alloy in Lean übersetzen?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89;p 28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sldNum" idx="65"/>
          </p:nvPr>
        </p:nvSpPr>
        <p:spPr>
          <a:xfrm>
            <a:off x="11473200" y="6414840"/>
            <a:ext cx="24012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2B84DB-1385-4356-898A-F5EE87EDF368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54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Textfeld 31"/>
          <p:cNvSpPr/>
          <p:nvPr/>
        </p:nvSpPr>
        <p:spPr>
          <a:xfrm>
            <a:off x="3320280" y="2340000"/>
            <a:ext cx="5858640" cy="22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 schrittGrob[p: PERSON, von, nach: RAUM]{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//pre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p in von.personenImOrtGrob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some t: TUER | t in von.nachbarn and t in nach.nachbarn and t.offen in True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//post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von.personenImOrtGrob' = von.personenImOrtGrob -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nach.personenImOrtGrob' = nach.personenImOrtGrob + p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//frame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all o: ORT - (von + nach) | o.personenImOrtGrob' = o.personenImOrtGrob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feil: nach rechts 22"/>
          <p:cNvSpPr/>
          <p:nvPr/>
        </p:nvSpPr>
        <p:spPr>
          <a:xfrm rot="10800000">
            <a:off x="9324360" y="296712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5" name="Pfeil: nach rechts 23"/>
          <p:cNvSpPr/>
          <p:nvPr/>
        </p:nvSpPr>
        <p:spPr>
          <a:xfrm>
            <a:off x="3132000" y="34920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6" name="Pfeil: nach rechts 24"/>
          <p:cNvSpPr/>
          <p:nvPr/>
        </p:nvSpPr>
        <p:spPr>
          <a:xfrm rot="13020000">
            <a:off x="7580880" y="474372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feld 32"/>
          <p:cNvSpPr/>
          <p:nvPr/>
        </p:nvSpPr>
        <p:spPr>
          <a:xfrm>
            <a:off x="8129520" y="51577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Basisannahmen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feld 33"/>
          <p:cNvSpPr/>
          <p:nvPr/>
        </p:nvSpPr>
        <p:spPr>
          <a:xfrm>
            <a:off x="9936000" y="302400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feld 34"/>
          <p:cNvSpPr/>
          <p:nvPr/>
        </p:nvSpPr>
        <p:spPr>
          <a:xfrm>
            <a:off x="1325520" y="35377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Nachbedingungen + Aktion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86;p 20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Übersetzung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543960" y="1484280"/>
            <a:ext cx="755496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50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`pre_` bezeichnet eine Vorbedingung. 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50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`post_` bezeichnet eine Nachbedingung.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50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`frame_` bezeichnet Eigenschaften, die unverändert bleiben.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50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`aktion_` bezeichnet die eigentliche Zustandsänderung.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50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`...Schritt` bezeichnet eine vollständige Übergangsrelation.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89;p 20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66"/>
          </p:nvPr>
        </p:nvSpPr>
        <p:spPr>
          <a:xfrm>
            <a:off x="11473200" y="6414840"/>
            <a:ext cx="26028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4C9970-D5BC-4AA0-B2B2-404C0AD526A4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6"/>
          <p:cNvSpPr/>
          <p:nvPr/>
        </p:nvSpPr>
        <p:spPr>
          <a:xfrm>
            <a:off x="8069760" y="1404000"/>
            <a:ext cx="2102040" cy="269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}</a:t>
            </a:r>
            <a:endParaRPr lang="de-DE" sz="2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11"/>
          <p:cNvSpPr/>
          <p:nvPr/>
        </p:nvSpPr>
        <p:spPr>
          <a:xfrm>
            <a:off x="9301320" y="2436120"/>
            <a:ext cx="1183680" cy="39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Beweise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/>
          </p:nvPr>
        </p:nvSpPr>
        <p:spPr>
          <a:xfrm>
            <a:off x="696240" y="4841280"/>
            <a:ext cx="7620480" cy="8791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betreteTuer als Beispiel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itel 8"/>
          <p:cNvSpPr/>
          <p:nvPr/>
        </p:nvSpPr>
        <p:spPr>
          <a:xfrm>
            <a:off x="696240" y="3833640"/>
            <a:ext cx="7620480" cy="100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b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Beispiel: verfeinertes Modell</a:t>
            </a:r>
          </a:p>
        </p:txBody>
      </p:sp>
      <p:pic>
        <p:nvPicPr>
          <p:cNvPr id="479" name="Grafik 36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00000" y="5040000"/>
            <a:ext cx="5475240" cy="152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86;p 9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Feines Modell: betrete Tür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Google Shape;89;p 9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sldNum" idx="67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5FB0A8-35D5-4D4C-9FC8-70010144C7B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4" name="Grafik 2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843360" y="4364640"/>
            <a:ext cx="459756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5" name="Grafik 2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938040" y="2550960"/>
            <a:ext cx="4408200" cy="10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Grafik 26"/>
          <p:cNvPicPr/>
          <p:nvPr/>
        </p:nvPicPr>
        <p:blipFill>
          <a:blip r:embed="rId4"/>
          <a:stretch/>
        </p:blipFill>
        <p:spPr>
          <a:xfrm>
            <a:off x="4628520" y="204048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7" name="Grafik 27"/>
          <p:cNvPicPr/>
          <p:nvPr/>
        </p:nvPicPr>
        <p:blipFill>
          <a:blip r:embed="rId4"/>
          <a:stretch/>
        </p:blipFill>
        <p:spPr>
          <a:xfrm>
            <a:off x="5619600" y="3749040"/>
            <a:ext cx="822960" cy="9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8" name="Grafik 28"/>
          <p:cNvPicPr/>
          <p:nvPr/>
        </p:nvPicPr>
        <p:blipFill>
          <a:blip r:embed="rId5"/>
          <a:stretch/>
        </p:blipFill>
        <p:spPr>
          <a:xfrm>
            <a:off x="3782520" y="176616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Grafik 29"/>
          <p:cNvPicPr/>
          <p:nvPr/>
        </p:nvPicPr>
        <p:blipFill>
          <a:blip r:embed="rId5"/>
          <a:stretch/>
        </p:blipFill>
        <p:spPr>
          <a:xfrm>
            <a:off x="3600000" y="3578040"/>
            <a:ext cx="844560" cy="12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Rechteck 382"/>
          <p:cNvSpPr/>
          <p:nvPr/>
        </p:nvSpPr>
        <p:spPr>
          <a:xfrm>
            <a:off x="1296360" y="5860080"/>
            <a:ext cx="979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86;p 14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Vorbedingung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89;p 14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sldNum" idx="68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E3240B-3E52-4F08-AD65-B3FD1A0B2E3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58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Rechteck 388"/>
          <p:cNvSpPr/>
          <p:nvPr/>
        </p:nvSpPr>
        <p:spPr>
          <a:xfrm>
            <a:off x="1800000" y="5874120"/>
            <a:ext cx="8486640" cy="25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Flussdiagramm: Prozess 389"/>
          <p:cNvSpPr/>
          <p:nvPr/>
        </p:nvSpPr>
        <p:spPr>
          <a:xfrm>
            <a:off x="1606680" y="5724000"/>
            <a:ext cx="138060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86;p 29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Vorbedingung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89;p 29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sldNum" idx="69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F0D589-C180-4528-A7CA-8609FB9A1AA7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59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1" name="Grafik 35"/>
          <p:cNvPicPr/>
          <p:nvPr/>
        </p:nvPicPr>
        <p:blipFill>
          <a:blip r:embed="rId2"/>
          <a:stretch/>
        </p:blipFill>
        <p:spPr>
          <a:xfrm>
            <a:off x="1577520" y="2340000"/>
            <a:ext cx="9041400" cy="21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Rechteck 2"/>
          <p:cNvSpPr/>
          <p:nvPr/>
        </p:nvSpPr>
        <p:spPr>
          <a:xfrm>
            <a:off x="1800000" y="5874120"/>
            <a:ext cx="836856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Flussdiagramm: Prozess 2"/>
          <p:cNvSpPr/>
          <p:nvPr/>
        </p:nvSpPr>
        <p:spPr>
          <a:xfrm>
            <a:off x="1606680" y="5724000"/>
            <a:ext cx="138060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86;p 10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Aktion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89;p 10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sldNum" idx="70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FF04D4-6339-4B5C-A186-ED9655762CE8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60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Rechteck 394"/>
          <p:cNvSpPr/>
          <p:nvPr/>
        </p:nvSpPr>
        <p:spPr>
          <a:xfrm>
            <a:off x="1800000" y="5874480"/>
            <a:ext cx="8486640" cy="25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Flussdiagramm: Prozess 395"/>
          <p:cNvSpPr/>
          <p:nvPr/>
        </p:nvSpPr>
        <p:spPr>
          <a:xfrm>
            <a:off x="3528000" y="5760000"/>
            <a:ext cx="138060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86;p 30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Aktion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89;p 30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 type="sldNum" idx="71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2ECB5D-A78A-42A5-A35B-92AC78CC1164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Rechteck 3"/>
          <p:cNvSpPr/>
          <p:nvPr/>
        </p:nvSpPr>
        <p:spPr>
          <a:xfrm>
            <a:off x="1800000" y="5874480"/>
            <a:ext cx="836856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Flussdiagramm: Prozess 3"/>
          <p:cNvSpPr/>
          <p:nvPr/>
        </p:nvSpPr>
        <p:spPr>
          <a:xfrm>
            <a:off x="3528000" y="5760000"/>
            <a:ext cx="138060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6" name="Grafik 38"/>
          <p:cNvPicPr/>
          <p:nvPr/>
        </p:nvPicPr>
        <p:blipFill>
          <a:blip r:embed="rId2"/>
          <a:stretch/>
        </p:blipFill>
        <p:spPr>
          <a:xfrm>
            <a:off x="2122920" y="2340000"/>
            <a:ext cx="8316360" cy="1757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86;p 7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Nachbedingung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89;p 7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ldNum" idx="72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9CD51A-30B9-4D7D-AB1A-DE2B0312274E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62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Rechteck 402"/>
          <p:cNvSpPr/>
          <p:nvPr/>
        </p:nvSpPr>
        <p:spPr>
          <a:xfrm>
            <a:off x="1800000" y="5874480"/>
            <a:ext cx="8486640" cy="25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Flussdiagramm: Prozess 403"/>
          <p:cNvSpPr/>
          <p:nvPr/>
        </p:nvSpPr>
        <p:spPr>
          <a:xfrm>
            <a:off x="5328000" y="5760000"/>
            <a:ext cx="11325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86;p 3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Nachbedingung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Google Shape;89;p 31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sldNum" idx="73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FD0857-9892-480C-8381-0A4D14879AED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Rechteck 4"/>
          <p:cNvSpPr/>
          <p:nvPr/>
        </p:nvSpPr>
        <p:spPr>
          <a:xfrm>
            <a:off x="1800000" y="5874480"/>
            <a:ext cx="836856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Flussdiagramm: Prozess 4"/>
          <p:cNvSpPr/>
          <p:nvPr/>
        </p:nvSpPr>
        <p:spPr>
          <a:xfrm>
            <a:off x="5328000" y="5760000"/>
            <a:ext cx="11325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9" name="Grafik 528"/>
          <p:cNvPicPr/>
          <p:nvPr/>
        </p:nvPicPr>
        <p:blipFill>
          <a:blip r:embed="rId2"/>
          <a:stretch/>
        </p:blipFill>
        <p:spPr>
          <a:xfrm>
            <a:off x="720000" y="2520000"/>
            <a:ext cx="10820520" cy="1181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86;p 11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Schritt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89;p 11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 type="sldNum" idx="74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F50761-F160-49CE-929A-8FFB7EEC603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64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Rechteck 409"/>
          <p:cNvSpPr/>
          <p:nvPr/>
        </p:nvSpPr>
        <p:spPr>
          <a:xfrm>
            <a:off x="1800000" y="5874480"/>
            <a:ext cx="854280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→             betreteTuer             →             ist in Tür             →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Flussdiagramm: Prozess 410"/>
          <p:cNvSpPr/>
          <p:nvPr/>
        </p:nvSpPr>
        <p:spPr>
          <a:xfrm>
            <a:off x="1620000" y="5760000"/>
            <a:ext cx="50889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86;p 3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Schritt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Google Shape;89;p 3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sldNum" idx="75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4CA412-AA9E-4DF7-B202-92193ED1F0D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0" name="Grafik 40"/>
          <p:cNvPicPr/>
          <p:nvPr/>
        </p:nvPicPr>
        <p:blipFill>
          <a:blip r:embed="rId2"/>
          <a:stretch/>
        </p:blipFill>
        <p:spPr>
          <a:xfrm>
            <a:off x="1707120" y="1932840"/>
            <a:ext cx="8551800" cy="26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Rechteck 5"/>
          <p:cNvSpPr/>
          <p:nvPr/>
        </p:nvSpPr>
        <p:spPr>
          <a:xfrm>
            <a:off x="1800000" y="5874480"/>
            <a:ext cx="854280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→             betreteTuer             →             ist in Tür             →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Flussdiagramm: Prozess 5"/>
          <p:cNvSpPr/>
          <p:nvPr/>
        </p:nvSpPr>
        <p:spPr>
          <a:xfrm>
            <a:off x="1620000" y="5760000"/>
            <a:ext cx="50889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86;p 35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Schritt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Google Shape;89;p 35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sldNum" idx="76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26C1CC-7263-461A-B52E-D7A0DCB9A33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66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7" name="Grafik 33"/>
          <p:cNvPicPr/>
          <p:nvPr/>
        </p:nvPicPr>
        <p:blipFill>
          <a:blip r:embed="rId2"/>
          <a:stretch/>
        </p:blipFill>
        <p:spPr>
          <a:xfrm>
            <a:off x="1707120" y="1932840"/>
            <a:ext cx="8551800" cy="26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8" name="Rechteck 8"/>
          <p:cNvSpPr/>
          <p:nvPr/>
        </p:nvSpPr>
        <p:spPr>
          <a:xfrm>
            <a:off x="1800000" y="5874480"/>
            <a:ext cx="854280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→             betreteTuer             →             ist in Tür             →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Flussdiagramm: Prozess 7"/>
          <p:cNvSpPr/>
          <p:nvPr/>
        </p:nvSpPr>
        <p:spPr>
          <a:xfrm>
            <a:off x="1620000" y="5760000"/>
            <a:ext cx="50889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feil: nach rechts 12"/>
          <p:cNvSpPr/>
          <p:nvPr/>
        </p:nvSpPr>
        <p:spPr>
          <a:xfrm rot="10800000">
            <a:off x="7770960" y="27000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feld 22"/>
          <p:cNvSpPr/>
          <p:nvPr/>
        </p:nvSpPr>
        <p:spPr>
          <a:xfrm>
            <a:off x="8382600" y="275688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86;p 36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Schritt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Google Shape;89;p 36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sldNum" idx="77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58CC6A-23C4-4284-859F-A3A4EC2553FF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6" name="Grafik 34"/>
          <p:cNvPicPr/>
          <p:nvPr/>
        </p:nvPicPr>
        <p:blipFill>
          <a:blip r:embed="rId2"/>
          <a:stretch/>
        </p:blipFill>
        <p:spPr>
          <a:xfrm>
            <a:off x="1707120" y="1932840"/>
            <a:ext cx="8551800" cy="26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Rechteck 9"/>
          <p:cNvSpPr/>
          <p:nvPr/>
        </p:nvSpPr>
        <p:spPr>
          <a:xfrm>
            <a:off x="1800000" y="5874480"/>
            <a:ext cx="854280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→             betreteTuer             →             ist in Tür             →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Flussdiagramm: Prozess 8"/>
          <p:cNvSpPr/>
          <p:nvPr/>
        </p:nvSpPr>
        <p:spPr>
          <a:xfrm>
            <a:off x="1620000" y="5760000"/>
            <a:ext cx="50889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feil: nach rechts 15"/>
          <p:cNvSpPr/>
          <p:nvPr/>
        </p:nvSpPr>
        <p:spPr>
          <a:xfrm rot="10800000">
            <a:off x="7770960" y="27000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feld 25"/>
          <p:cNvSpPr/>
          <p:nvPr/>
        </p:nvSpPr>
        <p:spPr>
          <a:xfrm>
            <a:off x="8382600" y="275688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feil: nach rechts 25"/>
          <p:cNvSpPr/>
          <p:nvPr/>
        </p:nvSpPr>
        <p:spPr>
          <a:xfrm rot="20400000">
            <a:off x="828000" y="357912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feld 36"/>
          <p:cNvSpPr/>
          <p:nvPr/>
        </p:nvSpPr>
        <p:spPr>
          <a:xfrm>
            <a:off x="-366120" y="3852000"/>
            <a:ext cx="187740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Aktion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86;p 37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Schritt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Google Shape;89;p 37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 type="sldNum" idx="78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01B0E7-D963-45DA-947E-1EDD060D47A8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68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7" name="Grafik 39"/>
          <p:cNvPicPr/>
          <p:nvPr/>
        </p:nvPicPr>
        <p:blipFill>
          <a:blip r:embed="rId2"/>
          <a:stretch/>
        </p:blipFill>
        <p:spPr>
          <a:xfrm>
            <a:off x="1707120" y="1932840"/>
            <a:ext cx="8551800" cy="26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Rechteck 10"/>
          <p:cNvSpPr/>
          <p:nvPr/>
        </p:nvSpPr>
        <p:spPr>
          <a:xfrm>
            <a:off x="1800000" y="5874480"/>
            <a:ext cx="854280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→             betreteTuer             →             ist in Tür             →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Flussdiagramm: Prozess 9"/>
          <p:cNvSpPr/>
          <p:nvPr/>
        </p:nvSpPr>
        <p:spPr>
          <a:xfrm>
            <a:off x="1620000" y="5760000"/>
            <a:ext cx="508896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feil: nach rechts 26"/>
          <p:cNvSpPr/>
          <p:nvPr/>
        </p:nvSpPr>
        <p:spPr>
          <a:xfrm rot="10800000">
            <a:off x="7770960" y="270000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feld 37"/>
          <p:cNvSpPr/>
          <p:nvPr/>
        </p:nvSpPr>
        <p:spPr>
          <a:xfrm>
            <a:off x="8382600" y="275688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feil: nach rechts 28"/>
          <p:cNvSpPr/>
          <p:nvPr/>
        </p:nvSpPr>
        <p:spPr>
          <a:xfrm rot="18780000">
            <a:off x="1954080" y="473724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feld 38"/>
          <p:cNvSpPr/>
          <p:nvPr/>
        </p:nvSpPr>
        <p:spPr>
          <a:xfrm>
            <a:off x="540000" y="5121720"/>
            <a:ext cx="18774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Nachbedingungen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feil: nach rechts 29"/>
          <p:cNvSpPr/>
          <p:nvPr/>
        </p:nvSpPr>
        <p:spPr>
          <a:xfrm rot="20400000">
            <a:off x="828000" y="3579120"/>
            <a:ext cx="934560" cy="38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05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feld 39"/>
          <p:cNvSpPr/>
          <p:nvPr/>
        </p:nvSpPr>
        <p:spPr>
          <a:xfrm>
            <a:off x="-366120" y="3852000"/>
            <a:ext cx="187740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Aktion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rafik 575"/>
          <p:cNvPicPr/>
          <p:nvPr/>
        </p:nvPicPr>
        <p:blipFill>
          <a:blip r:embed="rId2"/>
          <a:stretch/>
        </p:blipFill>
        <p:spPr>
          <a:xfrm>
            <a:off x="1483200" y="2395080"/>
            <a:ext cx="8416800" cy="167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Google Shape;86;p 34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Beweis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Google Shape;89;p 34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 type="sldNum" idx="79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A332E6-F7CE-48AA-8558-ED3276141CB3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69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Rechteck 580"/>
          <p:cNvSpPr/>
          <p:nvPr/>
        </p:nvSpPr>
        <p:spPr>
          <a:xfrm flipV="1">
            <a:off x="1620000" y="3563640"/>
            <a:ext cx="8820000" cy="1116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861984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Konsistenz zwischen Modellen</a:t>
            </a:r>
          </a:p>
        </p:txBody>
      </p:sp>
      <p:sp>
        <p:nvSpPr>
          <p:cNvPr id="583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1419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Nur Bewohner dürfen Türen öffnen</a:t>
            </a: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4" name="Grafik 42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069800" y="5079240"/>
            <a:ext cx="7808760" cy="1579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86;p 16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Konsistenz zwischen den Modellen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Google Shape;89;p 16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 type="sldNum" idx="80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63BAD8-EBE7-4819-BA88-59DE340495A5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71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9" name="Grafik 42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69800" y="2700000"/>
            <a:ext cx="7808760" cy="1579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86;p 12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Beweis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Google Shape;89;p 12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sldNum" idx="81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CB4604-EBCA-47AD-BBC8-6FEFE1954C39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72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Rechteck 415"/>
          <p:cNvSpPr/>
          <p:nvPr/>
        </p:nvSpPr>
        <p:spPr>
          <a:xfrm>
            <a:off x="1800000" y="5874480"/>
            <a:ext cx="836856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Flussdiagramm: Prozess 417"/>
          <p:cNvSpPr/>
          <p:nvPr/>
        </p:nvSpPr>
        <p:spPr>
          <a:xfrm>
            <a:off x="1620000" y="5760000"/>
            <a:ext cx="881928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Grafik 4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70160" y="2700360"/>
            <a:ext cx="7808760" cy="1579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86;p 33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Beweis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Google Shape;89;p 33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 type="sldNum" idx="82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752ACD-C660-4B0D-8D62-EE6F432269FB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73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Rechteck 6"/>
          <p:cNvSpPr/>
          <p:nvPr/>
        </p:nvSpPr>
        <p:spPr>
          <a:xfrm>
            <a:off x="1800000" y="5874480"/>
            <a:ext cx="836856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ist in Raum A             ˄             betreteTuer             ˄             ist in Tür             ˄              verlasseTuer             →             ist in Raum B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Flussdiagramm: Prozess 6"/>
          <p:cNvSpPr/>
          <p:nvPr/>
        </p:nvSpPr>
        <p:spPr>
          <a:xfrm>
            <a:off x="1620000" y="5760000"/>
            <a:ext cx="8819280" cy="539280"/>
          </a:xfrm>
          <a:prstGeom prst="flowChartProcess">
            <a:avLst/>
          </a:prstGeom>
          <a:noFill/>
          <a:ln w="29160">
            <a:solidFill>
              <a:srgbClr val="E005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3" name="Grafik 602"/>
          <p:cNvPicPr/>
          <p:nvPr/>
        </p:nvPicPr>
        <p:blipFill>
          <a:blip r:embed="rId2"/>
          <a:stretch/>
        </p:blipFill>
        <p:spPr>
          <a:xfrm>
            <a:off x="1800000" y="1849680"/>
            <a:ext cx="8523720" cy="265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Rechteck 603"/>
          <p:cNvSpPr/>
          <p:nvPr/>
        </p:nvSpPr>
        <p:spPr>
          <a:xfrm flipV="1">
            <a:off x="1620000" y="3275640"/>
            <a:ext cx="8820000" cy="1584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95;p3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762048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Fazit und Ausblick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/>
          </p:nvPr>
        </p:nvSpPr>
        <p:spPr>
          <a:xfrm>
            <a:off x="543960" y="4689360"/>
            <a:ext cx="762048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Was getan ist und was als nächstes möglich wäre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Google Shape;98;p3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83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DEFCB0-5F25-40CC-9EBF-0D84C817069A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74</a:t>
            </a:fld>
            <a:endParaRPr lang="de-DE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178;p8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Fazit und Ausblick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543960" y="14842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</a:rPr>
              <a:t>Weiterentwicklung des Systems durch weitere </a:t>
            </a:r>
            <a:r>
              <a:rPr lang="en-US" sz="2000" b="1" u="none" strike="noStrike">
                <a:solidFill>
                  <a:srgbClr val="361E47"/>
                </a:solidFill>
                <a:effectLst/>
                <a:uFillTx/>
                <a:latin typeface="Arial"/>
              </a:rPr>
              <a:t>Zutrittsregeln</a:t>
            </a: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</a:rPr>
              <a:t> und </a:t>
            </a:r>
            <a:r>
              <a:rPr lang="en-US" sz="2000" b="1" u="none" strike="noStrike">
                <a:solidFill>
                  <a:srgbClr val="361E47"/>
                </a:solidFill>
                <a:effectLst/>
                <a:uFillTx/>
                <a:latin typeface="Arial"/>
              </a:rPr>
              <a:t>Zutrittsschritte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</a:rPr>
              <a:t>Weitere Zutrittsregeln auf Autorisierungsebene: </a:t>
            </a: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Raumkapazitäten, Uhrzeiten, Personentypen oder externe Bedingungen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Weitere Zutrittsschritte mit nach Event-B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00514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Parallele Authentifizierungsschritte und Spezifikationslücken durch Regelverletzung finden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Google Shape;181;p8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84"/>
          </p:nvPr>
        </p:nvSpPr>
        <p:spPr>
          <a:xfrm>
            <a:off x="11473200" y="6414840"/>
            <a:ext cx="17244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28CF89-1716-41E4-B202-19AEFB9BC348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75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543960" y="3681360"/>
            <a:ext cx="5549760" cy="1005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34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Vielen lieben Dank!</a:t>
            </a:r>
            <a:endParaRPr lang="de-DE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subTitle"/>
          </p:nvPr>
        </p:nvSpPr>
        <p:spPr>
          <a:xfrm>
            <a:off x="543960" y="4689360"/>
            <a:ext cx="5549760" cy="1366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22860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Verena Kipp, Anna-Livia Martin, David Rossel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Google Shape;80;p1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8" name="Google Shape;81;p1" descr="Grafik 7"/>
          <p:cNvPicPr/>
          <p:nvPr/>
        </p:nvPicPr>
        <p:blipFill>
          <a:blip r:embed="rId3"/>
          <a:stretch/>
        </p:blipFill>
        <p:spPr>
          <a:xfrm>
            <a:off x="10726560" y="399240"/>
            <a:ext cx="1145880" cy="44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9" name="Grafik 14"/>
          <p:cNvPicPr/>
          <p:nvPr/>
        </p:nvPicPr>
        <p:blipFill>
          <a:blip r:embed="rId4"/>
          <a:stretch/>
        </p:blipFill>
        <p:spPr>
          <a:xfrm>
            <a:off x="5760000" y="3471120"/>
            <a:ext cx="3707280" cy="447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0" name="Grafik 16"/>
          <p:cNvPicPr/>
          <p:nvPr/>
        </p:nvPicPr>
        <p:blipFill>
          <a:blip r:embed="rId5"/>
          <a:stretch/>
        </p:blipFill>
        <p:spPr>
          <a:xfrm>
            <a:off x="8508240" y="2700000"/>
            <a:ext cx="3804480" cy="5446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232;p14"/>
          <p:cNvSpPr/>
          <p:nvPr/>
        </p:nvSpPr>
        <p:spPr>
          <a:xfrm>
            <a:off x="1569600" y="6417360"/>
            <a:ext cx="4355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Smart Home – Zugangskontrollsystem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543960" y="692280"/>
            <a:ext cx="11102040" cy="5742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b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Quellen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/>
          </p:nvPr>
        </p:nvSpPr>
        <p:spPr>
          <a:xfrm>
            <a:off x="543960" y="1471680"/>
            <a:ext cx="11102040" cy="45712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Bernd das Brot: https://erfurt-mitte.de/blogs/erfurt-mitte-blog/bernd-das-brot-merchandise-im-onlineshop-kultiges-kultbrot-fuer-fans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Sandmännchen: https://www.gmx.ch/magazine/unterhaltung/tv-shows/24-zentimeter-gross-unermuedlich-sandmann-55-30229448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361E47"/>
                </a:solidFill>
                <a:effectLst/>
                <a:uFillTx/>
                <a:latin typeface="Arial"/>
                <a:ea typeface="Arial"/>
              </a:rPr>
              <a:t>Alle anderen Diagramme/Bilder sind durch uns erstellt worden.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Google Shape;235;p14"/>
          <p:cNvSpPr/>
          <p:nvPr/>
        </p:nvSpPr>
        <p:spPr>
          <a:xfrm>
            <a:off x="589680" y="6417360"/>
            <a:ext cx="746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19.08.2026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85"/>
          </p:nvPr>
        </p:nvSpPr>
        <p:spPr>
          <a:xfrm>
            <a:off x="11402640" y="6414840"/>
            <a:ext cx="243360" cy="2462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C1F229-0CB9-452E-8A92-1E6982A3B23A}" type="slidenum">
              <a:rPr lang="en-US" sz="1000" b="0" u="none" strike="noStrike">
                <a:solidFill>
                  <a:srgbClr val="C4B9C8"/>
                </a:solidFill>
                <a:effectLst/>
                <a:uFillTx/>
                <a:latin typeface="Arial"/>
                <a:ea typeface="Arial"/>
              </a:rPr>
              <a:t>77</a:t>
            </a:fld>
            <a:endParaRPr lang="de-DE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361E47"/>
      </a:dk1>
      <a:lt1>
        <a:srgbClr val="FFFFFF"/>
      </a:lt1>
      <a:dk2>
        <a:srgbClr val="A7A7A7"/>
      </a:dk2>
      <a:lt2>
        <a:srgbClr val="535353"/>
      </a:lt2>
      <a:accent1>
        <a:srgbClr val="E00514"/>
      </a:accent1>
      <a:accent2>
        <a:srgbClr val="A42564"/>
      </a:accent2>
      <a:accent3>
        <a:srgbClr val="5E3EE1"/>
      </a:accent3>
      <a:accent4>
        <a:srgbClr val="F6D0F1"/>
      </a:accent4>
      <a:accent5>
        <a:srgbClr val="B44D79"/>
      </a:accent5>
      <a:accent6>
        <a:srgbClr val="7E63E8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361E47"/>
      </a:dk1>
      <a:lt1>
        <a:srgbClr val="FFFFFF"/>
      </a:lt1>
      <a:dk2>
        <a:srgbClr val="A7A7A7"/>
      </a:dk2>
      <a:lt2>
        <a:srgbClr val="535353"/>
      </a:lt2>
      <a:accent1>
        <a:srgbClr val="E00514"/>
      </a:accent1>
      <a:accent2>
        <a:srgbClr val="A42564"/>
      </a:accent2>
      <a:accent3>
        <a:srgbClr val="5E3EE1"/>
      </a:accent3>
      <a:accent4>
        <a:srgbClr val="F6D0F1"/>
      </a:accent4>
      <a:accent5>
        <a:srgbClr val="B44D79"/>
      </a:accent5>
      <a:accent6>
        <a:srgbClr val="7E63E8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4364</Words>
  <Application>Microsoft Office PowerPoint</Application>
  <PresentationFormat>Breitbild</PresentationFormat>
  <Paragraphs>871</Paragraphs>
  <Slides>77</Slides>
  <Notes>27</Notes>
  <HiddenSlides>9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77</vt:i4>
      </vt:variant>
    </vt:vector>
  </HeadingPairs>
  <TitlesOfParts>
    <vt:vector size="84" baseType="lpstr">
      <vt:lpstr>Arial</vt:lpstr>
      <vt:lpstr>Symbol</vt:lpstr>
      <vt:lpstr>Times New Roman</vt:lpstr>
      <vt:lpstr>Wingdings</vt:lpstr>
      <vt:lpstr>Wingdings 2</vt:lpstr>
      <vt:lpstr>Office</vt:lpstr>
      <vt:lpstr>Office</vt:lpstr>
      <vt:lpstr>Reliable Software –  Smart Home System</vt:lpstr>
      <vt:lpstr>Motivation</vt:lpstr>
      <vt:lpstr>Motivation</vt:lpstr>
      <vt:lpstr>Grundlegende räumliche Struktur</vt:lpstr>
      <vt:lpstr>Gebäudestruktur</vt:lpstr>
      <vt:lpstr>Weitere Grundgesetze</vt:lpstr>
      <vt:lpstr>Umsetzung in Alloy</vt:lpstr>
      <vt:lpstr>Übersicht der Objekte</vt:lpstr>
      <vt:lpstr>Übersicht der Axiome</vt:lpstr>
      <vt:lpstr>Übersicht der Invarianten</vt:lpstr>
      <vt:lpstr>Übersicht der Objekte</vt:lpstr>
      <vt:lpstr>PowerPoint-Präsentation</vt:lpstr>
      <vt:lpstr>Grobes Modell</vt:lpstr>
      <vt:lpstr>Grobes Modell</vt:lpstr>
      <vt:lpstr>Inhalt</vt:lpstr>
      <vt:lpstr>Ereignisse des feinen Modells</vt:lpstr>
      <vt:lpstr>Feines Modell</vt:lpstr>
      <vt:lpstr>Feines Modell: Initialer Zustand</vt:lpstr>
      <vt:lpstr>Feines Modell: Schritt 1</vt:lpstr>
      <vt:lpstr>Feines Modell: Schritt 2</vt:lpstr>
      <vt:lpstr>Feines Modell</vt:lpstr>
      <vt:lpstr>Übersicht Verfeinerung</vt:lpstr>
      <vt:lpstr>Inhalt</vt:lpstr>
      <vt:lpstr>Ereignis: Autorisierung</vt:lpstr>
      <vt:lpstr>Feines Modell mit Autorisierung</vt:lpstr>
      <vt:lpstr>Autorisierung</vt:lpstr>
      <vt:lpstr>Autorisierung: Schritt 1</vt:lpstr>
      <vt:lpstr>Autorisierung: Schritt 2</vt:lpstr>
      <vt:lpstr>Autorisierung: Schritt 3</vt:lpstr>
      <vt:lpstr>Synchronisierung der Modelle</vt:lpstr>
      <vt:lpstr>Übersicht Verfeinerung</vt:lpstr>
      <vt:lpstr>Übersicht Verfeinerung</vt:lpstr>
      <vt:lpstr>Beispiel</vt:lpstr>
      <vt:lpstr>Beispiel</vt:lpstr>
      <vt:lpstr>Beispiel</vt:lpstr>
      <vt:lpstr>Beispiel</vt:lpstr>
      <vt:lpstr>Inhalt</vt:lpstr>
      <vt:lpstr>Umsetzung in Lean</vt:lpstr>
      <vt:lpstr>Übersicht der Objekte</vt:lpstr>
      <vt:lpstr>Übersicht der Objekte</vt:lpstr>
      <vt:lpstr>SimpleGraph</vt:lpstr>
      <vt:lpstr>SimpleGraph</vt:lpstr>
      <vt:lpstr>SimpleGraph</vt:lpstr>
      <vt:lpstr>SimpleGraph</vt:lpstr>
      <vt:lpstr>SimpleGraph</vt:lpstr>
      <vt:lpstr>SimpleGraph</vt:lpstr>
      <vt:lpstr>Zustand</vt:lpstr>
      <vt:lpstr>Zustand</vt:lpstr>
      <vt:lpstr>Zustand</vt:lpstr>
      <vt:lpstr>PowerPoint-Präsentation</vt:lpstr>
      <vt:lpstr>Wie Alloy in Lean übersetzen?</vt:lpstr>
      <vt:lpstr>Wie Alloy in Lean übersetzen?</vt:lpstr>
      <vt:lpstr>Wie Alloy in Lean übersetzen?</vt:lpstr>
      <vt:lpstr>Wie Alloy in Lean übersetzen?</vt:lpstr>
      <vt:lpstr>Übersetzung</vt:lpstr>
      <vt:lpstr>PowerPoint-Präsentation</vt:lpstr>
      <vt:lpstr>Feines Modell: betrete Tür</vt:lpstr>
      <vt:lpstr>Vorbedingung</vt:lpstr>
      <vt:lpstr>Vorbedingung</vt:lpstr>
      <vt:lpstr>Aktion</vt:lpstr>
      <vt:lpstr>Aktion</vt:lpstr>
      <vt:lpstr>Nachbedingung</vt:lpstr>
      <vt:lpstr>Nachbedingung</vt:lpstr>
      <vt:lpstr>Schritt</vt:lpstr>
      <vt:lpstr>Schritt</vt:lpstr>
      <vt:lpstr>Schritt</vt:lpstr>
      <vt:lpstr>Schritt</vt:lpstr>
      <vt:lpstr>Schritt</vt:lpstr>
      <vt:lpstr>Beweis</vt:lpstr>
      <vt:lpstr>Konsistenz zwischen Modellen</vt:lpstr>
      <vt:lpstr>Konsistenz zwischen den Modellen</vt:lpstr>
      <vt:lpstr>Beweis</vt:lpstr>
      <vt:lpstr>Beweis</vt:lpstr>
      <vt:lpstr>Fazit und Ausblick</vt:lpstr>
      <vt:lpstr>Fazit und Ausblick</vt:lpstr>
      <vt:lpstr>Vielen lieben Dank!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_r_m66r71o@hsrheinmain.onmicrosoft.com</cp:lastModifiedBy>
  <cp:revision>80</cp:revision>
  <dcterms:modified xsi:type="dcterms:W3CDTF">2026-08-19T07:20:47Z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8</vt:i4>
  </property>
  <property fmtid="{D5CDD505-2E9C-101B-9397-08002B2CF9AE}" pid="3" name="Notes">
    <vt:i4>20</vt:i4>
  </property>
  <property fmtid="{D5CDD505-2E9C-101B-9397-08002B2CF9AE}" pid="4" name="PresentationFormat">
    <vt:lpwstr>Breitbild</vt:lpwstr>
  </property>
  <property fmtid="{D5CDD505-2E9C-101B-9397-08002B2CF9AE}" pid="5" name="Slides">
    <vt:i4>59</vt:i4>
  </property>
</Properties>
</file>