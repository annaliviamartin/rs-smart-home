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16.xml" ContentType="application/vnd.openxmlformats-officedocument.theme+xml"/>
  <Override PartName="/ppt/presentation.xml" ContentType="application/vnd.openxmlformats-officedocument.presentationml.presentation.main+xml"/>
  <Override PartName="/ppt/slides/slide45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46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47.xml" ContentType="application/vnd.openxmlformats-officedocument.presentationml.slide+xml"/>
  <Override PartName="/ppt/slides/slide3.xml" ContentType="application/vnd.openxmlformats-officedocument.presentationml.slide+xml"/>
  <Override PartName="/ppt/slides/slide40.xml" ContentType="application/vnd.openxmlformats-officedocument.presentationml.slide+xml"/>
  <Override PartName="/ppt/slides/slide4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22.xml" ContentType="application/vnd.openxmlformats-officedocument.presentationml.slide+xml"/>
  <Override PartName="/ppt/slides/slide42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43.xml" ContentType="application/vnd.openxmlformats-officedocument.presentationml.slide+xml"/>
  <Override PartName="/ppt/slides/slide7.xml" ContentType="application/vnd.openxmlformats-officedocument.presentationml.slide+xml"/>
  <Override PartName="/ppt/slides/slide24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5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26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49.xml" ContentType="application/vnd.openxmlformats-officedocument.presentationml.slide+xml"/>
  <Override PartName="/ppt/slides/slide14.xml" ContentType="application/vnd.openxmlformats-officedocument.presentationml.slide+xml"/>
  <Override PartName="/ppt/slides/slide48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44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64.xml" ContentType="application/vnd.openxmlformats-officedocument.presentationml.slide+xml"/>
  <Override PartName="/ppt/slides/slide3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notesMasters/notesMaster1.xml" ContentType="application/vnd.openxmlformats-officedocument.presentationml.notesMaster+xml"/>
  <Override PartName="/ppt/media/image17.svg" ContentType="image/svg"/>
  <Override PartName="/ppt/media/image19.svg" ContentType="image/svg"/>
  <Override PartName="/ppt/media/image15.svg" ContentType="image/svg"/>
  <Override PartName="/ppt/media/image22.svg" ContentType="image/svg"/>
  <Override PartName="/ppt/media/image24.svg" ContentType="image/svg"/>
  <Override PartName="/ppt/media/image36.svg" ContentType="image/svg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notesSlides/notesSlide10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77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  <p:sldId id="299" r:id="rId48"/>
    <p:sldId id="300" r:id="rId49"/>
    <p:sldId id="301" r:id="rId50"/>
    <p:sldId id="302" r:id="rId51"/>
    <p:sldId id="303" r:id="rId52"/>
    <p:sldId id="304" r:id="rId53"/>
    <p:sldId id="305" r:id="rId54"/>
    <p:sldId id="306" r:id="rId55"/>
    <p:sldId id="307" r:id="rId56"/>
    <p:sldId id="308" r:id="rId57"/>
    <p:sldId id="309" r:id="rId58"/>
    <p:sldId id="310" r:id="rId59"/>
    <p:sldId id="311" r:id="rId60"/>
    <p:sldId id="312" r:id="rId61"/>
    <p:sldId id="313" r:id="rId62"/>
    <p:sldId id="314" r:id="rId63"/>
    <p:sldId id="315" r:id="rId64"/>
    <p:sldId id="316" r:id="rId65"/>
    <p:sldId id="317" r:id="rId66"/>
    <p:sldId id="318" r:id="rId67"/>
    <p:sldId id="319" r:id="rId68"/>
    <p:sldId id="320" r:id="rId69"/>
    <p:sldId id="321" r:id="rId70"/>
    <p:sldId id="322" r:id="rId71"/>
    <p:sldId id="323" r:id="rId72"/>
    <p:sldId id="324" r:id="rId73"/>
    <p:sldId id="325" r:id="rId74"/>
    <p:sldId id="326" r:id="rId75"/>
    <p:sldId id="327" r:id="rId76"/>
    <p:sldId id="328" r:id="rId77"/>
    <p:sldId id="329" r:id="rId78"/>
    <p:sldId id="330" r:id="rId79"/>
    <p:sldId id="331" r:id="rId80"/>
    <p:sldId id="332" r:id="rId81"/>
  </p:sldIdLst>
  <p:sldSz cx="12192000" cy="6858000"/>
  <p:notesSz cx="6858000" cy="9144000"/>
  <p:custShowLst>
    <p:custShow name="RS" id="0">
      <p:sldLst>
        <p:sld r:id="rId5"/>
        <p:sld r:id="rId6"/>
        <p:sld r:id="rId7"/>
        <p:sld r:id="rId8"/>
        <p:sld r:id="rId9"/>
        <p:sld r:id="rId10"/>
        <p:sld r:id="rId11"/>
        <p:sld r:id="rId12"/>
        <p:sld r:id="rId13"/>
        <p:sld r:id="rId14"/>
        <p:sld r:id="rId15"/>
        <p:sld r:id="rId16"/>
        <p:sld r:id="rId17"/>
        <p:sld r:id="rId18"/>
        <p:sld r:id="rId19"/>
        <p:sld r:id="rId20"/>
        <p:sld r:id="rId21"/>
        <p:sld r:id="rId22"/>
        <p:sld r:id="rId23"/>
        <p:sld r:id="rId24"/>
        <p:sld r:id="rId25"/>
        <p:sld r:id="rId26"/>
        <p:sld r:id="rId27"/>
        <p:sld r:id="rId28"/>
        <p:sld r:id="rId29"/>
        <p:sld r:id="rId30"/>
        <p:sld r:id="rId31"/>
        <p:sld r:id="rId32"/>
        <p:sld r:id="rId33"/>
        <p:sld r:id="rId34"/>
        <p:sld r:id="rId35"/>
        <p:sld r:id="rId36"/>
        <p:sld r:id="rId37"/>
        <p:sld r:id="rId38"/>
        <p:sld r:id="rId39"/>
        <p:sld r:id="rId40"/>
        <p:sld r:id="rId41"/>
        <p:sld r:id="rId42"/>
        <p:sld r:id="rId43"/>
        <p:sld r:id="rId44"/>
        <p:sld r:id="rId45"/>
        <p:sld r:id="rId46"/>
        <p:sld r:id="rId47"/>
        <p:sld r:id="rId48"/>
        <p:sld r:id="rId49"/>
        <p:sld r:id="rId50"/>
        <p:sld r:id="rId51"/>
        <p:sld r:id="rId52"/>
        <p:sld r:id="rId53"/>
        <p:sld r:id="rId54"/>
        <p:sld r:id="rId55"/>
        <p:sld r:id="rId56"/>
        <p:sld r:id="rId57"/>
        <p:sld r:id="rId58"/>
        <p:sld r:id="rId59"/>
        <p:sld r:id="rId60"/>
        <p:sld r:id="rId61"/>
        <p:sld r:id="rId62"/>
        <p:sld r:id="rId63"/>
        <p:sld r:id="rId64"/>
        <p:sld r:id="rId65"/>
        <p:sld r:id="rId66"/>
        <p:sld r:id="rId67"/>
        <p:sld r:id="rId68"/>
        <p:sld r:id="rId69"/>
        <p:sld r:id="rId70"/>
        <p:sld r:id="rId71"/>
        <p:sld r:id="rId72"/>
        <p:sld r:id="rId73"/>
        <p:sld r:id="rId74"/>
        <p:sld r:id="rId75"/>
        <p:sld r:id="rId76"/>
        <p:sld r:id="rId77"/>
        <p:sld r:id="rId78"/>
        <p:sld r:id="rId79"/>
        <p:sld r:id="rId80"/>
        <p:sld r:id="rId81"/>
      </p:sldLst>
    </p:custShow>
  </p:custShow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slide" Target="slides/slide41.xml"/><Relationship Id="rId46" Type="http://schemas.openxmlformats.org/officeDocument/2006/relationships/slide" Target="slides/slide42.xml"/><Relationship Id="rId47" Type="http://schemas.openxmlformats.org/officeDocument/2006/relationships/slide" Target="slides/slide43.xml"/><Relationship Id="rId48" Type="http://schemas.openxmlformats.org/officeDocument/2006/relationships/slide" Target="slides/slide44.xml"/><Relationship Id="rId49" Type="http://schemas.openxmlformats.org/officeDocument/2006/relationships/slide" Target="slides/slide45.xml"/><Relationship Id="rId50" Type="http://schemas.openxmlformats.org/officeDocument/2006/relationships/slide" Target="slides/slide46.xml"/><Relationship Id="rId51" Type="http://schemas.openxmlformats.org/officeDocument/2006/relationships/slide" Target="slides/slide47.xml"/><Relationship Id="rId52" Type="http://schemas.openxmlformats.org/officeDocument/2006/relationships/slide" Target="slides/slide48.xml"/><Relationship Id="rId53" Type="http://schemas.openxmlformats.org/officeDocument/2006/relationships/slide" Target="slides/slide49.xml"/><Relationship Id="rId54" Type="http://schemas.openxmlformats.org/officeDocument/2006/relationships/slide" Target="slides/slide50.xml"/><Relationship Id="rId55" Type="http://schemas.openxmlformats.org/officeDocument/2006/relationships/slide" Target="slides/slide51.xml"/><Relationship Id="rId56" Type="http://schemas.openxmlformats.org/officeDocument/2006/relationships/slide" Target="slides/slide52.xml"/><Relationship Id="rId57" Type="http://schemas.openxmlformats.org/officeDocument/2006/relationships/slide" Target="slides/slide53.xml"/><Relationship Id="rId58" Type="http://schemas.openxmlformats.org/officeDocument/2006/relationships/slide" Target="slides/slide54.xml"/><Relationship Id="rId59" Type="http://schemas.openxmlformats.org/officeDocument/2006/relationships/slide" Target="slides/slide55.xml"/><Relationship Id="rId60" Type="http://schemas.openxmlformats.org/officeDocument/2006/relationships/slide" Target="slides/slide56.xml"/><Relationship Id="rId61" Type="http://schemas.openxmlformats.org/officeDocument/2006/relationships/slide" Target="slides/slide57.xml"/><Relationship Id="rId62" Type="http://schemas.openxmlformats.org/officeDocument/2006/relationships/slide" Target="slides/slide58.xml"/><Relationship Id="rId63" Type="http://schemas.openxmlformats.org/officeDocument/2006/relationships/slide" Target="slides/slide59.xml"/><Relationship Id="rId64" Type="http://schemas.openxmlformats.org/officeDocument/2006/relationships/slide" Target="slides/slide60.xml"/><Relationship Id="rId65" Type="http://schemas.openxmlformats.org/officeDocument/2006/relationships/slide" Target="slides/slide61.xml"/><Relationship Id="rId66" Type="http://schemas.openxmlformats.org/officeDocument/2006/relationships/slide" Target="slides/slide62.xml"/><Relationship Id="rId67" Type="http://schemas.openxmlformats.org/officeDocument/2006/relationships/slide" Target="slides/slide63.xml"/><Relationship Id="rId68" Type="http://schemas.openxmlformats.org/officeDocument/2006/relationships/slide" Target="slides/slide64.xml"/><Relationship Id="rId69" Type="http://schemas.openxmlformats.org/officeDocument/2006/relationships/slide" Target="slides/slide65.xml"/><Relationship Id="rId70" Type="http://schemas.openxmlformats.org/officeDocument/2006/relationships/slide" Target="slides/slide66.xml"/><Relationship Id="rId71" Type="http://schemas.openxmlformats.org/officeDocument/2006/relationships/slide" Target="slides/slide67.xml"/><Relationship Id="rId72" Type="http://schemas.openxmlformats.org/officeDocument/2006/relationships/slide" Target="slides/slide68.xml"/><Relationship Id="rId73" Type="http://schemas.openxmlformats.org/officeDocument/2006/relationships/slide" Target="slides/slide69.xml"/><Relationship Id="rId74" Type="http://schemas.openxmlformats.org/officeDocument/2006/relationships/slide" Target="slides/slide70.xml"/><Relationship Id="rId75" Type="http://schemas.openxmlformats.org/officeDocument/2006/relationships/slide" Target="slides/slide71.xml"/><Relationship Id="rId76" Type="http://schemas.openxmlformats.org/officeDocument/2006/relationships/slide" Target="slides/slide72.xml"/><Relationship Id="rId77" Type="http://schemas.openxmlformats.org/officeDocument/2006/relationships/slide" Target="slides/slide73.xml"/><Relationship Id="rId78" Type="http://schemas.openxmlformats.org/officeDocument/2006/relationships/slide" Target="slides/slide74.xml"/><Relationship Id="rId79" Type="http://schemas.openxmlformats.org/officeDocument/2006/relationships/slide" Target="slides/slide75.xml"/><Relationship Id="rId80" Type="http://schemas.openxmlformats.org/officeDocument/2006/relationships/slide" Target="slides/slide76.xml"/><Relationship Id="rId81" Type="http://schemas.openxmlformats.org/officeDocument/2006/relationships/slide" Target="slides/slide77.xml"/><Relationship Id="rId82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6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Folie mittels Klicken verschieben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der Notizen mittels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&lt;Kopfzeile&gt;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PlaceHolder 4"/>
          <p:cNvSpPr>
            <a:spLocks noGrp="1"/>
          </p:cNvSpPr>
          <p:nvPr>
            <p:ph type="dt" idx="17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&lt;Datum/Uhrzeit&gt;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PlaceHolder 5"/>
          <p:cNvSpPr>
            <a:spLocks noGrp="1"/>
          </p:cNvSpPr>
          <p:nvPr>
            <p:ph type="ftr" idx="18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PlaceHolder 6"/>
          <p:cNvSpPr>
            <a:spLocks noGrp="1"/>
          </p:cNvSpPr>
          <p:nvPr>
            <p:ph type="sldNum" idx="19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B853A803-D7B7-448B-8AF6-5F0B9D98726F}" type="slidenum"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&lt;Foliennummer&gt;</a:t>
            </a:fld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1.xml.rels><?xml version="1.0" encoding="UTF-8"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
</Relationships>
</file>

<file path=ppt/notesSlides/_rels/notesSlide42.xml.rels><?xml version="1.0" encoding="UTF-8"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
</Relationships>
</file>

<file path=ppt/notesSlides/_rels/notesSlide43.xml.rels><?xml version="1.0" encoding="UTF-8"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_rels/notesSlide46.xml.rels><?xml version="1.0" encoding="UTF-8"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
</Relationships>
</file>

<file path=ppt/notesSlides/_rels/notesSlide47.xml.rels><?xml version="1.0" encoding="UTF-8"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
</Relationships>
</file>

<file path=ppt/notesSlides/_rels/notesSlide48.xml.rels><?xml version="1.0" encoding="UTF-8"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
</Relationships>
</file>

<file path=ppt/notesSlides/_rels/notesSlide49.xml.rels><?xml version="1.0" encoding="UTF-8"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
</Relationships>
</file>

<file path=ppt/notesSlides/_rels/notesSlide55.xml.rels><?xml version="1.0" encoding="UTF-8"?>
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
</Relationships>
</file>

<file path=ppt/notesSlides/_rels/notesSlide75.xml.rels><?xml version="1.0" encoding="UTF-8"?>
<Relationships xmlns="http://schemas.openxmlformats.org/package/2006/relationships"><Relationship Id="rId1" Type="http://schemas.openxmlformats.org/officeDocument/2006/relationships/slide" Target="../slides/slide75.xml"/><Relationship Id="rId2" Type="http://schemas.openxmlformats.org/officeDocument/2006/relationships/notesMaster" Target="../notesMasters/notesMaster1.xml"/>
</Relationships>
</file>

<file path=ppt/notesSlides/_rels/notesSlide76.xml.rels><?xml version="1.0" encoding="UTF-8"?>
<Relationships xmlns="http://schemas.openxmlformats.org/package/2006/relationships"><Relationship Id="rId1" Type="http://schemas.openxmlformats.org/officeDocument/2006/relationships/slide" Target="../slides/slide76.xml"/><Relationship Id="rId2" Type="http://schemas.openxmlformats.org/officeDocument/2006/relationships/notesMaster" Target="../notesMasters/notesMaster1.xml"/>
</Relationships>
</file>

<file path=ppt/notesSlides/_rels/notesSlide77.xml.rels><?xml version="1.0" encoding="UTF-8"?>
<Relationships xmlns="http://schemas.openxmlformats.org/package/2006/relationships"><Relationship Id="rId1" Type="http://schemas.openxmlformats.org/officeDocument/2006/relationships/slide" Target="../slides/slide77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PlaceHolder 1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6680" cy="411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1 – Titel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Begrüßung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Vorstellung unseres Projekts: </a:t>
            </a:r>
            <a:r>
              <a:rPr lang="en-US" sz="1100" b="0" i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Collaborative Real-Time Kanban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Modul: </a:t>
            </a:r>
            <a:r>
              <a:rPr lang="en-US" sz="1100" b="0" i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Principles, Algorithms and Models of Concurrency and Synchronization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Fokus: Synchronisation und Nebenläufigkeit in einem kollaborativen Kanban-Board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5" name="PlaceHolder 2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080" cy="3427200"/>
          </a:xfrm>
          <a:prstGeom prst="rect">
            <a:avLst/>
          </a:prstGeom>
          <a:ln w="0">
            <a:noFill/>
          </a:ln>
        </p:spPr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0840" cy="3427200"/>
          </a:xfrm>
          <a:prstGeom prst="rect">
            <a:avLst/>
          </a:prstGeom>
          <a:ln w="0">
            <a:noFill/>
          </a:ln>
        </p:spPr>
      </p:sp>
      <p:sp>
        <p:nvSpPr>
          <p:cNvPr id="637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6680" cy="411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0840" cy="3427200"/>
          </a:xfrm>
          <a:prstGeom prst="rect">
            <a:avLst/>
          </a:prstGeom>
          <a:ln w="0">
            <a:noFill/>
          </a:ln>
        </p:spPr>
      </p:sp>
      <p:sp>
        <p:nvSpPr>
          <p:cNvPr id="639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6680" cy="411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3720" cy="3426840"/>
          </a:xfrm>
          <a:prstGeom prst="rect">
            <a:avLst/>
          </a:prstGeom>
          <a:ln w="0">
            <a:noFill/>
          </a:ln>
        </p:spPr>
      </p:sp>
      <p:sp>
        <p:nvSpPr>
          <p:cNvPr id="641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6680" cy="411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3720" cy="3426840"/>
          </a:xfrm>
          <a:prstGeom prst="rect">
            <a:avLst/>
          </a:prstGeom>
          <a:ln w="0">
            <a:noFill/>
          </a:ln>
        </p:spPr>
      </p:sp>
      <p:sp>
        <p:nvSpPr>
          <p:cNvPr id="643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6680" cy="411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3720" cy="3426840"/>
          </a:xfrm>
          <a:prstGeom prst="rect">
            <a:avLst/>
          </a:prstGeom>
          <a:ln w="0">
            <a:noFill/>
          </a:ln>
        </p:spPr>
      </p:sp>
      <p:sp>
        <p:nvSpPr>
          <p:cNvPr id="645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6680" cy="411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3720" cy="3426840"/>
          </a:xfrm>
          <a:prstGeom prst="rect">
            <a:avLst/>
          </a:prstGeom>
          <a:ln w="0">
            <a:noFill/>
          </a:ln>
        </p:spPr>
      </p:sp>
      <p:sp>
        <p:nvSpPr>
          <p:cNvPr id="647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6680" cy="411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649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760" cy="411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de-DE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Wir haben Invarianten nicht als facts festgehalten, sondern nur über asserts überprüft, damit wir das Modell nicht zu sehr einschränken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3720" cy="3426840"/>
          </a:xfrm>
          <a:prstGeom prst="rect">
            <a:avLst/>
          </a:prstGeom>
          <a:ln w="0">
            <a:noFill/>
          </a:ln>
        </p:spPr>
      </p:sp>
      <p:sp>
        <p:nvSpPr>
          <p:cNvPr id="651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6680" cy="411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3720" cy="3426840"/>
          </a:xfrm>
          <a:prstGeom prst="rect">
            <a:avLst/>
          </a:prstGeom>
          <a:ln w="0">
            <a:noFill/>
          </a:ln>
        </p:spPr>
      </p:sp>
      <p:sp>
        <p:nvSpPr>
          <p:cNvPr id="653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6680" cy="411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3720" cy="3426840"/>
          </a:xfrm>
          <a:prstGeom prst="rect">
            <a:avLst/>
          </a:prstGeom>
          <a:ln w="0">
            <a:noFill/>
          </a:ln>
        </p:spPr>
      </p:sp>
      <p:sp>
        <p:nvSpPr>
          <p:cNvPr id="655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6680" cy="411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3720" cy="3426840"/>
          </a:xfrm>
          <a:prstGeom prst="rect">
            <a:avLst/>
          </a:prstGeom>
          <a:ln w="0">
            <a:noFill/>
          </a:ln>
        </p:spPr>
      </p:sp>
      <p:sp>
        <p:nvSpPr>
          <p:cNvPr id="657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6680" cy="411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3720" cy="3426840"/>
          </a:xfrm>
          <a:prstGeom prst="rect">
            <a:avLst/>
          </a:prstGeom>
          <a:ln w="0">
            <a:noFill/>
          </a:ln>
        </p:spPr>
      </p:sp>
      <p:sp>
        <p:nvSpPr>
          <p:cNvPr id="659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6680" cy="411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3720" cy="3426840"/>
          </a:xfrm>
          <a:prstGeom prst="rect">
            <a:avLst/>
          </a:prstGeom>
          <a:ln w="0">
            <a:noFill/>
          </a:ln>
        </p:spPr>
      </p:sp>
      <p:sp>
        <p:nvSpPr>
          <p:cNvPr id="661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6680" cy="411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3720" cy="3426840"/>
          </a:xfrm>
          <a:prstGeom prst="rect">
            <a:avLst/>
          </a:prstGeom>
          <a:ln w="0">
            <a:noFill/>
          </a:ln>
        </p:spPr>
      </p:sp>
      <p:sp>
        <p:nvSpPr>
          <p:cNvPr id="663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6680" cy="411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3720" cy="3426840"/>
          </a:xfrm>
          <a:prstGeom prst="rect">
            <a:avLst/>
          </a:prstGeom>
          <a:ln w="0">
            <a:noFill/>
          </a:ln>
        </p:spPr>
      </p:sp>
      <p:sp>
        <p:nvSpPr>
          <p:cNvPr id="665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6680" cy="411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3720" cy="3426840"/>
          </a:xfrm>
          <a:prstGeom prst="rect">
            <a:avLst/>
          </a:prstGeom>
          <a:ln w="0">
            <a:noFill/>
          </a:ln>
        </p:spPr>
      </p:sp>
      <p:sp>
        <p:nvSpPr>
          <p:cNvPr id="667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6680" cy="411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3720" cy="3426840"/>
          </a:xfrm>
          <a:prstGeom prst="rect">
            <a:avLst/>
          </a:prstGeom>
          <a:ln w="0">
            <a:noFill/>
          </a:ln>
        </p:spPr>
      </p:sp>
      <p:sp>
        <p:nvSpPr>
          <p:cNvPr id="669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6680" cy="411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3720" cy="3426840"/>
          </a:xfrm>
          <a:prstGeom prst="rect">
            <a:avLst/>
          </a:prstGeom>
          <a:ln w="0">
            <a:noFill/>
          </a:ln>
        </p:spPr>
      </p:sp>
      <p:sp>
        <p:nvSpPr>
          <p:cNvPr id="671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6680" cy="411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3720" cy="3426840"/>
          </a:xfrm>
          <a:prstGeom prst="rect">
            <a:avLst/>
          </a:prstGeom>
          <a:ln w="0">
            <a:noFill/>
          </a:ln>
        </p:spPr>
      </p:sp>
      <p:sp>
        <p:nvSpPr>
          <p:cNvPr id="673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6680" cy="411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3720" cy="3426840"/>
          </a:xfrm>
          <a:prstGeom prst="rect">
            <a:avLst/>
          </a:prstGeom>
          <a:ln w="0">
            <a:noFill/>
          </a:ln>
        </p:spPr>
      </p:sp>
      <p:sp>
        <p:nvSpPr>
          <p:cNvPr id="675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6680" cy="411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3720" cy="3426840"/>
          </a:xfrm>
          <a:prstGeom prst="rect">
            <a:avLst/>
          </a:prstGeom>
          <a:ln w="0">
            <a:noFill/>
          </a:ln>
        </p:spPr>
      </p:sp>
      <p:sp>
        <p:nvSpPr>
          <p:cNvPr id="677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6680" cy="411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3720" cy="3426840"/>
          </a:xfrm>
          <a:prstGeom prst="rect">
            <a:avLst/>
          </a:prstGeom>
          <a:ln w="0">
            <a:noFill/>
          </a:ln>
        </p:spPr>
      </p:sp>
      <p:sp>
        <p:nvSpPr>
          <p:cNvPr id="679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6680" cy="411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0840" cy="3427200"/>
          </a:xfrm>
          <a:prstGeom prst="rect">
            <a:avLst/>
          </a:prstGeom>
          <a:ln w="0">
            <a:noFill/>
          </a:ln>
        </p:spPr>
      </p:sp>
      <p:sp>
        <p:nvSpPr>
          <p:cNvPr id="681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6680" cy="411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3720" cy="3426840"/>
          </a:xfrm>
          <a:prstGeom prst="rect">
            <a:avLst/>
          </a:prstGeom>
          <a:ln w="0">
            <a:noFill/>
          </a:ln>
        </p:spPr>
      </p:sp>
      <p:sp>
        <p:nvSpPr>
          <p:cNvPr id="683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6680" cy="411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6 – Race Condition: WIP Limits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Testing-Spalte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Maximal 3 Tasks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einen Task hinein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Beide sehen zunächst dieselbe Anzahl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Beide Operationen erfolgreich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überschritten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ReentrantLock pro Spalte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WIP-Prüfung und Update in einer kritischen Sektion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PlaceHolder 1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6680" cy="411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1 – Titel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Begrüßung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Vorstellung unseres Projekts: </a:t>
            </a:r>
            <a:r>
              <a:rPr lang="en-US" sz="1100" b="0" i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Collaborative Real-Time Kanban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Modul: </a:t>
            </a:r>
            <a:r>
              <a:rPr lang="en-US" sz="1100" b="0" i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Principles, Algorithms and Models of Concurrency and Synchronization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Fokus: Synchronisation und Nebenläufigkeit in einem kollaborativen Kanban-Board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5" name="PlaceHolder 2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3720" cy="3426840"/>
          </a:xfrm>
          <a:prstGeom prst="rect">
            <a:avLst/>
          </a:prstGeom>
          <a:ln w="0">
            <a:noFill/>
          </a:ln>
        </p:spPr>
      </p:sp>
    </p:spTree>
  </p:cSld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3720" cy="3426840"/>
          </a:xfrm>
          <a:prstGeom prst="rect">
            <a:avLst/>
          </a:prstGeom>
          <a:ln w="0">
            <a:noFill/>
          </a:ln>
        </p:spPr>
      </p:sp>
      <p:sp>
        <p:nvSpPr>
          <p:cNvPr id="687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6680" cy="411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Locking initially only covered tasks, extending it to boards and columns required a full restructuring (tests and code, via an abstract lock service)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Keeping frontend state consistent required precise timing of WebSocket updates across all clients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Understanding synchronization deeply mattered more than just getting the code to run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1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1.pn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3.pn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1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5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94E6125C-4AD1-41FA-A966-08A61994B4D8}" type="slidenum">
              <a:t>&lt;#&gt;</a:t>
            </a:fld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bschnitts-&#10;überschrif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5520" cy="44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2467800" y="1484280"/>
            <a:ext cx="7254000" cy="219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2467800" y="3681360"/>
            <a:ext cx="7254000" cy="10054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40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" name="Google Shape;51;p24" descr="Grafik 6"/>
          <p:cNvPicPr/>
          <p:nvPr/>
        </p:nvPicPr>
        <p:blipFill>
          <a:blip r:embed="rId3"/>
          <a:stretch/>
        </p:blipFill>
        <p:spPr>
          <a:xfrm>
            <a:off x="10726560" y="399240"/>
            <a:ext cx="1145520" cy="44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" name="PlaceHolder 3"/>
          <p:cNvSpPr>
            <a:spLocks noGrp="1"/>
          </p:cNvSpPr>
          <p:nvPr>
            <p:ph type="sldNum" idx="2"/>
          </p:nvPr>
        </p:nvSpPr>
        <p:spPr>
          <a:xfrm>
            <a:off x="11402640" y="6416640"/>
            <a:ext cx="24300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13FF386-70F7-4F94-B306-A72D7B5662A2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Le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5520" cy="448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" name="Google Shape;72;p27" descr="Grafik 2"/>
          <p:cNvPicPr/>
          <p:nvPr/>
        </p:nvPicPr>
        <p:blipFill>
          <a:blip r:embed="rId3"/>
          <a:stretch/>
        </p:blipFill>
        <p:spPr>
          <a:xfrm>
            <a:off x="10726560" y="399240"/>
            <a:ext cx="1145520" cy="44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" name="PlaceHolder 1"/>
          <p:cNvSpPr>
            <a:spLocks noGrp="1"/>
          </p:cNvSpPr>
          <p:nvPr>
            <p:ph type="sldNum" idx="3"/>
          </p:nvPr>
        </p:nvSpPr>
        <p:spPr>
          <a:xfrm>
            <a:off x="5892840" y="6233760"/>
            <a:ext cx="284220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E805DDC-D1C1-42C7-8824-035D8207141F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5520" cy="44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5549400" cy="10054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85000" lnSpcReduction="9999"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543960" y="4689360"/>
            <a:ext cx="5549400" cy="1365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5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" name="Google Shape;13;p16" descr="Grafik 7"/>
          <p:cNvPicPr/>
          <p:nvPr/>
        </p:nvPicPr>
        <p:blipFill>
          <a:blip r:embed="rId3"/>
          <a:srcRect l="0" t="33703" r="9034" b="0"/>
          <a:stretch/>
        </p:blipFill>
        <p:spPr>
          <a:xfrm>
            <a:off x="4588200" y="0"/>
            <a:ext cx="7601400" cy="6536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" name="PlaceHolder 3"/>
          <p:cNvSpPr>
            <a:spLocks noGrp="1"/>
          </p:cNvSpPr>
          <p:nvPr>
            <p:ph type="sldNum" idx="4"/>
          </p:nvPr>
        </p:nvSpPr>
        <p:spPr>
          <a:xfrm>
            <a:off x="5892840" y="6233760"/>
            <a:ext cx="284220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BC05238-DCE4-4FBC-A7B7-0FAB8FBF8D40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_AND_BOD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8;p15" descr="Grafik 8"/>
          <p:cNvPicPr/>
          <p:nvPr/>
        </p:nvPicPr>
        <p:blipFill>
          <a:blip r:embed="rId2"/>
          <a:stretch/>
        </p:blipFill>
        <p:spPr>
          <a:xfrm>
            <a:off x="10726560" y="399240"/>
            <a:ext cx="1145520" cy="44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1680" cy="573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543960" y="1484280"/>
            <a:ext cx="11101680" cy="4570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4308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4308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4308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sldNum" idx="5"/>
          </p:nvPr>
        </p:nvSpPr>
        <p:spPr>
          <a:xfrm>
            <a:off x="11402640" y="6416640"/>
            <a:ext cx="24300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DAF5D17-B712-4344-95DE-742EDA757E75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_AND_BOD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Google Shape;8;p15" descr="Grafik 8"/>
          <p:cNvPicPr/>
          <p:nvPr/>
        </p:nvPicPr>
        <p:blipFill>
          <a:blip r:embed="rId2"/>
          <a:stretch/>
        </p:blipFill>
        <p:spPr>
          <a:xfrm>
            <a:off x="10726560" y="399240"/>
            <a:ext cx="1145520" cy="44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1680" cy="573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543960" y="1484280"/>
            <a:ext cx="11101680" cy="4570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4308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4308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4308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sldNum" idx="6"/>
          </p:nvPr>
        </p:nvSpPr>
        <p:spPr>
          <a:xfrm>
            <a:off x="11402640" y="6416640"/>
            <a:ext cx="24300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54F8CA4-2B63-436B-944C-684A7B58D5B7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tandar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oogle Shape;8;p15" descr="Grafik 8"/>
          <p:cNvPicPr/>
          <p:nvPr/>
        </p:nvPicPr>
        <p:blipFill>
          <a:blip r:embed="rId2"/>
          <a:stretch/>
        </p:blipFill>
        <p:spPr>
          <a:xfrm>
            <a:off x="10726560" y="399240"/>
            <a:ext cx="1145520" cy="44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1680" cy="573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543960" y="1484280"/>
            <a:ext cx="11101680" cy="4570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4308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4308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4308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sldNum" idx="7"/>
          </p:nvPr>
        </p:nvSpPr>
        <p:spPr>
          <a:xfrm>
            <a:off x="11402640" y="6416640"/>
            <a:ext cx="24300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6B23E9F-6E66-45B6-91E9-2751FF3BFFA1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tandard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8;p15" descr="Grafik 8"/>
          <p:cNvPicPr/>
          <p:nvPr/>
        </p:nvPicPr>
        <p:blipFill>
          <a:blip r:embed="rId2"/>
          <a:stretch/>
        </p:blipFill>
        <p:spPr>
          <a:xfrm>
            <a:off x="10726560" y="399240"/>
            <a:ext cx="1145520" cy="44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1680" cy="573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543960" y="1484280"/>
            <a:ext cx="11101680" cy="4570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4308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4308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4308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sldNum" idx="8"/>
          </p:nvPr>
        </p:nvSpPr>
        <p:spPr>
          <a:xfrm>
            <a:off x="11402640" y="6416640"/>
            <a:ext cx="24300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38162E2-0F43-4543-94EC-157C5FE63450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tandard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Google Shape;8;p15" descr="Grafik 8"/>
          <p:cNvPicPr/>
          <p:nvPr/>
        </p:nvPicPr>
        <p:blipFill>
          <a:blip r:embed="rId2"/>
          <a:stretch/>
        </p:blipFill>
        <p:spPr>
          <a:xfrm>
            <a:off x="10726560" y="399240"/>
            <a:ext cx="1145520" cy="44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1680" cy="573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543960" y="1484280"/>
            <a:ext cx="11101680" cy="4570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4308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4308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4308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sldNum" idx="9"/>
          </p:nvPr>
        </p:nvSpPr>
        <p:spPr>
          <a:xfrm>
            <a:off x="11402640" y="6416640"/>
            <a:ext cx="24300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2C92FFB-CA9E-43E2-ACC0-29AD5C28D895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3_Titelfolie">
    <p:bg>
      <p:bgPr>
        <a:solidFill>
          <a:schemeClr val="accent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5520" cy="44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7620120" cy="10054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85000" lnSpcReduction="9999"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543960" y="4689360"/>
            <a:ext cx="7620120" cy="1365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5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" name="Google Shape;22;p18" descr="Grafik 3"/>
          <p:cNvPicPr/>
          <p:nvPr/>
        </p:nvPicPr>
        <p:blipFill>
          <a:blip r:embed="rId3"/>
          <a:stretch/>
        </p:blipFill>
        <p:spPr>
          <a:xfrm>
            <a:off x="10726560" y="399240"/>
            <a:ext cx="1145520" cy="44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" name="PlaceHolder 3"/>
          <p:cNvSpPr>
            <a:spLocks noGrp="1"/>
          </p:cNvSpPr>
          <p:nvPr>
            <p:ph type="sldNum" idx="10"/>
          </p:nvPr>
        </p:nvSpPr>
        <p:spPr>
          <a:xfrm>
            <a:off x="11402640" y="6416640"/>
            <a:ext cx="24300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E569295-0454-4C57-8748-12BAECA279EF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Zwei Inhal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Google Shape;8;p15" descr="Grafik 8"/>
          <p:cNvPicPr/>
          <p:nvPr/>
        </p:nvPicPr>
        <p:blipFill>
          <a:blip r:embed="rId2"/>
          <a:stretch/>
        </p:blipFill>
        <p:spPr>
          <a:xfrm>
            <a:off x="10726560" y="399240"/>
            <a:ext cx="1145520" cy="44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5239440" cy="573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70000" lnSpcReduction="19999"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543960" y="1484280"/>
            <a:ext cx="5239440" cy="4570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sldNum" idx="11"/>
          </p:nvPr>
        </p:nvSpPr>
        <p:spPr>
          <a:xfrm>
            <a:off x="11402640" y="6416640"/>
            <a:ext cx="24300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E3792F6-3E7F-46B4-8549-19320CA298F0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body"/>
          </p:nvPr>
        </p:nvSpPr>
        <p:spPr>
          <a:xfrm>
            <a:off x="6343560" y="849960"/>
            <a:ext cx="5393520" cy="5205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Zwei Inhal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Google Shape;8;p15" descr="Grafik 8"/>
          <p:cNvPicPr/>
          <p:nvPr/>
        </p:nvPicPr>
        <p:blipFill>
          <a:blip r:embed="rId2"/>
          <a:stretch/>
        </p:blipFill>
        <p:spPr>
          <a:xfrm>
            <a:off x="10726560" y="399240"/>
            <a:ext cx="1145520" cy="44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1680" cy="573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543960" y="1484280"/>
            <a:ext cx="5239440" cy="4570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4308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4308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4308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sldNum" idx="12"/>
          </p:nvPr>
        </p:nvSpPr>
        <p:spPr>
          <a:xfrm>
            <a:off x="11402640" y="6416640"/>
            <a:ext cx="24300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3AE0B22-61A5-43C4-B2C3-BC08B7BC932F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2_Titelfoli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5520" cy="44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" name="PlaceHolder 1"/>
          <p:cNvSpPr>
            <a:spLocks noGrp="1"/>
          </p:cNvSpPr>
          <p:nvPr>
            <p:ph type="body"/>
          </p:nvPr>
        </p:nvSpPr>
        <p:spPr>
          <a:xfrm>
            <a:off x="6294600" y="0"/>
            <a:ext cx="5895000" cy="68554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6294600" y="0"/>
            <a:ext cx="5895000" cy="68554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title"/>
          </p:nvPr>
        </p:nvSpPr>
        <p:spPr>
          <a:xfrm>
            <a:off x="543960" y="3681360"/>
            <a:ext cx="5549400" cy="10054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85000" lnSpcReduction="9999"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body"/>
          </p:nvPr>
        </p:nvSpPr>
        <p:spPr>
          <a:xfrm>
            <a:off x="543960" y="4689360"/>
            <a:ext cx="5549400" cy="1365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5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sldNum" idx="13"/>
          </p:nvPr>
        </p:nvSpPr>
        <p:spPr>
          <a:xfrm>
            <a:off x="5892840" y="6233760"/>
            <a:ext cx="284220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A179932-8EDE-4A43-BC35-A910C69744E7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Titelfolie">
    <p:bg>
      <p:bgPr>
        <a:solidFill>
          <a:schemeClr val="accent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8;p15" descr="Grafik 8"/>
          <p:cNvPicPr/>
          <p:nvPr/>
        </p:nvPicPr>
        <p:blipFill>
          <a:blip r:embed="rId2"/>
          <a:stretch/>
        </p:blipFill>
        <p:spPr>
          <a:xfrm>
            <a:off x="10726560" y="399240"/>
            <a:ext cx="1145520" cy="44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7620120" cy="10054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85000" lnSpcReduction="9999"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543960" y="4689360"/>
            <a:ext cx="7620120" cy="1365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5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sldNum" idx="14"/>
          </p:nvPr>
        </p:nvSpPr>
        <p:spPr>
          <a:xfrm>
            <a:off x="11402640" y="6416640"/>
            <a:ext cx="24300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1BCE754-1BD6-401D-AFEA-808A8E160857}" type="slidenum"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4_Titelfoli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Google Shape;8;p15" descr="Grafik 8"/>
          <p:cNvPicPr/>
          <p:nvPr/>
        </p:nvPicPr>
        <p:blipFill>
          <a:blip r:embed="rId2"/>
          <a:stretch/>
        </p:blipFill>
        <p:spPr>
          <a:xfrm>
            <a:off x="10726560" y="399240"/>
            <a:ext cx="1145520" cy="44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5549400" cy="10054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85000" lnSpcReduction="9999"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body"/>
          </p:nvPr>
        </p:nvSpPr>
        <p:spPr>
          <a:xfrm>
            <a:off x="543960" y="4689360"/>
            <a:ext cx="5549400" cy="1365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5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 type="body"/>
          </p:nvPr>
        </p:nvSpPr>
        <p:spPr>
          <a:xfrm>
            <a:off x="6343560" y="849960"/>
            <a:ext cx="5393520" cy="5205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4"/>
          <p:cNvSpPr>
            <a:spLocks noGrp="1"/>
          </p:cNvSpPr>
          <p:nvPr>
            <p:ph type="sldNum" idx="15"/>
          </p:nvPr>
        </p:nvSpPr>
        <p:spPr>
          <a:xfrm>
            <a:off x="11402640" y="6416640"/>
            <a:ext cx="24300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55FC4EE-8EBD-49C7-80AA-CBC28A689C64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6_Titelfoli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5520" cy="44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1680" cy="573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lnSpcReduction="9999"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1" name="Google Shape;63;p26" descr="Grafik 6"/>
          <p:cNvPicPr/>
          <p:nvPr/>
        </p:nvPicPr>
        <p:blipFill>
          <a:blip r:embed="rId3"/>
          <a:stretch/>
        </p:blipFill>
        <p:spPr>
          <a:xfrm>
            <a:off x="10081440" y="399240"/>
            <a:ext cx="1790640" cy="702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" name="PlaceHolder 2"/>
          <p:cNvSpPr>
            <a:spLocks noGrp="1"/>
          </p:cNvSpPr>
          <p:nvPr>
            <p:ph type="body"/>
          </p:nvPr>
        </p:nvSpPr>
        <p:spPr>
          <a:xfrm>
            <a:off x="6406200" y="1484280"/>
            <a:ext cx="2293920" cy="229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fontScale="2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 type="body"/>
          </p:nvPr>
        </p:nvSpPr>
        <p:spPr>
          <a:xfrm>
            <a:off x="9351720" y="1484280"/>
            <a:ext cx="2293920" cy="229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fontScale="2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4"/>
          <p:cNvSpPr>
            <a:spLocks noGrp="1"/>
          </p:cNvSpPr>
          <p:nvPr>
            <p:ph type="body"/>
          </p:nvPr>
        </p:nvSpPr>
        <p:spPr>
          <a:xfrm>
            <a:off x="543960" y="1484280"/>
            <a:ext cx="5239440" cy="4570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1752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1752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1752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1752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5"/>
          <p:cNvSpPr>
            <a:spLocks noGrp="1"/>
          </p:cNvSpPr>
          <p:nvPr>
            <p:ph type="body"/>
          </p:nvPr>
        </p:nvSpPr>
        <p:spPr>
          <a:xfrm>
            <a:off x="6386040" y="3937320"/>
            <a:ext cx="2314080" cy="1073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2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4308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4308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4308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6"/>
          <p:cNvSpPr>
            <a:spLocks noGrp="1"/>
          </p:cNvSpPr>
          <p:nvPr>
            <p:ph type="body"/>
          </p:nvPr>
        </p:nvSpPr>
        <p:spPr>
          <a:xfrm>
            <a:off x="9372960" y="3937320"/>
            <a:ext cx="2314080" cy="1073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2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4308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4308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4308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7" name="Google Shape;69;p26" descr="Grafik 2"/>
          <p:cNvPicPr/>
          <p:nvPr/>
        </p:nvPicPr>
        <p:blipFill>
          <a:blip r:embed="rId4"/>
          <a:stretch/>
        </p:blipFill>
        <p:spPr>
          <a:xfrm>
            <a:off x="10726560" y="399240"/>
            <a:ext cx="1145520" cy="44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" name="PlaceHolder 7"/>
          <p:cNvSpPr>
            <a:spLocks noGrp="1"/>
          </p:cNvSpPr>
          <p:nvPr>
            <p:ph type="sldNum" idx="16"/>
          </p:nvPr>
        </p:nvSpPr>
        <p:spPr>
          <a:xfrm>
            <a:off x="11402640" y="6416640"/>
            <a:ext cx="24300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CC4018F-D381-4541-8D28-D5D9431908EB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5520" cy="44856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3" name="Google Shape;57;p25"/>
          <p:cNvGrpSpPr/>
          <p:nvPr/>
        </p:nvGrpSpPr>
        <p:grpSpPr>
          <a:xfrm>
            <a:off x="10884240" y="488880"/>
            <a:ext cx="888840" cy="212400"/>
            <a:chOff x="10884240" y="488880"/>
            <a:chExt cx="888840" cy="212400"/>
          </a:xfrm>
        </p:grpSpPr>
        <p:sp>
          <p:nvSpPr>
            <p:cNvPr id="4" name="Google Shape;58;p25"/>
            <p:cNvSpPr/>
            <p:nvPr/>
          </p:nvSpPr>
          <p:spPr>
            <a:xfrm>
              <a:off x="10884240" y="490680"/>
              <a:ext cx="674280" cy="210600"/>
            </a:xfrm>
            <a:custGeom>
              <a:avLst/>
              <a:gdLst>
                <a:gd name="textAreaLeft" fmla="*/ 0 w 674280"/>
                <a:gd name="textAreaRight" fmla="*/ 676800 w 674280"/>
                <a:gd name="textAreaTop" fmla="*/ 0 h 210600"/>
                <a:gd name="textAreaBottom" fmla="*/ 213120 h 21060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0" y="0"/>
                  </a:moveTo>
                  <a:lnTo>
                    <a:pt x="1171" y="0"/>
                  </a:lnTo>
                  <a:lnTo>
                    <a:pt x="1171" y="7880"/>
                  </a:lnTo>
                  <a:lnTo>
                    <a:pt x="1201" y="7880"/>
                  </a:lnTo>
                  <a:cubicBezTo>
                    <a:pt x="1528" y="6418"/>
                    <a:pt x="2045" y="5707"/>
                    <a:pt x="2555" y="5707"/>
                  </a:cubicBezTo>
                  <a:cubicBezTo>
                    <a:pt x="3661" y="5707"/>
                    <a:pt x="4276" y="7850"/>
                    <a:pt x="4276" y="11496"/>
                  </a:cubicBezTo>
                  <a:lnTo>
                    <a:pt x="4276" y="21285"/>
                  </a:lnTo>
                  <a:lnTo>
                    <a:pt x="3105" y="21285"/>
                  </a:lnTo>
                  <a:lnTo>
                    <a:pt x="3105" y="12430"/>
                  </a:lnTo>
                  <a:cubicBezTo>
                    <a:pt x="3105" y="10135"/>
                    <a:pt x="2788" y="8906"/>
                    <a:pt x="2192" y="8906"/>
                  </a:cubicBezTo>
                  <a:cubicBezTo>
                    <a:pt x="1548" y="8906"/>
                    <a:pt x="1175" y="10125"/>
                    <a:pt x="1175" y="12724"/>
                  </a:cubicBezTo>
                  <a:lnTo>
                    <a:pt x="1175" y="21285"/>
                  </a:lnTo>
                  <a:lnTo>
                    <a:pt x="3" y="21285"/>
                  </a:lnTo>
                  <a:lnTo>
                    <a:pt x="3" y="0"/>
                  </a:lnTo>
                  <a:close/>
                  <a:moveTo>
                    <a:pt x="5160" y="18645"/>
                  </a:moveTo>
                  <a:cubicBezTo>
                    <a:pt x="5650" y="20879"/>
                    <a:pt x="6475" y="21600"/>
                    <a:pt x="7361" y="21600"/>
                  </a:cubicBezTo>
                  <a:cubicBezTo>
                    <a:pt x="8369" y="21600"/>
                    <a:pt x="9534" y="19924"/>
                    <a:pt x="9534" y="16411"/>
                  </a:cubicBezTo>
                  <a:cubicBezTo>
                    <a:pt x="9534" y="14116"/>
                    <a:pt x="9053" y="12653"/>
                    <a:pt x="8219" y="12146"/>
                  </a:cubicBezTo>
                  <a:lnTo>
                    <a:pt x="7479" y="11699"/>
                  </a:lnTo>
                  <a:cubicBezTo>
                    <a:pt x="6969" y="11404"/>
                    <a:pt x="6547" y="11252"/>
                    <a:pt x="6547" y="10175"/>
                  </a:cubicBezTo>
                  <a:cubicBezTo>
                    <a:pt x="6547" y="9008"/>
                    <a:pt x="6884" y="8480"/>
                    <a:pt x="7345" y="8480"/>
                  </a:cubicBezTo>
                  <a:cubicBezTo>
                    <a:pt x="7806" y="8480"/>
                    <a:pt x="8153" y="8926"/>
                    <a:pt x="8441" y="9972"/>
                  </a:cubicBezTo>
                  <a:lnTo>
                    <a:pt x="9288" y="8185"/>
                  </a:lnTo>
                  <a:cubicBezTo>
                    <a:pt x="8876" y="6367"/>
                    <a:pt x="8242" y="5677"/>
                    <a:pt x="7358" y="5677"/>
                  </a:cubicBezTo>
                  <a:cubicBezTo>
                    <a:pt x="6311" y="5677"/>
                    <a:pt x="5408" y="7494"/>
                    <a:pt x="5408" y="10693"/>
                  </a:cubicBezTo>
                  <a:cubicBezTo>
                    <a:pt x="5408" y="12988"/>
                    <a:pt x="5948" y="14217"/>
                    <a:pt x="6753" y="14664"/>
                  </a:cubicBezTo>
                  <a:lnTo>
                    <a:pt x="7397" y="15020"/>
                  </a:lnTo>
                  <a:cubicBezTo>
                    <a:pt x="8062" y="15375"/>
                    <a:pt x="8320" y="15649"/>
                    <a:pt x="8320" y="16837"/>
                  </a:cubicBezTo>
                  <a:cubicBezTo>
                    <a:pt x="8320" y="18208"/>
                    <a:pt x="7829" y="18716"/>
                    <a:pt x="7348" y="18716"/>
                  </a:cubicBezTo>
                  <a:cubicBezTo>
                    <a:pt x="6792" y="18716"/>
                    <a:pt x="6301" y="17975"/>
                    <a:pt x="5994" y="16715"/>
                  </a:cubicBezTo>
                  <a:lnTo>
                    <a:pt x="5166" y="18655"/>
                  </a:lnTo>
                  <a:moveTo>
                    <a:pt x="10447" y="21275"/>
                  </a:moveTo>
                  <a:lnTo>
                    <a:pt x="11618" y="21275"/>
                  </a:lnTo>
                  <a:lnTo>
                    <a:pt x="11618" y="13456"/>
                  </a:lnTo>
                  <a:cubicBezTo>
                    <a:pt x="11618" y="10622"/>
                    <a:pt x="12282" y="9038"/>
                    <a:pt x="13165" y="9038"/>
                  </a:cubicBezTo>
                  <a:cubicBezTo>
                    <a:pt x="13329" y="9038"/>
                    <a:pt x="13453" y="9038"/>
                    <a:pt x="13607" y="9130"/>
                  </a:cubicBezTo>
                  <a:lnTo>
                    <a:pt x="13607" y="5788"/>
                  </a:lnTo>
                  <a:cubicBezTo>
                    <a:pt x="13483" y="5697"/>
                    <a:pt x="13339" y="5697"/>
                    <a:pt x="13215" y="5697"/>
                  </a:cubicBezTo>
                  <a:cubicBezTo>
                    <a:pt x="12629" y="5697"/>
                    <a:pt x="11899" y="6916"/>
                    <a:pt x="11608" y="8530"/>
                  </a:cubicBezTo>
                  <a:lnTo>
                    <a:pt x="11589" y="8530"/>
                  </a:lnTo>
                  <a:lnTo>
                    <a:pt x="11589" y="5992"/>
                  </a:lnTo>
                  <a:lnTo>
                    <a:pt x="10443" y="5992"/>
                  </a:lnTo>
                  <a:lnTo>
                    <a:pt x="10443" y="21265"/>
                  </a:lnTo>
                  <a:close/>
                  <a:moveTo>
                    <a:pt x="14405" y="21275"/>
                  </a:moveTo>
                  <a:lnTo>
                    <a:pt x="15577" y="21275"/>
                  </a:lnTo>
                  <a:lnTo>
                    <a:pt x="15577" y="12298"/>
                  </a:lnTo>
                  <a:cubicBezTo>
                    <a:pt x="15577" y="9759"/>
                    <a:pt x="16117" y="8896"/>
                    <a:pt x="16529" y="8896"/>
                  </a:cubicBezTo>
                  <a:cubicBezTo>
                    <a:pt x="17239" y="8896"/>
                    <a:pt x="17422" y="10511"/>
                    <a:pt x="17422" y="12450"/>
                  </a:cubicBezTo>
                  <a:lnTo>
                    <a:pt x="17422" y="21285"/>
                  </a:lnTo>
                  <a:lnTo>
                    <a:pt x="18593" y="21285"/>
                  </a:lnTo>
                  <a:lnTo>
                    <a:pt x="18593" y="12481"/>
                  </a:lnTo>
                  <a:cubicBezTo>
                    <a:pt x="18593" y="10480"/>
                    <a:pt x="18871" y="8896"/>
                    <a:pt x="19536" y="8896"/>
                  </a:cubicBezTo>
                  <a:cubicBezTo>
                    <a:pt x="20200" y="8896"/>
                    <a:pt x="20429" y="10328"/>
                    <a:pt x="20429" y="12389"/>
                  </a:cubicBezTo>
                  <a:lnTo>
                    <a:pt x="20429" y="21275"/>
                  </a:lnTo>
                  <a:lnTo>
                    <a:pt x="21600" y="21275"/>
                  </a:lnTo>
                  <a:lnTo>
                    <a:pt x="21600" y="11069"/>
                  </a:lnTo>
                  <a:cubicBezTo>
                    <a:pt x="21600" y="7342"/>
                    <a:pt x="20792" y="5697"/>
                    <a:pt x="19879" y="5697"/>
                  </a:cubicBezTo>
                  <a:cubicBezTo>
                    <a:pt x="19205" y="5697"/>
                    <a:pt x="18708" y="6591"/>
                    <a:pt x="18361" y="7962"/>
                  </a:cubicBezTo>
                  <a:lnTo>
                    <a:pt x="18351" y="7962"/>
                  </a:lnTo>
                  <a:cubicBezTo>
                    <a:pt x="18044" y="6499"/>
                    <a:pt x="17602" y="5697"/>
                    <a:pt x="16948" y="5697"/>
                  </a:cubicBezTo>
                  <a:cubicBezTo>
                    <a:pt x="16372" y="5697"/>
                    <a:pt x="15891" y="6438"/>
                    <a:pt x="15554" y="7850"/>
                  </a:cubicBezTo>
                  <a:lnTo>
                    <a:pt x="15534" y="7850"/>
                  </a:lnTo>
                  <a:lnTo>
                    <a:pt x="15534" y="6002"/>
                  </a:lnTo>
                  <a:lnTo>
                    <a:pt x="14399" y="6002"/>
                  </a:lnTo>
                  <a:lnTo>
                    <a:pt x="14399" y="21275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5720" tIns="45000" rIns="45720" bIns="45000" anchor="ctr">
              <a:noAutofit/>
            </a:bodyPr>
            <a:p>
              <a:endPara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" name="Google Shape;59;p25"/>
            <p:cNvSpPr/>
            <p:nvPr/>
          </p:nvSpPr>
          <p:spPr>
            <a:xfrm>
              <a:off x="11617920" y="488880"/>
              <a:ext cx="155160" cy="148320"/>
            </a:xfrm>
            <a:custGeom>
              <a:avLst/>
              <a:gdLst>
                <a:gd name="textAreaLeft" fmla="*/ 0 w 155160"/>
                <a:gd name="textAreaRight" fmla="*/ 157680 w 155160"/>
                <a:gd name="textAreaTop" fmla="*/ 0 h 148320"/>
                <a:gd name="textAreaBottom" fmla="*/ 150840 h 148320"/>
              </a:gdLst>
              <a:ahLst/>
              <a:cxnLst/>
              <a:rect l="textAreaLeft" t="textAreaTop" r="textAreaRight" b="textAreaBottom"/>
              <a:pathLst>
                <a:path w="21540" h="21587">
                  <a:moveTo>
                    <a:pt x="21456" y="11124"/>
                  </a:moveTo>
                  <a:lnTo>
                    <a:pt x="20699" y="12514"/>
                  </a:lnTo>
                  <a:cubicBezTo>
                    <a:pt x="20573" y="12729"/>
                    <a:pt x="20348" y="12858"/>
                    <a:pt x="20110" y="12858"/>
                  </a:cubicBezTo>
                  <a:lnTo>
                    <a:pt x="12793" y="12858"/>
                  </a:lnTo>
                  <a:lnTo>
                    <a:pt x="13775" y="14607"/>
                  </a:lnTo>
                  <a:cubicBezTo>
                    <a:pt x="13887" y="14822"/>
                    <a:pt x="13887" y="15080"/>
                    <a:pt x="13775" y="15280"/>
                  </a:cubicBezTo>
                  <a:lnTo>
                    <a:pt x="12990" y="16685"/>
                  </a:lnTo>
                  <a:cubicBezTo>
                    <a:pt x="12864" y="16886"/>
                    <a:pt x="12653" y="17015"/>
                    <a:pt x="12415" y="17015"/>
                  </a:cubicBezTo>
                  <a:lnTo>
                    <a:pt x="10859" y="17015"/>
                  </a:lnTo>
                  <a:cubicBezTo>
                    <a:pt x="10621" y="17043"/>
                    <a:pt x="10411" y="16900"/>
                    <a:pt x="10284" y="16699"/>
                  </a:cubicBezTo>
                  <a:lnTo>
                    <a:pt x="9275" y="14922"/>
                  </a:lnTo>
                  <a:lnTo>
                    <a:pt x="5701" y="21243"/>
                  </a:lnTo>
                  <a:cubicBezTo>
                    <a:pt x="5589" y="21458"/>
                    <a:pt x="5365" y="21587"/>
                    <a:pt x="5126" y="21587"/>
                  </a:cubicBezTo>
                  <a:lnTo>
                    <a:pt x="3570" y="21587"/>
                  </a:lnTo>
                  <a:cubicBezTo>
                    <a:pt x="3332" y="21573"/>
                    <a:pt x="3122" y="21444"/>
                    <a:pt x="3010" y="21243"/>
                  </a:cubicBezTo>
                  <a:lnTo>
                    <a:pt x="2211" y="19867"/>
                  </a:lnTo>
                  <a:cubicBezTo>
                    <a:pt x="2085" y="19652"/>
                    <a:pt x="2085" y="19394"/>
                    <a:pt x="2211" y="19179"/>
                  </a:cubicBezTo>
                  <a:lnTo>
                    <a:pt x="5785" y="12858"/>
                  </a:lnTo>
                  <a:lnTo>
                    <a:pt x="1426" y="12858"/>
                  </a:lnTo>
                  <a:cubicBezTo>
                    <a:pt x="1188" y="12858"/>
                    <a:pt x="977" y="12729"/>
                    <a:pt x="851" y="12514"/>
                  </a:cubicBezTo>
                  <a:lnTo>
                    <a:pt x="94" y="11124"/>
                  </a:lnTo>
                  <a:cubicBezTo>
                    <a:pt x="-32" y="10923"/>
                    <a:pt x="-32" y="10665"/>
                    <a:pt x="94" y="10464"/>
                  </a:cubicBezTo>
                  <a:lnTo>
                    <a:pt x="851" y="9074"/>
                  </a:lnTo>
                  <a:cubicBezTo>
                    <a:pt x="977" y="8859"/>
                    <a:pt x="1188" y="8730"/>
                    <a:pt x="1426" y="8730"/>
                  </a:cubicBezTo>
                  <a:lnTo>
                    <a:pt x="5799" y="8730"/>
                  </a:lnTo>
                  <a:lnTo>
                    <a:pt x="2225" y="2381"/>
                  </a:lnTo>
                  <a:cubicBezTo>
                    <a:pt x="2113" y="2180"/>
                    <a:pt x="2113" y="1908"/>
                    <a:pt x="2239" y="1707"/>
                  </a:cubicBezTo>
                  <a:lnTo>
                    <a:pt x="3024" y="331"/>
                  </a:lnTo>
                  <a:cubicBezTo>
                    <a:pt x="3150" y="130"/>
                    <a:pt x="3360" y="1"/>
                    <a:pt x="3584" y="1"/>
                  </a:cubicBezTo>
                  <a:lnTo>
                    <a:pt x="5154" y="1"/>
                  </a:lnTo>
                  <a:cubicBezTo>
                    <a:pt x="5393" y="-13"/>
                    <a:pt x="5617" y="116"/>
                    <a:pt x="5729" y="331"/>
                  </a:cubicBezTo>
                  <a:lnTo>
                    <a:pt x="9303" y="6666"/>
                  </a:lnTo>
                  <a:lnTo>
                    <a:pt x="10284" y="4918"/>
                  </a:lnTo>
                  <a:cubicBezTo>
                    <a:pt x="10397" y="4717"/>
                    <a:pt x="10621" y="4588"/>
                    <a:pt x="10845" y="4574"/>
                  </a:cubicBezTo>
                  <a:lnTo>
                    <a:pt x="12429" y="4574"/>
                  </a:lnTo>
                  <a:cubicBezTo>
                    <a:pt x="12667" y="4574"/>
                    <a:pt x="12878" y="4703"/>
                    <a:pt x="13004" y="4903"/>
                  </a:cubicBezTo>
                  <a:lnTo>
                    <a:pt x="13789" y="6279"/>
                  </a:lnTo>
                  <a:cubicBezTo>
                    <a:pt x="13915" y="6480"/>
                    <a:pt x="13915" y="6752"/>
                    <a:pt x="13789" y="6953"/>
                  </a:cubicBezTo>
                  <a:lnTo>
                    <a:pt x="12779" y="8730"/>
                  </a:lnTo>
                  <a:lnTo>
                    <a:pt x="20082" y="8730"/>
                  </a:lnTo>
                  <a:cubicBezTo>
                    <a:pt x="20320" y="8730"/>
                    <a:pt x="20545" y="8859"/>
                    <a:pt x="20657" y="9060"/>
                  </a:cubicBezTo>
                  <a:lnTo>
                    <a:pt x="21456" y="10450"/>
                  </a:lnTo>
                  <a:cubicBezTo>
                    <a:pt x="21568" y="10665"/>
                    <a:pt x="21568" y="10923"/>
                    <a:pt x="21456" y="11124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5720" tIns="45000" rIns="45720" bIns="45000" anchor="ctr">
              <a:noAutofit/>
            </a:bodyPr>
            <a:p>
              <a:endParaRPr lang="de-DE" sz="14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" name="PlaceHolder 1"/>
          <p:cNvSpPr>
            <a:spLocks noGrp="1"/>
          </p:cNvSpPr>
          <p:nvPr>
            <p:ph type="sldNum" idx="1"/>
          </p:nvPr>
        </p:nvSpPr>
        <p:spPr>
          <a:xfrm>
            <a:off x="11402640" y="6416640"/>
            <a:ext cx="243000" cy="2433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684CA20-A189-4407-92B2-F946EAC9FE79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  <p:sldLayoutId id="2147483662" r:id="rId13"/>
    <p:sldLayoutId id="2147483663" r:id="rId14"/>
    <p:sldLayoutId id="2147483664" r:id="rId15"/>
    <p:sldLayoutId id="2147483665" r:id="rId16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9.png"/><Relationship Id="rId4" Type="http://schemas.openxmlformats.org/officeDocument/2006/relationships/image" Target="../media/image12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4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svg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5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svg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5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7.svg"/><Relationship Id="rId3" Type="http://schemas.openxmlformats.org/officeDocument/2006/relationships/slideLayout" Target="../slideLayouts/slideLayout14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9.svg"/><Relationship Id="rId3" Type="http://schemas.openxmlformats.org/officeDocument/2006/relationships/image" Target="../media/image20.png"/><Relationship Id="rId4" Type="http://schemas.openxmlformats.org/officeDocument/2006/relationships/slideLayout" Target="../slideLayouts/slideLayout5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9.svg"/><Relationship Id="rId3" Type="http://schemas.openxmlformats.org/officeDocument/2006/relationships/image" Target="../media/image14.png"/><Relationship Id="rId4" Type="http://schemas.openxmlformats.org/officeDocument/2006/relationships/image" Target="../media/image15.svg"/><Relationship Id="rId5" Type="http://schemas.openxmlformats.org/officeDocument/2006/relationships/image" Target="../media/image5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6.png"/><Relationship Id="rId9" Type="http://schemas.openxmlformats.org/officeDocument/2006/relationships/slideLayout" Target="../slideLayouts/slideLayout5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9.svg"/><Relationship Id="rId3" Type="http://schemas.openxmlformats.org/officeDocument/2006/relationships/image" Target="../media/image14.png"/><Relationship Id="rId4" Type="http://schemas.openxmlformats.org/officeDocument/2006/relationships/image" Target="../media/image15.svg"/><Relationship Id="rId5" Type="http://schemas.openxmlformats.org/officeDocument/2006/relationships/image" Target="../media/image5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6.png"/><Relationship Id="rId9" Type="http://schemas.openxmlformats.org/officeDocument/2006/relationships/slideLayout" Target="../slideLayouts/slideLayout5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9.svg"/><Relationship Id="rId3" Type="http://schemas.openxmlformats.org/officeDocument/2006/relationships/image" Target="../media/image14.png"/><Relationship Id="rId4" Type="http://schemas.openxmlformats.org/officeDocument/2006/relationships/image" Target="../media/image15.svg"/><Relationship Id="rId5" Type="http://schemas.openxmlformats.org/officeDocument/2006/relationships/image" Target="../media/image5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6.png"/><Relationship Id="rId9" Type="http://schemas.openxmlformats.org/officeDocument/2006/relationships/slideLayout" Target="../slideLayouts/slideLayout5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9.svg"/><Relationship Id="rId3" Type="http://schemas.openxmlformats.org/officeDocument/2006/relationships/image" Target="../media/image20.png"/><Relationship Id="rId4" Type="http://schemas.openxmlformats.org/officeDocument/2006/relationships/slideLayout" Target="../slideLayouts/slideLayout5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svg"/><Relationship Id="rId3" Type="http://schemas.openxmlformats.org/officeDocument/2006/relationships/slideLayout" Target="../slideLayouts/slideLayout1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9.svg"/><Relationship Id="rId3" Type="http://schemas.openxmlformats.org/officeDocument/2006/relationships/image" Target="../media/image20.png"/><Relationship Id="rId4" Type="http://schemas.openxmlformats.org/officeDocument/2006/relationships/image" Target="../media/image23.png"/><Relationship Id="rId5" Type="http://schemas.openxmlformats.org/officeDocument/2006/relationships/image" Target="../media/image24.svg"/><Relationship Id="rId6" Type="http://schemas.openxmlformats.org/officeDocument/2006/relationships/slideLayout" Target="../slideLayouts/slideLayout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4.svg"/><Relationship Id="rId3" Type="http://schemas.openxmlformats.org/officeDocument/2006/relationships/image" Target="../media/image14.png"/><Relationship Id="rId4" Type="http://schemas.openxmlformats.org/officeDocument/2006/relationships/image" Target="../media/image15.sv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slideLayout" Target="../slideLayouts/slideLayout5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9.svg"/><Relationship Id="rId3" Type="http://schemas.openxmlformats.org/officeDocument/2006/relationships/image" Target="../media/image14.png"/><Relationship Id="rId4" Type="http://schemas.openxmlformats.org/officeDocument/2006/relationships/image" Target="../media/image15.sv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slideLayout" Target="../slideLayouts/slideLayout5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9.svg"/><Relationship Id="rId3" Type="http://schemas.openxmlformats.org/officeDocument/2006/relationships/image" Target="../media/image14.png"/><Relationship Id="rId4" Type="http://schemas.openxmlformats.org/officeDocument/2006/relationships/image" Target="../media/image15.sv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slideLayout" Target="../slideLayouts/slideLayout5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9.svg"/><Relationship Id="rId3" Type="http://schemas.openxmlformats.org/officeDocument/2006/relationships/image" Target="../media/image14.png"/><Relationship Id="rId4" Type="http://schemas.openxmlformats.org/officeDocument/2006/relationships/image" Target="../media/image15.sv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6.png"/><Relationship Id="rId8" Type="http://schemas.openxmlformats.org/officeDocument/2006/relationships/image" Target="../media/image5.png"/><Relationship Id="rId9" Type="http://schemas.openxmlformats.org/officeDocument/2006/relationships/slideLayout" Target="../slideLayouts/slideLayout5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4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5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5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5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4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42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6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4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6.png"/><Relationship Id="rId3" Type="http://schemas.openxmlformats.org/officeDocument/2006/relationships/image" Target="../media/image28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4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6.png"/><Relationship Id="rId3" Type="http://schemas.openxmlformats.org/officeDocument/2006/relationships/image" Target="../media/image28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46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4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48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4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4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5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7.svg"/><Relationship Id="rId3" Type="http://schemas.openxmlformats.org/officeDocument/2006/relationships/slideLayout" Target="../slideLayouts/slideLayout14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9.svg"/><Relationship Id="rId3" Type="http://schemas.openxmlformats.org/officeDocument/2006/relationships/image" Target="../media/image14.png"/><Relationship Id="rId4" Type="http://schemas.openxmlformats.org/officeDocument/2006/relationships/image" Target="../media/image15.svg"/><Relationship Id="rId5" Type="http://schemas.openxmlformats.org/officeDocument/2006/relationships/image" Target="../media/image5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6.png"/><Relationship Id="rId9" Type="http://schemas.openxmlformats.org/officeDocument/2006/relationships/slideLayout" Target="../slideLayouts/slideLayout5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slideLayout" Target="../slideLayouts/slideLayout5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slideLayout" Target="../slideLayouts/slideLayout5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63.xml.rels><?xml version="1.0" encoding="UTF-8"?>
<Relationships xmlns="http://schemas.openxmlformats.org/package/2006/relationships"><Relationship Id="rId1" Type="http://schemas.openxmlformats.org/officeDocument/2006/relationships/image" Target="../media/image32.png"/><Relationship Id="rId2" Type="http://schemas.openxmlformats.org/officeDocument/2006/relationships/slideLayout" Target="../slideLayouts/slideLayout5.xml"/>
</Relationships>
</file>

<file path=ppt/slides/_rels/slide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65.xml.rels><?xml version="1.0" encoding="UTF-8"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slideLayout" Target="../slideLayouts/slideLayout5.xml"/>
</Relationships>
</file>

<file path=ppt/slides/_rels/slide66.xml.rels><?xml version="1.0" encoding="UTF-8"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slideLayout" Target="../slideLayouts/slideLayout5.xml"/>
</Relationships>
</file>

<file path=ppt/slides/_rels/slide67.xml.rels><?xml version="1.0" encoding="UTF-8"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slideLayout" Target="../slideLayouts/slideLayout5.xml"/>
</Relationships>
</file>

<file path=ppt/slides/_rels/slide68.xml.rels><?xml version="1.0" encoding="UTF-8"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slideLayout" Target="../slideLayouts/slideLayout5.xml"/>
</Relationships>
</file>

<file path=ppt/slides/_rels/slide69.xml.rels><?xml version="1.0" encoding="UTF-8"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slideLayout" Target="../slideLayouts/slideLayout5.xml"/>
</Relationships>
</file>

<file path=ppt/slides/_rels/slide70.xml.rels><?xml version="1.0" encoding="UTF-8"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image" Target="../media/image36.svg"/><Relationship Id="rId3" Type="http://schemas.openxmlformats.org/officeDocument/2006/relationships/slideLayout" Target="../slideLayouts/slideLayout14.xml"/>
</Relationships>
</file>

<file path=ppt/slides/_rels/slide71.xml.rels><?xml version="1.0" encoding="UTF-8"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image" Target="../media/image36.svg"/><Relationship Id="rId3" Type="http://schemas.openxmlformats.org/officeDocument/2006/relationships/slideLayout" Target="../slideLayouts/slideLayout5.xml"/>
</Relationships>
</file>

<file path=ppt/slides/_rels/slide72.xml.rels><?xml version="1.0" encoding="UTF-8"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image" Target="../media/image36.svg"/><Relationship Id="rId3" Type="http://schemas.openxmlformats.org/officeDocument/2006/relationships/slideLayout" Target="../slideLayouts/slideLayout5.xml"/>
</Relationships>
</file>

<file path=ppt/slides/_rels/slide73.xml.rels><?xml version="1.0" encoding="UTF-8"?>
<Relationships xmlns="http://schemas.openxmlformats.org/package/2006/relationships"><Relationship Id="rId1" Type="http://schemas.openxmlformats.org/officeDocument/2006/relationships/image" Target="../media/image37.png"/><Relationship Id="rId2" Type="http://schemas.openxmlformats.org/officeDocument/2006/relationships/slideLayout" Target="../slideLayouts/slideLayout5.xml"/>
</Relationships>
</file>

<file path=ppt/slides/_rels/slide7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7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5.xml"/>
</Relationships>
</file>

<file path=ppt/slides/_rels/slide76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76.xml"/>
</Relationships>
</file>

<file path=ppt/slides/_rels/slide7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5549400" cy="10054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lnSpcReduction="9999"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34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Reliable Software – </a:t>
            </a:r>
            <a:br>
              <a:rPr sz="3340"/>
            </a:br>
            <a:r>
              <a:rPr lang="en-US" sz="334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Smart Home System</a:t>
            </a:r>
            <a:endParaRPr lang="de-DE" sz="3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 type="subTitle"/>
          </p:nvPr>
        </p:nvSpPr>
        <p:spPr>
          <a:xfrm>
            <a:off x="543960" y="4689360"/>
            <a:ext cx="5549400" cy="1365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marL="228600"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FF0000"/>
                </a:solidFill>
                <a:effectLst/>
                <a:uFillTx/>
                <a:latin typeface="Arial"/>
                <a:ea typeface="Arial"/>
              </a:rPr>
              <a:t>Verena Kipp, Anna-Livia Martin, David Rossel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Google Shape;80;p1"/>
          <p:cNvSpPr/>
          <p:nvPr/>
        </p:nvSpPr>
        <p:spPr>
          <a:xfrm>
            <a:off x="589680" y="6417360"/>
            <a:ext cx="746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8" name="Google Shape;81;p1" descr="Grafik 7"/>
          <p:cNvPicPr/>
          <p:nvPr/>
        </p:nvPicPr>
        <p:blipFill>
          <a:blip r:embed="rId1"/>
          <a:stretch/>
        </p:blipFill>
        <p:spPr>
          <a:xfrm>
            <a:off x="10726560" y="399240"/>
            <a:ext cx="1145520" cy="448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9" name="Grafik 14"/>
          <p:cNvPicPr/>
          <p:nvPr/>
        </p:nvPicPr>
        <p:blipFill>
          <a:blip r:embed="rId2"/>
          <a:stretch/>
        </p:blipFill>
        <p:spPr>
          <a:xfrm>
            <a:off x="5760000" y="3471120"/>
            <a:ext cx="3706920" cy="4478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0" name="Grafik 16"/>
          <p:cNvPicPr/>
          <p:nvPr/>
        </p:nvPicPr>
        <p:blipFill>
          <a:blip r:embed="rId3"/>
          <a:stretch/>
        </p:blipFill>
        <p:spPr>
          <a:xfrm>
            <a:off x="8508240" y="2700000"/>
            <a:ext cx="3804120" cy="5446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86;p2"/>
          <p:cNvSpPr/>
          <p:nvPr/>
        </p:nvSpPr>
        <p:spPr>
          <a:xfrm>
            <a:off x="1569600" y="6417360"/>
            <a:ext cx="43549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1680" cy="573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Motivation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/>
          </p:nvPr>
        </p:nvSpPr>
        <p:spPr>
          <a:xfrm>
            <a:off x="1080000" y="1980000"/>
            <a:ext cx="4315320" cy="495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marL="228600"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Wo befindet sich eine Person?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Google Shape;89;p2"/>
          <p:cNvSpPr/>
          <p:nvPr/>
        </p:nvSpPr>
        <p:spPr>
          <a:xfrm>
            <a:off x="589680" y="6417360"/>
            <a:ext cx="746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3"/>
          <p:cNvSpPr>
            <a:spLocks noGrp="1"/>
          </p:cNvSpPr>
          <p:nvPr>
            <p:ph type="sldNum" idx="20"/>
          </p:nvPr>
        </p:nvSpPr>
        <p:spPr>
          <a:xfrm>
            <a:off x="11473200" y="6414480"/>
            <a:ext cx="172080" cy="2466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BBDC104-499B-44BC-9274-4BCEBF4819E5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" name="PlaceHolder 4"/>
          <p:cNvSpPr/>
          <p:nvPr/>
        </p:nvSpPr>
        <p:spPr>
          <a:xfrm>
            <a:off x="1440000" y="3104280"/>
            <a:ext cx="485928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normAutofit/>
          </a:bodyPr>
          <a:p>
            <a:pPr defTabSz="914400">
              <a:lnSpc>
                <a:spcPct val="90000"/>
              </a:lnSpc>
              <a:spcBef>
                <a:spcPts val="1417"/>
              </a:spcBef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Ist eine Tür geöffnet oder geschlossen?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PlaceHolder 5"/>
          <p:cNvSpPr/>
          <p:nvPr/>
        </p:nvSpPr>
        <p:spPr>
          <a:xfrm>
            <a:off x="5763960" y="2520000"/>
            <a:ext cx="43153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normAutofit/>
          </a:bodyPr>
          <a:p>
            <a:pPr defTabSz="914400">
              <a:lnSpc>
                <a:spcPct val="90000"/>
              </a:lnSpc>
              <a:spcBef>
                <a:spcPts val="1417"/>
              </a:spcBef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Welche Räume und Türen gibt es?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7"/>
          <p:cNvSpPr/>
          <p:nvPr/>
        </p:nvSpPr>
        <p:spPr>
          <a:xfrm>
            <a:off x="5400000" y="3868560"/>
            <a:ext cx="503928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normAutofit fontScale="92500" lnSpcReduction="9999"/>
          </a:bodyPr>
          <a:p>
            <a:pPr defTabSz="914400">
              <a:lnSpc>
                <a:spcPct val="90000"/>
              </a:lnSpc>
              <a:spcBef>
                <a:spcPts val="1417"/>
              </a:spcBef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Welche Räume sind miteinander verbunden?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PlaceHolder 9"/>
          <p:cNvSpPr/>
          <p:nvPr/>
        </p:nvSpPr>
        <p:spPr>
          <a:xfrm>
            <a:off x="540000" y="4860000"/>
            <a:ext cx="43153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normAutofit/>
          </a:bodyPr>
          <a:p>
            <a:pPr defTabSz="914400">
              <a:lnSpc>
                <a:spcPct val="90000"/>
              </a:lnSpc>
              <a:spcBef>
                <a:spcPts val="1417"/>
              </a:spcBef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Darf eine Person die Tür öffnen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PlaceHolder 10"/>
          <p:cNvSpPr/>
          <p:nvPr/>
        </p:nvSpPr>
        <p:spPr>
          <a:xfrm>
            <a:off x="5220000" y="4904280"/>
            <a:ext cx="503928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normAutofit/>
          </a:bodyPr>
          <a:p>
            <a:pPr defTabSz="914400">
              <a:lnSpc>
                <a:spcPct val="90000"/>
              </a:lnSpc>
              <a:spcBef>
                <a:spcPts val="1417"/>
              </a:spcBef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Was passiert während des Durchgangs?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86;p 8"/>
          <p:cNvSpPr/>
          <p:nvPr/>
        </p:nvSpPr>
        <p:spPr>
          <a:xfrm>
            <a:off x="1569600" y="6417360"/>
            <a:ext cx="43549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1680" cy="573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Motivation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1623960" y="1844280"/>
            <a:ext cx="4315320" cy="495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marL="228600"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Wo befindet sich eine Person?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Google Shape;89;p 8"/>
          <p:cNvSpPr/>
          <p:nvPr/>
        </p:nvSpPr>
        <p:spPr>
          <a:xfrm>
            <a:off x="589680" y="6417360"/>
            <a:ext cx="746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PlaceHolder 3"/>
          <p:cNvSpPr>
            <a:spLocks noGrp="1"/>
          </p:cNvSpPr>
          <p:nvPr>
            <p:ph type="sldNum" idx="21"/>
          </p:nvPr>
        </p:nvSpPr>
        <p:spPr>
          <a:xfrm>
            <a:off x="11473200" y="6414480"/>
            <a:ext cx="172080" cy="2466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18EC2FD-8C9C-48E2-9C97-12B4A60F2012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3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" name="PlaceHolder 20"/>
          <p:cNvSpPr/>
          <p:nvPr/>
        </p:nvSpPr>
        <p:spPr>
          <a:xfrm>
            <a:off x="1080000" y="2852280"/>
            <a:ext cx="485928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normAutofit/>
          </a:bodyPr>
          <a:p>
            <a:pPr defTabSz="914400">
              <a:lnSpc>
                <a:spcPct val="90000"/>
              </a:lnSpc>
              <a:spcBef>
                <a:spcPts val="1417"/>
              </a:spcBef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Ist eine Tür geöffnet oder geschlossen?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PlaceHolder 21"/>
          <p:cNvSpPr/>
          <p:nvPr/>
        </p:nvSpPr>
        <p:spPr>
          <a:xfrm>
            <a:off x="6123960" y="2340000"/>
            <a:ext cx="43153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normAutofit/>
          </a:bodyPr>
          <a:p>
            <a:pPr defTabSz="914400">
              <a:lnSpc>
                <a:spcPct val="90000"/>
              </a:lnSpc>
              <a:spcBef>
                <a:spcPts val="1417"/>
              </a:spcBef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Welche Räume und Türen gibt es?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PlaceHolder 22"/>
          <p:cNvSpPr/>
          <p:nvPr/>
        </p:nvSpPr>
        <p:spPr>
          <a:xfrm>
            <a:off x="5400000" y="4068000"/>
            <a:ext cx="503928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normAutofit fontScale="92500" lnSpcReduction="9999"/>
          </a:bodyPr>
          <a:p>
            <a:pPr defTabSz="914400">
              <a:lnSpc>
                <a:spcPct val="90000"/>
              </a:lnSpc>
              <a:spcBef>
                <a:spcPts val="1417"/>
              </a:spcBef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Welche Räume sind miteinander verbunden?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PlaceHolder 23"/>
          <p:cNvSpPr/>
          <p:nvPr/>
        </p:nvSpPr>
        <p:spPr>
          <a:xfrm>
            <a:off x="540000" y="4860000"/>
            <a:ext cx="43153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normAutofit/>
          </a:bodyPr>
          <a:p>
            <a:pPr defTabSz="914400">
              <a:lnSpc>
                <a:spcPct val="90000"/>
              </a:lnSpc>
              <a:spcBef>
                <a:spcPts val="1417"/>
              </a:spcBef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Darf eine Person die Tür öffnen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PlaceHolder 24"/>
          <p:cNvSpPr/>
          <p:nvPr/>
        </p:nvSpPr>
        <p:spPr>
          <a:xfrm>
            <a:off x="5220000" y="4904280"/>
            <a:ext cx="503928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normAutofit/>
          </a:bodyPr>
          <a:p>
            <a:pPr defTabSz="914400">
              <a:lnSpc>
                <a:spcPct val="90000"/>
              </a:lnSpc>
              <a:spcBef>
                <a:spcPts val="1417"/>
              </a:spcBef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Was passiert während des Durchgangs?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PlaceHolder 14"/>
          <p:cNvSpPr/>
          <p:nvPr/>
        </p:nvSpPr>
        <p:spPr>
          <a:xfrm>
            <a:off x="1512000" y="3348000"/>
            <a:ext cx="9539280" cy="71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normAutofit/>
          </a:bodyPr>
          <a:p>
            <a:pPr defTabSz="914400">
              <a:lnSpc>
                <a:spcPct val="90000"/>
              </a:lnSpc>
              <a:spcBef>
                <a:spcPts val="1417"/>
              </a:spcBef>
            </a:pPr>
            <a:r>
              <a:rPr lang="en-US" sz="4000" b="1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Wie Zugangssicherheit beweisen?</a:t>
            </a:r>
            <a:endParaRPr lang="de-DE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95;p 2"/>
          <p:cNvSpPr/>
          <p:nvPr/>
        </p:nvSpPr>
        <p:spPr>
          <a:xfrm>
            <a:off x="1569600" y="6417360"/>
            <a:ext cx="43549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8993880" cy="10054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Grundlegende räumliche Struktur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0120" cy="1365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Übersicht Gebäudestruktur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Google Shape;98;p 3"/>
          <p:cNvSpPr/>
          <p:nvPr/>
        </p:nvSpPr>
        <p:spPr>
          <a:xfrm>
            <a:off x="589680" y="6417360"/>
            <a:ext cx="746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 type="sldNum" idx="22"/>
          </p:nvPr>
        </p:nvSpPr>
        <p:spPr>
          <a:xfrm>
            <a:off x="11473200" y="6414480"/>
            <a:ext cx="172080" cy="2466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4B89879-6CA3-4DAC-84DB-3953082BC603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</a:t>
            </a:fld>
            <a:endParaRPr lang="de-D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86;p2"/>
          <p:cNvSpPr/>
          <p:nvPr/>
        </p:nvSpPr>
        <p:spPr>
          <a:xfrm>
            <a:off x="1569600" y="6417360"/>
            <a:ext cx="43549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1680" cy="573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Gebäudestruktur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Google Shape;89;p2"/>
          <p:cNvSpPr/>
          <p:nvPr/>
        </p:nvSpPr>
        <p:spPr>
          <a:xfrm>
            <a:off x="589680" y="6417360"/>
            <a:ext cx="746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PlaceHolder 2"/>
          <p:cNvSpPr>
            <a:spLocks noGrp="1"/>
          </p:cNvSpPr>
          <p:nvPr>
            <p:ph type="sldNum" idx="23"/>
          </p:nvPr>
        </p:nvSpPr>
        <p:spPr>
          <a:xfrm>
            <a:off x="11473200" y="6414480"/>
            <a:ext cx="172080" cy="2466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5165200-76D3-4779-96E6-7A8C0E189DAB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21" name="Grafik 112"/>
          <p:cNvPicPr/>
          <p:nvPr/>
        </p:nvPicPr>
        <p:blipFill>
          <a:blip r:embed="rId1"/>
          <a:stretch/>
        </p:blipFill>
        <p:spPr>
          <a:xfrm>
            <a:off x="5580000" y="360000"/>
            <a:ext cx="4679280" cy="6095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2" name="PlaceHolder 15"/>
          <p:cNvSpPr/>
          <p:nvPr/>
        </p:nvSpPr>
        <p:spPr>
          <a:xfrm>
            <a:off x="543960" y="1484640"/>
            <a:ext cx="4679280" cy="457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Jede Person an einem Ort gleichzeitig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Tür verbindet zwei Räume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Tür kann geöffnet/geschlossen sein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Person darf nur bei geöffneter Tür passieren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Keine Teleportation ermöglichen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86;p2"/>
          <p:cNvSpPr/>
          <p:nvPr/>
        </p:nvSpPr>
        <p:spPr>
          <a:xfrm>
            <a:off x="1569600" y="6417360"/>
            <a:ext cx="43549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1680" cy="573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Weitere Grundgesetze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11101680" cy="4570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Alle Räume sind von allen Räumen aus erreichbar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Um das Gebäude herum existiert ein Außenbereich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Der Außenbereich kann nur durch eine Eingangstür betreten werden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Jeder Nachbarraum eines Raums ist wiederum Nachbar des Nachbarraums (Symmetrie)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Google Shape;89;p2"/>
          <p:cNvSpPr/>
          <p:nvPr/>
        </p:nvSpPr>
        <p:spPr>
          <a:xfrm>
            <a:off x="589680" y="6417360"/>
            <a:ext cx="746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PlaceHolder 3"/>
          <p:cNvSpPr>
            <a:spLocks noGrp="1"/>
          </p:cNvSpPr>
          <p:nvPr>
            <p:ph type="sldNum" idx="24"/>
          </p:nvPr>
        </p:nvSpPr>
        <p:spPr>
          <a:xfrm>
            <a:off x="11473200" y="6414480"/>
            <a:ext cx="172080" cy="2466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F2F43E1-90B8-4B9D-81D1-D1091C0A2E20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6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95;p 2"/>
          <p:cNvSpPr/>
          <p:nvPr/>
        </p:nvSpPr>
        <p:spPr>
          <a:xfrm>
            <a:off x="1569600" y="6417360"/>
            <a:ext cx="43549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8993880" cy="10054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Umsetzung in Alloy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0120" cy="1365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Event B: Aufbau und schrittweise Verfeinerung des Modells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Google Shape;98;p 3"/>
          <p:cNvSpPr/>
          <p:nvPr/>
        </p:nvSpPr>
        <p:spPr>
          <a:xfrm>
            <a:off x="589680" y="6417360"/>
            <a:ext cx="746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PlaceHolder 3"/>
          <p:cNvSpPr>
            <a:spLocks noGrp="1"/>
          </p:cNvSpPr>
          <p:nvPr>
            <p:ph type="sldNum" idx="25"/>
          </p:nvPr>
        </p:nvSpPr>
        <p:spPr>
          <a:xfrm>
            <a:off x="11473200" y="6414480"/>
            <a:ext cx="172080" cy="2466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9BB8FB3-DAC5-4EE0-96E5-FC885E735CE9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7</a:t>
            </a:fld>
            <a:endParaRPr lang="de-D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86;p 1"/>
          <p:cNvSpPr/>
          <p:nvPr/>
        </p:nvSpPr>
        <p:spPr>
          <a:xfrm>
            <a:off x="1569600" y="6417360"/>
            <a:ext cx="43549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1680" cy="573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Übersicht der Objekte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Google Shape;89;p 2"/>
          <p:cNvSpPr/>
          <p:nvPr/>
        </p:nvSpPr>
        <p:spPr>
          <a:xfrm>
            <a:off x="589680" y="6417360"/>
            <a:ext cx="746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PlaceHolder 2"/>
          <p:cNvSpPr>
            <a:spLocks noGrp="1"/>
          </p:cNvSpPr>
          <p:nvPr>
            <p:ph type="sldNum" idx="26"/>
          </p:nvPr>
        </p:nvSpPr>
        <p:spPr>
          <a:xfrm>
            <a:off x="11473200" y="6414480"/>
            <a:ext cx="172080" cy="2466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7C8F4CA-F252-415A-AFF5-6BA775D6F6BA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8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37" name="Grafik 2"/>
          <p:cNvPicPr/>
          <p:nvPr/>
        </p:nvPicPr>
        <p:blipFill>
          <a:blip r:embed="rId1"/>
          <a:stretch/>
        </p:blipFill>
        <p:spPr>
          <a:xfrm>
            <a:off x="2303640" y="1268280"/>
            <a:ext cx="7582320" cy="45698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86;p 1"/>
          <p:cNvSpPr/>
          <p:nvPr/>
        </p:nvSpPr>
        <p:spPr>
          <a:xfrm>
            <a:off x="1569600" y="6417360"/>
            <a:ext cx="43549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1680" cy="573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Übersicht der Axiome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Google Shape;89;p 2"/>
          <p:cNvSpPr/>
          <p:nvPr/>
        </p:nvSpPr>
        <p:spPr>
          <a:xfrm>
            <a:off x="589680" y="6417360"/>
            <a:ext cx="746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PlaceHolder 2"/>
          <p:cNvSpPr>
            <a:spLocks noGrp="1"/>
          </p:cNvSpPr>
          <p:nvPr>
            <p:ph type="sldNum" idx="27"/>
          </p:nvPr>
        </p:nvSpPr>
        <p:spPr>
          <a:xfrm>
            <a:off x="11473200" y="6414480"/>
            <a:ext cx="246240" cy="2466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9B70436-0C92-4BBD-B552-31EF09DF2272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9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42" name="Grafik 10"/>
          <p:cNvPicPr/>
          <p:nvPr/>
        </p:nvPicPr>
        <p:blipFill>
          <a:blip r:embed="rId1"/>
          <a:stretch/>
        </p:blipFill>
        <p:spPr>
          <a:xfrm>
            <a:off x="6490800" y="1574280"/>
            <a:ext cx="4980240" cy="1950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3" name="Textfeld 11"/>
          <p:cNvSpPr/>
          <p:nvPr/>
        </p:nvSpPr>
        <p:spPr>
          <a:xfrm>
            <a:off x="543960" y="1873080"/>
            <a:ext cx="6820560" cy="330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fact genauEinenGarten { #GARTEN = 1}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fact alleRaumeInEinemGebaeude {all r: RAUM | r in GARTEN.^nachbarn}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fact einePersonInGenauEinemOrt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always (all p: PERSON | #(p.~personenImOrtGrob) = 1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and #(p.~personenImOrtFein) = 1)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fact tuerImmerOffenWennPersonEnthalten{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always all t: TUER |  #(t.personenImOrtFein) &gt;= 1 implies t.offen = True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fact alleNachbarnSindSymmetrisch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r: RAUM, t: TUER | r in t.nachbarn &lt;=&gt; t in r.nachbarn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t:TUER, r: RAUM | t in r.nachbarn &lt;=&gt; r in t.nachbarn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fact tuerVerbindetZweiRaeume {all t: TUER | #t.nachbarn = 2}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86;p 1"/>
          <p:cNvSpPr/>
          <p:nvPr/>
        </p:nvSpPr>
        <p:spPr>
          <a:xfrm>
            <a:off x="1569600" y="6417360"/>
            <a:ext cx="4356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760" cy="574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Abdeckung mit Testfällen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Google Shape;89;p 2"/>
          <p:cNvSpPr/>
          <p:nvPr/>
        </p:nvSpPr>
        <p:spPr>
          <a:xfrm>
            <a:off x="589680" y="6417360"/>
            <a:ext cx="74736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 type="sldNum" idx="28"/>
          </p:nvPr>
        </p:nvSpPr>
        <p:spPr>
          <a:xfrm>
            <a:off x="11473200" y="6415560"/>
            <a:ext cx="246240" cy="2455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9AA9D63-C477-4C4F-B839-297D730FDA58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10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48" name="Grafik 10"/>
          <p:cNvPicPr/>
          <p:nvPr/>
        </p:nvPicPr>
        <p:blipFill>
          <a:blip r:embed="rId1"/>
          <a:stretch/>
        </p:blipFill>
        <p:spPr>
          <a:xfrm>
            <a:off x="5926320" y="3552480"/>
            <a:ext cx="5720040" cy="2241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9" name="Textfeld 11"/>
          <p:cNvSpPr/>
          <p:nvPr/>
        </p:nvSpPr>
        <p:spPr>
          <a:xfrm>
            <a:off x="543960" y="1426680"/>
            <a:ext cx="7705080" cy="48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assert keineTeleportation_GROB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always all p: PERSON, von, nach: ORT |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(p in von.personenImOrtGrob and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 in nach.personenImOrtGrob' implies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(nach in von.nachbarn.nachbarn)) or (p in von.personenImOrtGrob and p in von.personenImOrtGrob')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assert keineTeleportation_FEIN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always all p: PERSON, von, nach: ORT |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(p in von.personenImOrtFein and p in nach.personenImOrtFein' implies (nach in von.nachbarn)) or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(p in von.personenImOrtFein and p in von.personenImOrtFein')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assert personIstNieInTuer_GROB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always all p: PERSON, t: TUER |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(p not in t.personenImOrtGrob)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assert personenImGrobmodellNurInRaeumen{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always all t: TUER | no t.personenImOrtGrob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assert verfeinerungKorrekt {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always all p: PERSON, r1, r2: RAUM |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(p in r1.personenImOrtFein and p in r2.personenImOrtFein')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implies (p in r1.personenImOrtGrob' and p in r2.personenImOrtGrob‘)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86;p 1"/>
          <p:cNvSpPr/>
          <p:nvPr/>
        </p:nvSpPr>
        <p:spPr>
          <a:xfrm>
            <a:off x="1569600" y="6417360"/>
            <a:ext cx="43549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1680" cy="573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Übersicht der Objekte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Google Shape;89;p 2"/>
          <p:cNvSpPr/>
          <p:nvPr/>
        </p:nvSpPr>
        <p:spPr>
          <a:xfrm>
            <a:off x="589680" y="6417360"/>
            <a:ext cx="746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 type="sldNum" idx="29"/>
          </p:nvPr>
        </p:nvSpPr>
        <p:spPr>
          <a:xfrm>
            <a:off x="11473200" y="6414480"/>
            <a:ext cx="172080" cy="2466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0AAC12A-4D46-4F3D-8EAF-8700A0AD68CA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11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54" name="Grafik 2"/>
          <p:cNvPicPr/>
          <p:nvPr/>
        </p:nvPicPr>
        <p:blipFill>
          <a:blip r:embed="rId1"/>
          <a:stretch/>
        </p:blipFill>
        <p:spPr>
          <a:xfrm>
            <a:off x="2483640" y="2086560"/>
            <a:ext cx="5132520" cy="2007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5" name="Grafik 4"/>
          <p:cNvPicPr/>
          <p:nvPr/>
        </p:nvPicPr>
        <p:blipFill>
          <a:blip r:embed="rId2"/>
          <a:stretch/>
        </p:blipFill>
        <p:spPr>
          <a:xfrm>
            <a:off x="637560" y="4434120"/>
            <a:ext cx="5456520" cy="1874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6" name="Grafik 6"/>
          <p:cNvPicPr/>
          <p:nvPr/>
        </p:nvPicPr>
        <p:blipFill>
          <a:blip r:embed="rId3"/>
          <a:stretch/>
        </p:blipFill>
        <p:spPr>
          <a:xfrm>
            <a:off x="6004080" y="2423880"/>
            <a:ext cx="4980240" cy="1950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7" name="Grafik 3"/>
          <p:cNvPicPr/>
          <p:nvPr/>
        </p:nvPicPr>
        <p:blipFill>
          <a:blip r:embed="rId4"/>
          <a:stretch/>
        </p:blipFill>
        <p:spPr>
          <a:xfrm>
            <a:off x="416160" y="1748880"/>
            <a:ext cx="5065920" cy="1979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laceHolder 1"/>
          <p:cNvSpPr>
            <a:spLocks noGrp="1"/>
          </p:cNvSpPr>
          <p:nvPr>
            <p:ph/>
          </p:nvPr>
        </p:nvSpPr>
        <p:spPr>
          <a:xfrm>
            <a:off x="696240" y="4841280"/>
            <a:ext cx="7620120" cy="8787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Grundlagen für die weiteren Schritte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itel 1"/>
          <p:cNvSpPr/>
          <p:nvPr/>
        </p:nvSpPr>
        <p:spPr>
          <a:xfrm>
            <a:off x="696240" y="3833640"/>
            <a:ext cx="76201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b">
            <a:normAutofit fontScale="92500" lnSpcReduction="9999"/>
          </a:bodyPr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Ereignisse des Grobes Modells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0" name="Grafik 151"/>
          <p:cNvPicPr/>
          <p:nvPr/>
        </p:nvPicPr>
        <p:blipFill>
          <a:blip r:embed="rId1"/>
          <a:stretch/>
        </p:blipFill>
        <p:spPr>
          <a:xfrm>
            <a:off x="5720040" y="1540800"/>
            <a:ext cx="5865480" cy="1353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86;p 1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Grobes Modell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Google Shape;89;p 2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PlaceHolder 2"/>
          <p:cNvSpPr>
            <a:spLocks noGrp="1"/>
          </p:cNvSpPr>
          <p:nvPr>
            <p:ph type="sldNum" idx="30"/>
          </p:nvPr>
        </p:nvSpPr>
        <p:spPr>
          <a:xfrm>
            <a:off x="11473200" y="6415200"/>
            <a:ext cx="24624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88BEEDE-29C3-43D7-B231-46CA9F3CE69D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13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" name="Textfeld 4"/>
          <p:cNvSpPr/>
          <p:nvPr/>
        </p:nvSpPr>
        <p:spPr>
          <a:xfrm>
            <a:off x="2715840" y="1553400"/>
            <a:ext cx="6759000" cy="229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schrittGrob[p: PERSON, von, nach: RAUM]{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//pre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 in von.personenImOrtGrob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some t: TUER | t in von.nachbarn and t in nach.nachbarn and t.offen in True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//post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von.personenImOrtGrob' = von.personenImOrtGrob - p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nach.personenImOrtGrob' = nach.personenImOrtGrob + p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//frame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o: ORT - (von + nach) | o.personenImOrtGrob'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feld 1"/>
          <p:cNvSpPr/>
          <p:nvPr/>
        </p:nvSpPr>
        <p:spPr>
          <a:xfrm>
            <a:off x="3260520" y="5493600"/>
            <a:ext cx="187776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feld 5"/>
          <p:cNvSpPr/>
          <p:nvPr/>
        </p:nvSpPr>
        <p:spPr>
          <a:xfrm>
            <a:off x="6713640" y="5491440"/>
            <a:ext cx="187776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nach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Pfeil: nach rechts 6"/>
          <p:cNvSpPr/>
          <p:nvPr/>
        </p:nvSpPr>
        <p:spPr>
          <a:xfrm rot="9762600">
            <a:off x="8504640" y="1788840"/>
            <a:ext cx="934920" cy="3819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feld 8"/>
          <p:cNvSpPr/>
          <p:nvPr/>
        </p:nvSpPr>
        <p:spPr>
          <a:xfrm>
            <a:off x="9334800" y="1457280"/>
            <a:ext cx="187776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Später von Verfeinerungen definiert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0" name="Grafik 2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260520" y="3949560"/>
            <a:ext cx="5330880" cy="1230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1" name="Grafik 5"/>
          <p:cNvPicPr/>
          <p:nvPr/>
        </p:nvPicPr>
        <p:blipFill>
          <a:blip r:embed="rId3"/>
          <a:stretch/>
        </p:blipFill>
        <p:spPr>
          <a:xfrm>
            <a:off x="4387680" y="3660480"/>
            <a:ext cx="823320" cy="994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86;p 1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Grobes Modell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Google Shape;89;p 2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PlaceHolder 2"/>
          <p:cNvSpPr>
            <a:spLocks noGrp="1"/>
          </p:cNvSpPr>
          <p:nvPr>
            <p:ph type="sldNum" idx="31"/>
          </p:nvPr>
        </p:nvSpPr>
        <p:spPr>
          <a:xfrm>
            <a:off x="11473200" y="6415200"/>
            <a:ext cx="23976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C721910-669A-40E2-8D2B-6B38A56B4CD3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14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" name="Textfeld 4"/>
          <p:cNvSpPr/>
          <p:nvPr/>
        </p:nvSpPr>
        <p:spPr>
          <a:xfrm>
            <a:off x="2715840" y="1553400"/>
            <a:ext cx="6759000" cy="229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schrittGrob[p: PERSON, von, nach: RAUM]{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//pre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 in von.personenImOrtGrob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some t: TUER | t in von.nachbarn and t in nach.nachbarn and t.offen in True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//post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von.personenImOrtGrob' = von.personenImOrtGrob - p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nach.personenImOrtGrob' = nach.personenImOrtGrob + p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//frame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o: ORT - (von + nach) | o.personenImOrtGrob'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feld 1"/>
          <p:cNvSpPr/>
          <p:nvPr/>
        </p:nvSpPr>
        <p:spPr>
          <a:xfrm>
            <a:off x="3260520" y="5493600"/>
            <a:ext cx="187776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feld 5"/>
          <p:cNvSpPr/>
          <p:nvPr/>
        </p:nvSpPr>
        <p:spPr>
          <a:xfrm>
            <a:off x="6713640" y="5491440"/>
            <a:ext cx="187776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nach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Pfeil: nach rechts 6"/>
          <p:cNvSpPr/>
          <p:nvPr/>
        </p:nvSpPr>
        <p:spPr>
          <a:xfrm rot="9762600">
            <a:off x="8504640" y="1788840"/>
            <a:ext cx="934920" cy="3819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feld 8"/>
          <p:cNvSpPr/>
          <p:nvPr/>
        </p:nvSpPr>
        <p:spPr>
          <a:xfrm>
            <a:off x="9334800" y="1457280"/>
            <a:ext cx="187776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Später von Verfeinerungen definiert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1" name="Grafik 2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260520" y="3949560"/>
            <a:ext cx="5330880" cy="1230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2" name="Grafik 5"/>
          <p:cNvPicPr/>
          <p:nvPr/>
        </p:nvPicPr>
        <p:blipFill>
          <a:blip r:embed="rId3"/>
          <a:stretch/>
        </p:blipFill>
        <p:spPr>
          <a:xfrm>
            <a:off x="6583680" y="3570120"/>
            <a:ext cx="823320" cy="994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86;p 1"/>
          <p:cNvSpPr/>
          <p:nvPr/>
        </p:nvSpPr>
        <p:spPr>
          <a:xfrm>
            <a:off x="1569600" y="6417360"/>
            <a:ext cx="43549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1680" cy="573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Inhalt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11101680" cy="4570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Anforderung: Orte, Räume/Türen, Nachbarschaft symmetrisch, Person genau in einem Raum, Ereignis bewege (Tür offen, Nachbarschaft nötig)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Alloy: sigs für Ort/Raum/Tür/Person, facts für die Grundregeln, pred bewege, erste check/run-Beispiele (z. B. „keine Bewegung ohne offene Tür")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Lean: Zustandsdefinition, Funktion bewege, Beweis: Person bleibt nach Bewegung genau einem Raum zugeordnet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Google Shape;89;p 2"/>
          <p:cNvSpPr/>
          <p:nvPr/>
        </p:nvSpPr>
        <p:spPr>
          <a:xfrm>
            <a:off x="589680" y="6417360"/>
            <a:ext cx="746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PlaceHolder 3"/>
          <p:cNvSpPr>
            <a:spLocks noGrp="1"/>
          </p:cNvSpPr>
          <p:nvPr>
            <p:ph type="sldNum" idx="32"/>
          </p:nvPr>
        </p:nvSpPr>
        <p:spPr>
          <a:xfrm>
            <a:off x="11473200" y="6414480"/>
            <a:ext cx="172080" cy="2466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089891F-5D84-4A67-BA34-EBE84EF310CB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15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7620120" cy="10054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Ereignisse des feinen Modells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PlaceHolder 2"/>
          <p:cNvSpPr>
            <a:spLocks noGrp="1"/>
          </p:cNvSpPr>
          <p:nvPr>
            <p:ph/>
          </p:nvPr>
        </p:nvSpPr>
        <p:spPr>
          <a:xfrm>
            <a:off x="543960" y="4689000"/>
            <a:ext cx="7620120" cy="12006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Umsetzung der Türen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0" name="Grafik 169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095880" y="1547280"/>
            <a:ext cx="5474880" cy="1521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86;p 1"/>
          <p:cNvSpPr/>
          <p:nvPr/>
        </p:nvSpPr>
        <p:spPr>
          <a:xfrm>
            <a:off x="1569600" y="6417360"/>
            <a:ext cx="43549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1680" cy="573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Google Shape;89;p 2"/>
          <p:cNvSpPr/>
          <p:nvPr/>
        </p:nvSpPr>
        <p:spPr>
          <a:xfrm>
            <a:off x="589680" y="6417360"/>
            <a:ext cx="746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PlaceHolder 2"/>
          <p:cNvSpPr>
            <a:spLocks noGrp="1"/>
          </p:cNvSpPr>
          <p:nvPr>
            <p:ph type="sldNum" idx="33"/>
          </p:nvPr>
        </p:nvSpPr>
        <p:spPr>
          <a:xfrm>
            <a:off x="11473200" y="6414480"/>
            <a:ext cx="172080" cy="2466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0CD55B4-DAF6-4C81-9A8A-AA4680F7CE83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17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95" name="Grafik 3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738120" y="3773520"/>
            <a:ext cx="4597200" cy="855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6" name="Grafik 6"/>
          <p:cNvPicPr/>
          <p:nvPr/>
        </p:nvPicPr>
        <p:blipFill>
          <a:blip r:embed="rId3"/>
          <a:stretch/>
        </p:blipFill>
        <p:spPr>
          <a:xfrm>
            <a:off x="6784200" y="2117520"/>
            <a:ext cx="4483440" cy="1034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86;p 1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Modell: Initialer Zustand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Google Shape;89;p 2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PlaceHolder 2"/>
          <p:cNvSpPr>
            <a:spLocks noGrp="1"/>
          </p:cNvSpPr>
          <p:nvPr>
            <p:ph type="sldNum" idx="34"/>
          </p:nvPr>
        </p:nvSpPr>
        <p:spPr>
          <a:xfrm>
            <a:off x="11473200" y="6415200"/>
            <a:ext cx="2664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4B44E29-7EA4-425A-BE43-5D8518933563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18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01" name="Grafik 3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796200" y="3803040"/>
            <a:ext cx="4597920" cy="85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2" name="Grafik 2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3890880" y="1989360"/>
            <a:ext cx="4408560" cy="1017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3" name="Grafik 5"/>
          <p:cNvPicPr/>
          <p:nvPr/>
        </p:nvPicPr>
        <p:blipFill>
          <a:blip r:embed="rId5"/>
          <a:stretch/>
        </p:blipFill>
        <p:spPr>
          <a:xfrm>
            <a:off x="4581360" y="1478880"/>
            <a:ext cx="823320" cy="994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4" name="Grafik 8"/>
          <p:cNvPicPr/>
          <p:nvPr/>
        </p:nvPicPr>
        <p:blipFill>
          <a:blip r:embed="rId6"/>
          <a:stretch/>
        </p:blipFill>
        <p:spPr>
          <a:xfrm>
            <a:off x="4397040" y="3187440"/>
            <a:ext cx="823320" cy="994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5" name="Grafik 10"/>
          <p:cNvPicPr/>
          <p:nvPr/>
        </p:nvPicPr>
        <p:blipFill>
          <a:blip r:embed="rId7"/>
          <a:stretch/>
        </p:blipFill>
        <p:spPr>
          <a:xfrm>
            <a:off x="3735360" y="1204560"/>
            <a:ext cx="844920" cy="120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6" name="Grafik 12"/>
          <p:cNvPicPr/>
          <p:nvPr/>
        </p:nvPicPr>
        <p:blipFill>
          <a:blip r:embed="rId8"/>
          <a:stretch/>
        </p:blipFill>
        <p:spPr>
          <a:xfrm>
            <a:off x="3552840" y="3016440"/>
            <a:ext cx="844920" cy="120960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207" name="Tabelle 3"/>
          <p:cNvGraphicFramePr/>
          <p:nvPr/>
        </p:nvGraphicFramePr>
        <p:xfrm>
          <a:off x="8990640" y="1668960"/>
          <a:ext cx="2229840" cy="1341000"/>
        </p:xfrm>
        <a:graphic>
          <a:graphicData uri="http://schemas.openxmlformats.org/drawingml/2006/table">
            <a:tbl>
              <a:tblPr/>
              <a:tblGrid>
                <a:gridCol w="743400"/>
                <a:gridCol w="743400"/>
                <a:gridCol w="743400"/>
              </a:tblGrid>
              <a:tr h="175320">
                <a:tc>
                  <a:txBody>
                    <a:bodyPr anchor="t">
                      <a:noAutofit/>
                    </a:bodyPr>
                    <a:p>
                      <a:endParaRPr lang="de-DE" sz="1000" b="1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1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2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</a:tr>
              <a:tr h="3024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Grobes Modell: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024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Verfeinerung: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Tür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02400">
                <a:tc>
                  <a:txBody>
                    <a:bodyPr anchor="t">
                      <a:noAutofit/>
                    </a:bodyPr>
                    <a:p>
                      <a:endParaRPr lang="de-DE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de-DE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de-DE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86;p 1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Modell: Schritt 1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Google Shape;89;p 2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PlaceHolder 2"/>
          <p:cNvSpPr>
            <a:spLocks noGrp="1"/>
          </p:cNvSpPr>
          <p:nvPr>
            <p:ph type="sldNum" idx="35"/>
          </p:nvPr>
        </p:nvSpPr>
        <p:spPr>
          <a:xfrm>
            <a:off x="11473200" y="6415200"/>
            <a:ext cx="24624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BFA32DE-CC28-4971-9909-4D484B4CB33F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12" name="Grafik 3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796200" y="3803040"/>
            <a:ext cx="4597920" cy="85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3" name="Grafik 2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3890880" y="1989360"/>
            <a:ext cx="4408560" cy="1017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4" name="Grafik 5"/>
          <p:cNvPicPr/>
          <p:nvPr/>
        </p:nvPicPr>
        <p:blipFill>
          <a:blip r:embed="rId5"/>
          <a:stretch/>
        </p:blipFill>
        <p:spPr>
          <a:xfrm>
            <a:off x="4581360" y="1478880"/>
            <a:ext cx="823320" cy="994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5" name="Grafik 8"/>
          <p:cNvPicPr/>
          <p:nvPr/>
        </p:nvPicPr>
        <p:blipFill>
          <a:blip r:embed="rId6"/>
          <a:stretch/>
        </p:blipFill>
        <p:spPr>
          <a:xfrm>
            <a:off x="5572440" y="3187440"/>
            <a:ext cx="823320" cy="994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6" name="Grafik 10"/>
          <p:cNvPicPr/>
          <p:nvPr/>
        </p:nvPicPr>
        <p:blipFill>
          <a:blip r:embed="rId7"/>
          <a:stretch/>
        </p:blipFill>
        <p:spPr>
          <a:xfrm>
            <a:off x="3735360" y="1204560"/>
            <a:ext cx="844920" cy="120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7" name="Grafik 12"/>
          <p:cNvPicPr/>
          <p:nvPr/>
        </p:nvPicPr>
        <p:blipFill>
          <a:blip r:embed="rId8"/>
          <a:stretch/>
        </p:blipFill>
        <p:spPr>
          <a:xfrm>
            <a:off x="3552840" y="3016440"/>
            <a:ext cx="844920" cy="120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8" name="Pfeil: nach rechts 4"/>
          <p:cNvSpPr/>
          <p:nvPr/>
        </p:nvSpPr>
        <p:spPr>
          <a:xfrm rot="20607000">
            <a:off x="2684520" y="2282400"/>
            <a:ext cx="934920" cy="3819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feld 7"/>
          <p:cNvSpPr/>
          <p:nvPr/>
        </p:nvSpPr>
        <p:spPr>
          <a:xfrm>
            <a:off x="355680" y="2547000"/>
            <a:ext cx="3300480" cy="76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StutterSchritt_2{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   all o: ORT |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   o.personenImOrtGrob‘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0" name="Tabelle 3"/>
          <p:cNvGraphicFramePr/>
          <p:nvPr/>
        </p:nvGraphicFramePr>
        <p:xfrm>
          <a:off x="8990640" y="1668960"/>
          <a:ext cx="2229840" cy="1341000"/>
        </p:xfrm>
        <a:graphic>
          <a:graphicData uri="http://schemas.openxmlformats.org/drawingml/2006/table">
            <a:tbl>
              <a:tblPr/>
              <a:tblGrid>
                <a:gridCol w="743400"/>
                <a:gridCol w="743400"/>
                <a:gridCol w="743400"/>
              </a:tblGrid>
              <a:tr h="175320">
                <a:tc>
                  <a:txBody>
                    <a:bodyPr anchor="t">
                      <a:noAutofit/>
                    </a:bodyPr>
                    <a:p>
                      <a:endParaRPr lang="de-DE" sz="1000" b="1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1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2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</a:tr>
              <a:tr h="3024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Grobes Modell: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024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Verfeinerung: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Tür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02400">
                <a:tc>
                  <a:txBody>
                    <a:bodyPr anchor="t">
                      <a:noAutofit/>
                    </a:bodyPr>
                    <a:p>
                      <a:endParaRPr lang="de-DE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de-DE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de-DE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21" name="Textfeld 4"/>
          <p:cNvSpPr/>
          <p:nvPr/>
        </p:nvSpPr>
        <p:spPr>
          <a:xfrm>
            <a:off x="589680" y="4842360"/>
            <a:ext cx="5551200" cy="110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schrittFein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some p: PERSON, r1, r2: RAUM, t: TUER |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((betreteTuer[p, r1, t] and StutterSchritt_2) or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(verlasseTuer[p, r2, t] and schrittGrob[p, r1, r2])) and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vorbedingungenMoveFein[r1, r2, t]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86;p 1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Modell: Schritt 2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Google Shape;89;p 2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PlaceHolder 2"/>
          <p:cNvSpPr>
            <a:spLocks noGrp="1"/>
          </p:cNvSpPr>
          <p:nvPr>
            <p:ph type="sldNum" idx="36"/>
          </p:nvPr>
        </p:nvSpPr>
        <p:spPr>
          <a:xfrm>
            <a:off x="11473200" y="6415200"/>
            <a:ext cx="23976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FAEF32B-0675-405F-A165-6AC5E0D8AEE5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20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26" name="Grafik 3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796200" y="3803040"/>
            <a:ext cx="4597920" cy="85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7" name="Grafik 2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3890880" y="1989360"/>
            <a:ext cx="4408560" cy="1017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8" name="Grafik 5"/>
          <p:cNvPicPr/>
          <p:nvPr/>
        </p:nvPicPr>
        <p:blipFill>
          <a:blip r:embed="rId5"/>
          <a:stretch/>
        </p:blipFill>
        <p:spPr>
          <a:xfrm>
            <a:off x="7570440" y="1478880"/>
            <a:ext cx="823320" cy="994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9" name="Grafik 8"/>
          <p:cNvPicPr/>
          <p:nvPr/>
        </p:nvPicPr>
        <p:blipFill>
          <a:blip r:embed="rId6"/>
          <a:stretch/>
        </p:blipFill>
        <p:spPr>
          <a:xfrm>
            <a:off x="7570440" y="3187440"/>
            <a:ext cx="823320" cy="994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30" name="Grafik 10"/>
          <p:cNvPicPr/>
          <p:nvPr/>
        </p:nvPicPr>
        <p:blipFill>
          <a:blip r:embed="rId7"/>
          <a:stretch/>
        </p:blipFill>
        <p:spPr>
          <a:xfrm>
            <a:off x="3735360" y="1204560"/>
            <a:ext cx="844920" cy="120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31" name="Grafik 12"/>
          <p:cNvPicPr/>
          <p:nvPr/>
        </p:nvPicPr>
        <p:blipFill>
          <a:blip r:embed="rId8"/>
          <a:stretch/>
        </p:blipFill>
        <p:spPr>
          <a:xfrm>
            <a:off x="3552840" y="3016440"/>
            <a:ext cx="844920" cy="120960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232" name="Tabelle 3"/>
          <p:cNvGraphicFramePr/>
          <p:nvPr/>
        </p:nvGraphicFramePr>
        <p:xfrm>
          <a:off x="8990640" y="1668960"/>
          <a:ext cx="2229840" cy="1341000"/>
        </p:xfrm>
        <a:graphic>
          <a:graphicData uri="http://schemas.openxmlformats.org/drawingml/2006/table">
            <a:tbl>
              <a:tblPr/>
              <a:tblGrid>
                <a:gridCol w="743400"/>
                <a:gridCol w="743400"/>
                <a:gridCol w="743400"/>
              </a:tblGrid>
              <a:tr h="175320">
                <a:tc>
                  <a:txBody>
                    <a:bodyPr anchor="t">
                      <a:noAutofit/>
                    </a:bodyPr>
                    <a:p>
                      <a:endParaRPr lang="de-DE" sz="1000" b="1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1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2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</a:tr>
              <a:tr h="3024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Grobes Modell: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024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Verfeinerung: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Tür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02400">
                <a:tc>
                  <a:txBody>
                    <a:bodyPr anchor="t">
                      <a:noAutofit/>
                    </a:bodyPr>
                    <a:p>
                      <a:endParaRPr lang="de-DE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de-DE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de-DE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33" name="Pfeil: nach rechts 4"/>
          <p:cNvSpPr/>
          <p:nvPr/>
        </p:nvSpPr>
        <p:spPr>
          <a:xfrm rot="20607000">
            <a:off x="2684520" y="2282400"/>
            <a:ext cx="934920" cy="3819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feld 7"/>
          <p:cNvSpPr/>
          <p:nvPr/>
        </p:nvSpPr>
        <p:spPr>
          <a:xfrm>
            <a:off x="355680" y="2547000"/>
            <a:ext cx="3300480" cy="76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StutterSchritt_2{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   all o: ORT |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   o.personenImOrtGrob‘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feld 10"/>
          <p:cNvSpPr/>
          <p:nvPr/>
        </p:nvSpPr>
        <p:spPr>
          <a:xfrm>
            <a:off x="589680" y="4842360"/>
            <a:ext cx="5551200" cy="110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schrittFein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some p: PERSON, r1, r2: RAUM, t: TUER |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((betreteTuer[p, r1, t] and StutterSchritt_2) or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(verlasseTuer[p, r2, t] and schrittGrob[p, r1, r2])) and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vorbedingungenMoveFein[r1, r2, t]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86;p 1"/>
          <p:cNvSpPr/>
          <p:nvPr/>
        </p:nvSpPr>
        <p:spPr>
          <a:xfrm>
            <a:off x="1569600" y="6417360"/>
            <a:ext cx="43549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1680" cy="573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Google Shape;89;p 2"/>
          <p:cNvSpPr/>
          <p:nvPr/>
        </p:nvSpPr>
        <p:spPr>
          <a:xfrm>
            <a:off x="589680" y="6417360"/>
            <a:ext cx="746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PlaceHolder 2"/>
          <p:cNvSpPr>
            <a:spLocks noGrp="1"/>
          </p:cNvSpPr>
          <p:nvPr>
            <p:ph type="sldNum" idx="37"/>
          </p:nvPr>
        </p:nvSpPr>
        <p:spPr>
          <a:xfrm>
            <a:off x="11473200" y="6414480"/>
            <a:ext cx="172080" cy="2466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4A4D0FE-790D-4533-8F07-7CF67C1436D9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21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40" name="Grafik 3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738120" y="3773520"/>
            <a:ext cx="4597200" cy="855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1" name="Grafik 6"/>
          <p:cNvPicPr/>
          <p:nvPr/>
        </p:nvPicPr>
        <p:blipFill>
          <a:blip r:embed="rId3"/>
          <a:stretch/>
        </p:blipFill>
        <p:spPr>
          <a:xfrm>
            <a:off x="6784200" y="2117520"/>
            <a:ext cx="4483440" cy="1034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2" name="Textfeld 8"/>
          <p:cNvSpPr/>
          <p:nvPr/>
        </p:nvSpPr>
        <p:spPr>
          <a:xfrm>
            <a:off x="543960" y="2838600"/>
            <a:ext cx="546264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schrittFein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some p: PERSON, r1, r2: RAUM, t: TUER |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((betreteTuer[p, r1, t] and StutterSchritt_2[t]) or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(verlasseTuer[p, r2, t] and schrittGrob[p, r1, r2])) and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vorbedingungenMoveFein[r1, r2, t]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1680" cy="573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Übersicht Verfeinerung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44" name="Tabelle 3"/>
          <p:cNvGraphicFramePr/>
          <p:nvPr/>
        </p:nvGraphicFramePr>
        <p:xfrm>
          <a:off x="2031840" y="2509200"/>
          <a:ext cx="8127000" cy="1483200"/>
        </p:xfrm>
        <a:graphic>
          <a:graphicData uri="http://schemas.openxmlformats.org/drawingml/2006/table">
            <a:tbl>
              <a:tblPr/>
              <a:tblGrid>
                <a:gridCol w="2031840"/>
                <a:gridCol w="2031840"/>
                <a:gridCol w="2031840"/>
                <a:gridCol w="2031840"/>
              </a:tblGrid>
              <a:tr h="370800">
                <a:tc>
                  <a:txBody>
                    <a:bodyPr anchor="t">
                      <a:noAutofit/>
                    </a:bodyPr>
                    <a:p>
                      <a:endParaRPr lang="de-DE" sz="1800" b="1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1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2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de-DE" sz="1800" b="1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Grobes Modell: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de-DE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Verfeinerung: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Tür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de-DE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endParaRPr lang="de-DE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de-DE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de-DE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de-DE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86;p 2"/>
          <p:cNvSpPr/>
          <p:nvPr/>
        </p:nvSpPr>
        <p:spPr>
          <a:xfrm>
            <a:off x="1569600" y="6417360"/>
            <a:ext cx="43549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1680" cy="573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Inhalt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11101680" cy="4570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Anforderung: Tür wird eigener Ort, Ereignisse betreteTuer/verlasseTuer, Zustandsdiagramm ImRaum → InTür → ImRaum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Alloy: Erweiterung der sigs/facts, neue preds betreteTuer/verlasseTuer, check dass „Bewegung ohne Zwischenzustand in der Tür" nicht mehr direkt zulässig ist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Lean: Erweiterte Zustandsdefinition, Beweis, dass Verkettung von betreteTuer und verlasseTuer dasselbe fachliche Ergebnis liefert wie bewege aus Stufe 1 (Refinement-Nachweis)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Google Shape;89;p 1"/>
          <p:cNvSpPr/>
          <p:nvPr/>
        </p:nvSpPr>
        <p:spPr>
          <a:xfrm>
            <a:off x="589680" y="6417360"/>
            <a:ext cx="746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PlaceHolder 3"/>
          <p:cNvSpPr>
            <a:spLocks noGrp="1"/>
          </p:cNvSpPr>
          <p:nvPr>
            <p:ph type="sldNum" idx="38"/>
          </p:nvPr>
        </p:nvSpPr>
        <p:spPr>
          <a:xfrm>
            <a:off x="11473200" y="6414480"/>
            <a:ext cx="172080" cy="2466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3A8D3AC-8298-4295-B6E1-D395424BDADB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23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8619480" cy="10054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Ereignis: Autorisierung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0120" cy="1141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Nur Bewohner dürfen Türen öffnen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2" name="Grafik 226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077880" y="1743120"/>
            <a:ext cx="5465160" cy="1607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86;p 1"/>
          <p:cNvSpPr/>
          <p:nvPr/>
        </p:nvSpPr>
        <p:spPr>
          <a:xfrm>
            <a:off x="1569600" y="6417360"/>
            <a:ext cx="43549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1680" cy="573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 mit Autorisierung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Google Shape;89;p 2"/>
          <p:cNvSpPr/>
          <p:nvPr/>
        </p:nvSpPr>
        <p:spPr>
          <a:xfrm>
            <a:off x="589680" y="6417360"/>
            <a:ext cx="746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PlaceHolder 2"/>
          <p:cNvSpPr>
            <a:spLocks noGrp="1"/>
          </p:cNvSpPr>
          <p:nvPr>
            <p:ph type="sldNum" idx="39"/>
          </p:nvPr>
        </p:nvSpPr>
        <p:spPr>
          <a:xfrm>
            <a:off x="11473200" y="6414480"/>
            <a:ext cx="172080" cy="2466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3307858-7CD9-4929-A896-EB2079DCE709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25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57" name="Grafik 3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731280" y="4275360"/>
            <a:ext cx="4597200" cy="855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8" name="Grafik 6"/>
          <p:cNvPicPr/>
          <p:nvPr/>
        </p:nvPicPr>
        <p:blipFill>
          <a:blip r:embed="rId3"/>
          <a:stretch/>
        </p:blipFill>
        <p:spPr>
          <a:xfrm>
            <a:off x="6731280" y="1519560"/>
            <a:ext cx="4597200" cy="1060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9" name="Textfeld 8"/>
          <p:cNvSpPr/>
          <p:nvPr/>
        </p:nvSpPr>
        <p:spPr>
          <a:xfrm>
            <a:off x="543960" y="2838600"/>
            <a:ext cx="546264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schrittFein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some p: PERSON, r1, r2: RAUM, t: TUER |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((betreteTuer[p, r1, t] and StutterSchritt_2[t]) or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(verlasseTuer[p, r2, t] and schrittGrob[p, r1, r2])) and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vorbedingungenMoveFein[r1, r2, t]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0" name="Grafik 4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6731280" y="2963880"/>
            <a:ext cx="4597200" cy="855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86;p 1"/>
          <p:cNvSpPr/>
          <p:nvPr/>
        </p:nvSpPr>
        <p:spPr>
          <a:xfrm>
            <a:off x="1569600" y="6417360"/>
            <a:ext cx="43549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1680" cy="573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Autorisierung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Google Shape;89;p 2"/>
          <p:cNvSpPr/>
          <p:nvPr/>
        </p:nvSpPr>
        <p:spPr>
          <a:xfrm>
            <a:off x="589680" y="6417360"/>
            <a:ext cx="746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PlaceHolder 2"/>
          <p:cNvSpPr>
            <a:spLocks noGrp="1"/>
          </p:cNvSpPr>
          <p:nvPr>
            <p:ph type="sldNum" idx="40"/>
          </p:nvPr>
        </p:nvSpPr>
        <p:spPr>
          <a:xfrm>
            <a:off x="11473200" y="6414480"/>
            <a:ext cx="273240" cy="2466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4F237F5-DA67-4333-955A-C5F1C5B90DF2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26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65" name="Grafik 4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796560" y="4242240"/>
            <a:ext cx="4597200" cy="855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6" name="Grafik 2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3796560" y="2340360"/>
            <a:ext cx="4597200" cy="1060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7" name="Grafik 7"/>
          <p:cNvPicPr/>
          <p:nvPr/>
        </p:nvPicPr>
        <p:blipFill>
          <a:blip r:embed="rId5"/>
          <a:stretch/>
        </p:blipFill>
        <p:spPr>
          <a:xfrm>
            <a:off x="4574160" y="1842120"/>
            <a:ext cx="822600" cy="993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8" name="Grafik 10"/>
          <p:cNvPicPr/>
          <p:nvPr/>
        </p:nvPicPr>
        <p:blipFill>
          <a:blip r:embed="rId6"/>
          <a:stretch/>
        </p:blipFill>
        <p:spPr>
          <a:xfrm>
            <a:off x="3727800" y="1568160"/>
            <a:ext cx="844200" cy="120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9" name="Multiplikationszeichen 11"/>
          <p:cNvSpPr/>
          <p:nvPr/>
        </p:nvSpPr>
        <p:spPr>
          <a:xfrm>
            <a:off x="5635080" y="4209840"/>
            <a:ext cx="919440" cy="919440"/>
          </a:xfrm>
          <a:prstGeom prst="mathMultiply">
            <a:avLst>
              <a:gd name="adj1" fmla="val 2352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270" name="Grafik 13"/>
          <p:cNvPicPr/>
          <p:nvPr/>
        </p:nvPicPr>
        <p:blipFill>
          <a:blip r:embed="rId7"/>
          <a:stretch/>
        </p:blipFill>
        <p:spPr>
          <a:xfrm>
            <a:off x="4475880" y="3677400"/>
            <a:ext cx="822600" cy="993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1" name="Grafik 15"/>
          <p:cNvPicPr/>
          <p:nvPr/>
        </p:nvPicPr>
        <p:blipFill>
          <a:blip r:embed="rId8"/>
          <a:stretch/>
        </p:blipFill>
        <p:spPr>
          <a:xfrm>
            <a:off x="3629520" y="3403080"/>
            <a:ext cx="844200" cy="120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2" name="Textfeld 29"/>
          <p:cNvSpPr/>
          <p:nvPr/>
        </p:nvSpPr>
        <p:spPr>
          <a:xfrm>
            <a:off x="5574960" y="1017000"/>
            <a:ext cx="6469920" cy="93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schrittSehrFein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some p: PERSON, t: TUER |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(oeffneTuer[p, t] and StutterSchritt_1) or (schrittFein and tuerBleibtOffenOderFaelltZu)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86;p 1"/>
          <p:cNvSpPr/>
          <p:nvPr/>
        </p:nvSpPr>
        <p:spPr>
          <a:xfrm>
            <a:off x="1569600" y="6417360"/>
            <a:ext cx="43549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1680" cy="573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Autorisierung: Schritt 1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Google Shape;89;p 2"/>
          <p:cNvSpPr/>
          <p:nvPr/>
        </p:nvSpPr>
        <p:spPr>
          <a:xfrm>
            <a:off x="589680" y="6417360"/>
            <a:ext cx="746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PlaceHolder 2"/>
          <p:cNvSpPr>
            <a:spLocks noGrp="1"/>
          </p:cNvSpPr>
          <p:nvPr>
            <p:ph type="sldNum" idx="41"/>
          </p:nvPr>
        </p:nvSpPr>
        <p:spPr>
          <a:xfrm>
            <a:off x="11473200" y="6414840"/>
            <a:ext cx="232920" cy="2466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A60F7D1-E01C-4547-BAAC-9740278E5A0A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27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77" name="Grafik 3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796560" y="4242240"/>
            <a:ext cx="4597200" cy="855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8" name="Grafik 8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3796560" y="2340360"/>
            <a:ext cx="4597200" cy="1060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9" name="Grafik 11"/>
          <p:cNvPicPr/>
          <p:nvPr/>
        </p:nvPicPr>
        <p:blipFill>
          <a:blip r:embed="rId5"/>
          <a:stretch/>
        </p:blipFill>
        <p:spPr>
          <a:xfrm>
            <a:off x="4574160" y="1842120"/>
            <a:ext cx="822600" cy="993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80" name="Grafik 13"/>
          <p:cNvPicPr/>
          <p:nvPr/>
        </p:nvPicPr>
        <p:blipFill>
          <a:blip r:embed="rId6"/>
          <a:stretch/>
        </p:blipFill>
        <p:spPr>
          <a:xfrm>
            <a:off x="3727800" y="1568160"/>
            <a:ext cx="844200" cy="1208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81" name="Grafik 15"/>
          <p:cNvPicPr/>
          <p:nvPr/>
        </p:nvPicPr>
        <p:blipFill>
          <a:blip r:embed="rId7"/>
          <a:stretch/>
        </p:blipFill>
        <p:spPr>
          <a:xfrm>
            <a:off x="4475880" y="3677400"/>
            <a:ext cx="822600" cy="993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82" name="Grafik 17"/>
          <p:cNvPicPr/>
          <p:nvPr/>
        </p:nvPicPr>
        <p:blipFill>
          <a:blip r:embed="rId8"/>
          <a:stretch/>
        </p:blipFill>
        <p:spPr>
          <a:xfrm>
            <a:off x="3629520" y="3403080"/>
            <a:ext cx="844200" cy="120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3" name="Pfeil: nach rechts 27"/>
          <p:cNvSpPr/>
          <p:nvPr/>
        </p:nvSpPr>
        <p:spPr>
          <a:xfrm rot="20607000">
            <a:off x="2576520" y="4478400"/>
            <a:ext cx="934200" cy="3812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feld 29"/>
          <p:cNvSpPr/>
          <p:nvPr/>
        </p:nvSpPr>
        <p:spPr>
          <a:xfrm>
            <a:off x="459000" y="5141160"/>
            <a:ext cx="6092640" cy="76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StutterSchritt_1{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o: ORT | o.personenImOrtFein' = o.personenImOrtFein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o: ORT | o.personenImOrtGrob'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feld 29"/>
          <p:cNvSpPr/>
          <p:nvPr/>
        </p:nvSpPr>
        <p:spPr>
          <a:xfrm>
            <a:off x="5574960" y="1017000"/>
            <a:ext cx="6469920" cy="93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schrittSehrFein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some p: PERSON, t: TUER |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(oeffneTuer[p, t] and StutterSchritt_1) or (schrittFein and tuerBleibtOffenOderFaelltZu)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86;p 1"/>
          <p:cNvSpPr/>
          <p:nvPr/>
        </p:nvSpPr>
        <p:spPr>
          <a:xfrm>
            <a:off x="1569600" y="6417360"/>
            <a:ext cx="43549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1680" cy="573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Autorisierung: Schritt 2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Google Shape;89;p 2"/>
          <p:cNvSpPr/>
          <p:nvPr/>
        </p:nvSpPr>
        <p:spPr>
          <a:xfrm>
            <a:off x="589680" y="6417360"/>
            <a:ext cx="746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PlaceHolder 2"/>
          <p:cNvSpPr>
            <a:spLocks noGrp="1"/>
          </p:cNvSpPr>
          <p:nvPr>
            <p:ph type="sldNum" idx="42"/>
          </p:nvPr>
        </p:nvSpPr>
        <p:spPr>
          <a:xfrm>
            <a:off x="11473200" y="6414480"/>
            <a:ext cx="232920" cy="2466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2A244EA-4E80-4BCE-AF8D-3E399E68B466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28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90" name="Grafik 3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796560" y="4242240"/>
            <a:ext cx="4597200" cy="855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91" name="Grafik 8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3796560" y="2340360"/>
            <a:ext cx="4597200" cy="1060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92" name="Grafik 11"/>
          <p:cNvPicPr/>
          <p:nvPr/>
        </p:nvPicPr>
        <p:blipFill>
          <a:blip r:embed="rId5"/>
          <a:stretch/>
        </p:blipFill>
        <p:spPr>
          <a:xfrm>
            <a:off x="4574160" y="1842120"/>
            <a:ext cx="822600" cy="993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93" name="Grafik 13"/>
          <p:cNvPicPr/>
          <p:nvPr/>
        </p:nvPicPr>
        <p:blipFill>
          <a:blip r:embed="rId6"/>
          <a:stretch/>
        </p:blipFill>
        <p:spPr>
          <a:xfrm>
            <a:off x="3727800" y="1568160"/>
            <a:ext cx="844200" cy="1208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94" name="Grafik 15"/>
          <p:cNvPicPr/>
          <p:nvPr/>
        </p:nvPicPr>
        <p:blipFill>
          <a:blip r:embed="rId7"/>
          <a:stretch/>
        </p:blipFill>
        <p:spPr>
          <a:xfrm>
            <a:off x="5346000" y="3677400"/>
            <a:ext cx="822600" cy="993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95" name="Grafik 17"/>
          <p:cNvPicPr/>
          <p:nvPr/>
        </p:nvPicPr>
        <p:blipFill>
          <a:blip r:embed="rId8"/>
          <a:stretch/>
        </p:blipFill>
        <p:spPr>
          <a:xfrm>
            <a:off x="3629520" y="3403080"/>
            <a:ext cx="844200" cy="120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6" name="Pfeil: nach rechts 2"/>
          <p:cNvSpPr/>
          <p:nvPr/>
        </p:nvSpPr>
        <p:spPr>
          <a:xfrm rot="20607000">
            <a:off x="2576520" y="4478400"/>
            <a:ext cx="934200" cy="3812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feld 5"/>
          <p:cNvSpPr/>
          <p:nvPr/>
        </p:nvSpPr>
        <p:spPr>
          <a:xfrm>
            <a:off x="459000" y="5141160"/>
            <a:ext cx="6092640" cy="76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StutterSchritt_1{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o: ORT | o.personenImOrtFein' = o.personenImOrtFein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o: ORT | o.personenImOrtGrob'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feld 29"/>
          <p:cNvSpPr/>
          <p:nvPr/>
        </p:nvSpPr>
        <p:spPr>
          <a:xfrm>
            <a:off x="5574960" y="1017000"/>
            <a:ext cx="6469920" cy="93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schrittSehrFein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some p: PERSON, t: TUER |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(oeffneTuer[p, t] and StutterSchritt_1) or (schrittFein and tuerBleibtOffenOderFaelltZu)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86;p 1"/>
          <p:cNvSpPr/>
          <p:nvPr/>
        </p:nvSpPr>
        <p:spPr>
          <a:xfrm>
            <a:off x="1569600" y="6417360"/>
            <a:ext cx="43549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1680" cy="573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Autorisierung: Schritt 3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Google Shape;89;p 2"/>
          <p:cNvSpPr/>
          <p:nvPr/>
        </p:nvSpPr>
        <p:spPr>
          <a:xfrm>
            <a:off x="589680" y="6417360"/>
            <a:ext cx="746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PlaceHolder 2"/>
          <p:cNvSpPr>
            <a:spLocks noGrp="1"/>
          </p:cNvSpPr>
          <p:nvPr>
            <p:ph type="sldNum" idx="43"/>
          </p:nvPr>
        </p:nvSpPr>
        <p:spPr>
          <a:xfrm>
            <a:off x="11473200" y="6414480"/>
            <a:ext cx="253080" cy="2466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38C270B-01A0-47AD-9B65-D8778B17663D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29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03" name="Grafik 3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796560" y="4242240"/>
            <a:ext cx="4597200" cy="855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4" name="Grafik 8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3796560" y="2340360"/>
            <a:ext cx="4597200" cy="1060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5" name="Grafik 11"/>
          <p:cNvPicPr/>
          <p:nvPr/>
        </p:nvPicPr>
        <p:blipFill>
          <a:blip r:embed="rId5"/>
          <a:stretch/>
        </p:blipFill>
        <p:spPr>
          <a:xfrm>
            <a:off x="6697800" y="1842120"/>
            <a:ext cx="822600" cy="993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6" name="Grafik 13"/>
          <p:cNvPicPr/>
          <p:nvPr/>
        </p:nvPicPr>
        <p:blipFill>
          <a:blip r:embed="rId6"/>
          <a:stretch/>
        </p:blipFill>
        <p:spPr>
          <a:xfrm>
            <a:off x="3727800" y="1568160"/>
            <a:ext cx="844200" cy="1208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7" name="Grafik 17"/>
          <p:cNvPicPr/>
          <p:nvPr/>
        </p:nvPicPr>
        <p:blipFill>
          <a:blip r:embed="rId7"/>
          <a:stretch/>
        </p:blipFill>
        <p:spPr>
          <a:xfrm>
            <a:off x="3629520" y="3403080"/>
            <a:ext cx="844200" cy="1208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8" name="Grafik 1"/>
          <p:cNvPicPr/>
          <p:nvPr/>
        </p:nvPicPr>
        <p:blipFill>
          <a:blip r:embed="rId8"/>
          <a:stretch/>
        </p:blipFill>
        <p:spPr>
          <a:xfrm>
            <a:off x="6891480" y="3677400"/>
            <a:ext cx="822600" cy="993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9" name="Textfeld 29"/>
          <p:cNvSpPr/>
          <p:nvPr/>
        </p:nvSpPr>
        <p:spPr>
          <a:xfrm>
            <a:off x="5574960" y="1017000"/>
            <a:ext cx="6469920" cy="93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schrittSehrFein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some p: PERSON, t: TUER |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(oeffneTuer[p, t] and StutterSchritt_1) or (schrittFein and tuerBleibtOffenOderFaelltZu)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8619480" cy="10054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Synchronisierung der Modelle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0120" cy="1365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Nur Bewohner dürfen Türen öffnen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86;p 1"/>
          <p:cNvSpPr/>
          <p:nvPr/>
        </p:nvSpPr>
        <p:spPr>
          <a:xfrm>
            <a:off x="1569600" y="6417360"/>
            <a:ext cx="43549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Google Shape;89;p 2"/>
          <p:cNvSpPr/>
          <p:nvPr/>
        </p:nvSpPr>
        <p:spPr>
          <a:xfrm>
            <a:off x="589680" y="6417360"/>
            <a:ext cx="746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PlaceHolder 1"/>
          <p:cNvSpPr>
            <a:spLocks noGrp="1"/>
          </p:cNvSpPr>
          <p:nvPr>
            <p:ph type="sldNum" idx="44"/>
          </p:nvPr>
        </p:nvSpPr>
        <p:spPr>
          <a:xfrm>
            <a:off x="11473200" y="6414480"/>
            <a:ext cx="253080" cy="2466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F981061-C854-42C5-AE0A-03A94E399E30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30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5" name="PlaceHolder 2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1680" cy="573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Übersicht Verfeinerung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16" name="Tabelle 3"/>
          <p:cNvGraphicFramePr/>
          <p:nvPr/>
        </p:nvGraphicFramePr>
        <p:xfrm>
          <a:off x="2031840" y="1593000"/>
          <a:ext cx="8127000" cy="1483200"/>
        </p:xfrm>
        <a:graphic>
          <a:graphicData uri="http://schemas.openxmlformats.org/drawingml/2006/table">
            <a:tbl>
              <a:tblPr/>
              <a:tblGrid>
                <a:gridCol w="2031840"/>
                <a:gridCol w="2031840"/>
                <a:gridCol w="2031840"/>
                <a:gridCol w="2031840"/>
              </a:tblGrid>
              <a:tr h="370800">
                <a:tc>
                  <a:txBody>
                    <a:bodyPr anchor="t">
                      <a:noAutofit/>
                    </a:bodyPr>
                    <a:p>
                      <a:endParaRPr lang="de-DE" sz="1800" b="1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1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2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3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Grobes Modell: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>
                          <a:solidFill>
                            <a:schemeClr val="lt2">
                              <a:lumMod val="40000"/>
                              <a:lumOff val="60000"/>
                            </a:schemeClr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>
                          <a:solidFill>
                            <a:schemeClr val="lt2">
                              <a:lumMod val="40000"/>
                              <a:lumOff val="60000"/>
                            </a:schemeClr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Verfeinerung: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lt2">
                              <a:lumMod val="40000"/>
                              <a:lumOff val="60000"/>
                            </a:schemeClr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Tür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Autorisierung: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Öffne Tür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Tür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17" name="Textfeld 4"/>
          <p:cNvSpPr/>
          <p:nvPr/>
        </p:nvSpPr>
        <p:spPr>
          <a:xfrm>
            <a:off x="631080" y="4645440"/>
            <a:ext cx="4951080" cy="76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StutterSchritt_1{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o: ORT | o.personenImOrtFein' = o.personenImOrtFein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o: ORT | o.personenImOrtGrob'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feld 6"/>
          <p:cNvSpPr/>
          <p:nvPr/>
        </p:nvSpPr>
        <p:spPr>
          <a:xfrm>
            <a:off x="6607800" y="4645440"/>
            <a:ext cx="4951080" cy="59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StutterSchritt_2{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o: ORT | o.personenImOrtGrob'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feld 7"/>
          <p:cNvSpPr/>
          <p:nvPr/>
        </p:nvSpPr>
        <p:spPr>
          <a:xfrm>
            <a:off x="631080" y="4169160"/>
            <a:ext cx="2305440" cy="36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Stutter Schritt 1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feld 9"/>
          <p:cNvSpPr/>
          <p:nvPr/>
        </p:nvSpPr>
        <p:spPr>
          <a:xfrm>
            <a:off x="6607800" y="4169160"/>
            <a:ext cx="2305440" cy="36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Stutter Schritt 2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Pfeil: nach unten 10"/>
          <p:cNvSpPr/>
          <p:nvPr/>
        </p:nvSpPr>
        <p:spPr>
          <a:xfrm rot="2929200">
            <a:off x="3646800" y="3215160"/>
            <a:ext cx="476640" cy="85716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22" name="Pfeil: nach unten 12"/>
          <p:cNvSpPr/>
          <p:nvPr/>
        </p:nvSpPr>
        <p:spPr>
          <a:xfrm rot="19296000">
            <a:off x="6715080" y="3213000"/>
            <a:ext cx="476640" cy="85716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86;p 1"/>
          <p:cNvSpPr/>
          <p:nvPr/>
        </p:nvSpPr>
        <p:spPr>
          <a:xfrm>
            <a:off x="1569600" y="6417360"/>
            <a:ext cx="43549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Google Shape;89;p 2"/>
          <p:cNvSpPr/>
          <p:nvPr/>
        </p:nvSpPr>
        <p:spPr>
          <a:xfrm>
            <a:off x="589680" y="6417360"/>
            <a:ext cx="746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PlaceHolder 1"/>
          <p:cNvSpPr>
            <a:spLocks noGrp="1"/>
          </p:cNvSpPr>
          <p:nvPr>
            <p:ph type="sldNum" idx="45"/>
          </p:nvPr>
        </p:nvSpPr>
        <p:spPr>
          <a:xfrm>
            <a:off x="11473200" y="6414480"/>
            <a:ext cx="253080" cy="2466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0429B6D-99AC-4538-8C28-80AEED00850C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31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6" name="PlaceHolder 2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1680" cy="573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Übersicht Verfeinerung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27" name="Tabelle 3"/>
          <p:cNvGraphicFramePr/>
          <p:nvPr/>
        </p:nvGraphicFramePr>
        <p:xfrm>
          <a:off x="1196640" y="2053800"/>
          <a:ext cx="9797040" cy="1849320"/>
        </p:xfrm>
        <a:graphic>
          <a:graphicData uri="http://schemas.openxmlformats.org/drawingml/2006/table">
            <a:tbl>
              <a:tblPr/>
              <a:tblGrid>
                <a:gridCol w="1959480"/>
                <a:gridCol w="1959480"/>
                <a:gridCol w="1959480"/>
                <a:gridCol w="1959480"/>
                <a:gridCol w="1959480"/>
              </a:tblGrid>
              <a:tr h="0">
                <a:tc>
                  <a:txBody>
                    <a:bodyPr anchor="t">
                      <a:noAutofit/>
                    </a:bodyPr>
                    <a:p>
                      <a:endParaRPr lang="de-DE" sz="1800" b="1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1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2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3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Frame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Grobes Modell: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>
                          <a:solidFill>
                            <a:schemeClr val="lt2">
                              <a:lumMod val="40000"/>
                              <a:lumOff val="60000"/>
                            </a:schemeClr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>
                          <a:solidFill>
                            <a:schemeClr val="lt2">
                              <a:lumMod val="40000"/>
                              <a:lumOff val="60000"/>
                            </a:schemeClr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Arial"/>
                        </a:rPr>
                        <a:t>personenGrob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Verfeinerung: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lt2">
                              <a:lumMod val="40000"/>
                              <a:lumOff val="60000"/>
                            </a:schemeClr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Tür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Arial"/>
                        </a:rPr>
                        <a:t>personenFein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Autorisierung: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Öffne Tür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Tür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Arial"/>
                        </a:rPr>
                        <a:t>türen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Arial"/>
                        </a:rPr>
                        <a:t>Stutter_1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Arial"/>
                        </a:rPr>
                        <a:t>Stutter_2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de-DE" sz="1800" b="0" u="none" strike="noStrike">
                        <a:solidFill>
                          <a:schemeClr val="dk1"/>
                        </a:solidFill>
                        <a:effectLst/>
                        <a:highlight>
                          <a:srgbClr val="FFFF00"/>
                        </a:highlight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de-DE" sz="1800" b="0" u="none" strike="noStrike">
                        <a:solidFill>
                          <a:schemeClr val="dk1"/>
                        </a:solidFill>
                        <a:effectLst/>
                        <a:highlight>
                          <a:srgbClr val="FFFF00"/>
                        </a:highlight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86;p 1"/>
          <p:cNvSpPr/>
          <p:nvPr/>
        </p:nvSpPr>
        <p:spPr>
          <a:xfrm>
            <a:off x="1569600" y="6417360"/>
            <a:ext cx="43549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Google Shape;89;p 2"/>
          <p:cNvSpPr/>
          <p:nvPr/>
        </p:nvSpPr>
        <p:spPr>
          <a:xfrm>
            <a:off x="589680" y="6417360"/>
            <a:ext cx="746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PlaceHolder 1"/>
          <p:cNvSpPr>
            <a:spLocks noGrp="1"/>
          </p:cNvSpPr>
          <p:nvPr>
            <p:ph type="sldNum" idx="46"/>
          </p:nvPr>
        </p:nvSpPr>
        <p:spPr>
          <a:xfrm>
            <a:off x="11473200" y="6414480"/>
            <a:ext cx="253080" cy="2466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CED4045-7451-4FED-B874-238A724570D3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32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1" name="PlaceHolder 2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1680" cy="573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Beispiel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2" name="Grafik 4"/>
          <p:cNvPicPr/>
          <p:nvPr/>
        </p:nvPicPr>
        <p:blipFill>
          <a:blip r:embed="rId1"/>
          <a:stretch/>
        </p:blipFill>
        <p:spPr>
          <a:xfrm>
            <a:off x="2836800" y="2148120"/>
            <a:ext cx="6631560" cy="2591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86;p 1"/>
          <p:cNvSpPr/>
          <p:nvPr/>
        </p:nvSpPr>
        <p:spPr>
          <a:xfrm>
            <a:off x="1569600" y="6417360"/>
            <a:ext cx="43549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Google Shape;89;p 2"/>
          <p:cNvSpPr/>
          <p:nvPr/>
        </p:nvSpPr>
        <p:spPr>
          <a:xfrm>
            <a:off x="589680" y="6417360"/>
            <a:ext cx="746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PlaceHolder 1"/>
          <p:cNvSpPr>
            <a:spLocks noGrp="1"/>
          </p:cNvSpPr>
          <p:nvPr>
            <p:ph type="sldNum" idx="47"/>
          </p:nvPr>
        </p:nvSpPr>
        <p:spPr>
          <a:xfrm>
            <a:off x="11473200" y="6414480"/>
            <a:ext cx="253080" cy="2466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4D2CA6B-AF44-4038-A213-54CD8F923AD5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33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6" name="PlaceHolder 2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1680" cy="573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Beispiel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7" name="Grafik 4"/>
          <p:cNvPicPr/>
          <p:nvPr/>
        </p:nvPicPr>
        <p:blipFill>
          <a:blip r:embed="rId1"/>
          <a:stretch/>
        </p:blipFill>
        <p:spPr>
          <a:xfrm>
            <a:off x="2836800" y="2115000"/>
            <a:ext cx="6516000" cy="2552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86;p 1"/>
          <p:cNvSpPr/>
          <p:nvPr/>
        </p:nvSpPr>
        <p:spPr>
          <a:xfrm>
            <a:off x="1569600" y="6417360"/>
            <a:ext cx="43549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Google Shape;89;p 2"/>
          <p:cNvSpPr/>
          <p:nvPr/>
        </p:nvSpPr>
        <p:spPr>
          <a:xfrm>
            <a:off x="589680" y="6417360"/>
            <a:ext cx="746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PlaceHolder 1"/>
          <p:cNvSpPr>
            <a:spLocks noGrp="1"/>
          </p:cNvSpPr>
          <p:nvPr>
            <p:ph type="sldNum" idx="48"/>
          </p:nvPr>
        </p:nvSpPr>
        <p:spPr>
          <a:xfrm>
            <a:off x="11473200" y="6414480"/>
            <a:ext cx="253080" cy="2466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32BD74F-999D-42B1-A498-34ED6B4A7DDF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34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1" name="PlaceHolder 2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1680" cy="573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Beispiel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2" name="Grafik 6"/>
          <p:cNvPicPr/>
          <p:nvPr/>
        </p:nvPicPr>
        <p:blipFill>
          <a:blip r:embed="rId1"/>
          <a:stretch/>
        </p:blipFill>
        <p:spPr>
          <a:xfrm>
            <a:off x="2836800" y="2115000"/>
            <a:ext cx="6524280" cy="2552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86;p 1"/>
          <p:cNvSpPr/>
          <p:nvPr/>
        </p:nvSpPr>
        <p:spPr>
          <a:xfrm>
            <a:off x="1569600" y="6417360"/>
            <a:ext cx="43549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Google Shape;89;p 2"/>
          <p:cNvSpPr/>
          <p:nvPr/>
        </p:nvSpPr>
        <p:spPr>
          <a:xfrm>
            <a:off x="589680" y="6417360"/>
            <a:ext cx="746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PlaceHolder 1"/>
          <p:cNvSpPr>
            <a:spLocks noGrp="1"/>
          </p:cNvSpPr>
          <p:nvPr>
            <p:ph type="sldNum" idx="49"/>
          </p:nvPr>
        </p:nvSpPr>
        <p:spPr>
          <a:xfrm>
            <a:off x="11473200" y="6414480"/>
            <a:ext cx="253080" cy="2466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328D608-DEDA-4FAE-BC22-DFC601773F5B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35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6" name="PlaceHolder 2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1680" cy="573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Beispiel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7" name="Grafik 5"/>
          <p:cNvPicPr/>
          <p:nvPr/>
        </p:nvPicPr>
        <p:blipFill>
          <a:blip r:embed="rId1"/>
          <a:stretch/>
        </p:blipFill>
        <p:spPr>
          <a:xfrm>
            <a:off x="2836800" y="2115000"/>
            <a:ext cx="7428960" cy="2552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86;p 3"/>
          <p:cNvSpPr/>
          <p:nvPr/>
        </p:nvSpPr>
        <p:spPr>
          <a:xfrm>
            <a:off x="1569600" y="6417360"/>
            <a:ext cx="43549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1680" cy="573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Inhalt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11101680" cy="4570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Anforderung: Authentifizierungsgerät pro Tür, Bewohner:in vs. Gast, Ereignis authentifizieren, Vor-/Nachbedingungen bei Erfolg/Misserfolg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Alloy: sigs für Authentifizierung/Bewohner/Gast, pred authentifizieren, checks wie „geschlossene Tür kann nicht ohne gültige Berechtigung passiert werden", Gegenbeispielsuche für Gast-Versuch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Lean: Beweis, dass fehlgeschlagene Authentifizierung den Zustand nicht verändert; Beweis der Invariante „geschlossene Türen bleiben ohne Berechtigung geschlossen“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Google Shape;89;p 3"/>
          <p:cNvSpPr/>
          <p:nvPr/>
        </p:nvSpPr>
        <p:spPr>
          <a:xfrm>
            <a:off x="589680" y="6417360"/>
            <a:ext cx="746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PlaceHolder 3"/>
          <p:cNvSpPr>
            <a:spLocks noGrp="1"/>
          </p:cNvSpPr>
          <p:nvPr>
            <p:ph type="sldNum" idx="50"/>
          </p:nvPr>
        </p:nvSpPr>
        <p:spPr>
          <a:xfrm>
            <a:off x="11473200" y="6414480"/>
            <a:ext cx="172080" cy="2466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C465653-500D-4E5D-8B48-19889D393528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37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95;p 5"/>
          <p:cNvSpPr/>
          <p:nvPr/>
        </p:nvSpPr>
        <p:spPr>
          <a:xfrm>
            <a:off x="1569600" y="6417360"/>
            <a:ext cx="43549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4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10253880" cy="10054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Umsetzung in Lean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0120" cy="1365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Event B: Beweise des Modells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Google Shape;98;p 5"/>
          <p:cNvSpPr/>
          <p:nvPr/>
        </p:nvSpPr>
        <p:spPr>
          <a:xfrm>
            <a:off x="589680" y="6417360"/>
            <a:ext cx="746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PlaceHolder 3"/>
          <p:cNvSpPr>
            <a:spLocks noGrp="1"/>
          </p:cNvSpPr>
          <p:nvPr>
            <p:ph type="sldNum" idx="51"/>
          </p:nvPr>
        </p:nvSpPr>
        <p:spPr>
          <a:xfrm>
            <a:off x="11473200" y="6414480"/>
            <a:ext cx="172080" cy="2466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FAAC22F-1D78-4CF7-B7A2-69AD33AD7E03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38</a:t>
            </a:fld>
            <a:endParaRPr lang="de-D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86;p 5"/>
          <p:cNvSpPr/>
          <p:nvPr/>
        </p:nvSpPr>
        <p:spPr>
          <a:xfrm>
            <a:off x="1569600" y="6417360"/>
            <a:ext cx="43549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1680" cy="573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Übersicht der Objekte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Google Shape;89;p 5"/>
          <p:cNvSpPr/>
          <p:nvPr/>
        </p:nvSpPr>
        <p:spPr>
          <a:xfrm>
            <a:off x="589680" y="6417360"/>
            <a:ext cx="746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PlaceHolder 2"/>
          <p:cNvSpPr>
            <a:spLocks noGrp="1"/>
          </p:cNvSpPr>
          <p:nvPr>
            <p:ph type="sldNum" idx="52"/>
          </p:nvPr>
        </p:nvSpPr>
        <p:spPr>
          <a:xfrm>
            <a:off x="11473200" y="6414480"/>
            <a:ext cx="246240" cy="2466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7C05626-731A-475E-8E34-CA65DBD36BAA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39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62" name="Grafik 9"/>
          <p:cNvPicPr/>
          <p:nvPr/>
        </p:nvPicPr>
        <p:blipFill>
          <a:blip r:embed="rId1"/>
          <a:stretch/>
        </p:blipFill>
        <p:spPr>
          <a:xfrm>
            <a:off x="3756240" y="1440000"/>
            <a:ext cx="7761960" cy="467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3" name="PlaceHolder 8"/>
          <p:cNvSpPr/>
          <p:nvPr/>
        </p:nvSpPr>
        <p:spPr>
          <a:xfrm>
            <a:off x="544320" y="1484280"/>
            <a:ext cx="4853880" cy="457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normAutofit/>
          </a:bodyPr>
          <a:p>
            <a:pPr marL="216000" indent="-2160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Statische Struktur: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Festgelegte Regeln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Unveränderlich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86;p 18"/>
          <p:cNvSpPr/>
          <p:nvPr/>
        </p:nvSpPr>
        <p:spPr>
          <a:xfrm>
            <a:off x="1569600" y="6417360"/>
            <a:ext cx="43549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1680" cy="573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Übersicht der Objekte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Google Shape;89;p 18"/>
          <p:cNvSpPr/>
          <p:nvPr/>
        </p:nvSpPr>
        <p:spPr>
          <a:xfrm>
            <a:off x="589680" y="6417360"/>
            <a:ext cx="746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PlaceHolder 2"/>
          <p:cNvSpPr>
            <a:spLocks noGrp="1"/>
          </p:cNvSpPr>
          <p:nvPr>
            <p:ph type="sldNum" idx="53"/>
          </p:nvPr>
        </p:nvSpPr>
        <p:spPr>
          <a:xfrm>
            <a:off x="11473200" y="6414480"/>
            <a:ext cx="232920" cy="2466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03290A6-1B13-48D5-8566-2414F6CD6062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40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68" name="Grafik 64"/>
          <p:cNvPicPr/>
          <p:nvPr/>
        </p:nvPicPr>
        <p:blipFill>
          <a:blip r:embed="rId1"/>
          <a:stretch/>
        </p:blipFill>
        <p:spPr>
          <a:xfrm>
            <a:off x="5637960" y="2340000"/>
            <a:ext cx="5340240" cy="2091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9" name="PlaceHolder 60"/>
          <p:cNvSpPr/>
          <p:nvPr/>
        </p:nvSpPr>
        <p:spPr>
          <a:xfrm>
            <a:off x="544320" y="1484280"/>
            <a:ext cx="4853880" cy="457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normAutofit/>
          </a:bodyPr>
          <a:p>
            <a:pPr marL="216000" indent="-2160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Dynamische Struktur: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personenImOrtFein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personenImOrtGrob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offen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Flussdiagramm: Prozess 322"/>
          <p:cNvSpPr/>
          <p:nvPr/>
        </p:nvSpPr>
        <p:spPr>
          <a:xfrm>
            <a:off x="5637960" y="2628000"/>
            <a:ext cx="2460240" cy="43020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760" tIns="59760" rIns="104760" bIns="5976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Flussdiagramm: Prozess 323"/>
          <p:cNvSpPr/>
          <p:nvPr/>
        </p:nvSpPr>
        <p:spPr>
          <a:xfrm>
            <a:off x="7740000" y="3960000"/>
            <a:ext cx="898200" cy="17820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760" tIns="59760" rIns="104760" bIns="5976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Flussdiagramm: Prozess 324"/>
          <p:cNvSpPr/>
          <p:nvPr/>
        </p:nvSpPr>
        <p:spPr>
          <a:xfrm>
            <a:off x="7740000" y="3960000"/>
            <a:ext cx="898200" cy="17820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760" tIns="59760" rIns="104760" bIns="5976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86;p 4"/>
          <p:cNvSpPr/>
          <p:nvPr/>
        </p:nvSpPr>
        <p:spPr>
          <a:xfrm>
            <a:off x="1569600" y="6417360"/>
            <a:ext cx="43549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1680" cy="573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SimpleGraph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Google Shape;89;p 4"/>
          <p:cNvSpPr/>
          <p:nvPr/>
        </p:nvSpPr>
        <p:spPr>
          <a:xfrm>
            <a:off x="589680" y="6417360"/>
            <a:ext cx="746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PlaceHolder 2"/>
          <p:cNvSpPr>
            <a:spLocks noGrp="1"/>
          </p:cNvSpPr>
          <p:nvPr>
            <p:ph type="sldNum" idx="54"/>
          </p:nvPr>
        </p:nvSpPr>
        <p:spPr>
          <a:xfrm>
            <a:off x="11473200" y="6414480"/>
            <a:ext cx="259920" cy="2466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341FDDB-4512-4067-A292-67F5D7A2BA60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41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77" name="Grafik 329"/>
          <p:cNvPicPr/>
          <p:nvPr/>
        </p:nvPicPr>
        <p:blipFill>
          <a:blip r:embed="rId1"/>
          <a:stretch/>
        </p:blipFill>
        <p:spPr>
          <a:xfrm>
            <a:off x="900000" y="1734480"/>
            <a:ext cx="7558200" cy="243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86;p 15"/>
          <p:cNvSpPr/>
          <p:nvPr/>
        </p:nvSpPr>
        <p:spPr>
          <a:xfrm>
            <a:off x="1569600" y="6417360"/>
            <a:ext cx="43549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1680" cy="573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SimpleGraph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Google Shape;89;p 15"/>
          <p:cNvSpPr/>
          <p:nvPr/>
        </p:nvSpPr>
        <p:spPr>
          <a:xfrm>
            <a:off x="589680" y="6417360"/>
            <a:ext cx="746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PlaceHolder 2"/>
          <p:cNvSpPr>
            <a:spLocks noGrp="1"/>
          </p:cNvSpPr>
          <p:nvPr>
            <p:ph type="sldNum" idx="55"/>
          </p:nvPr>
        </p:nvSpPr>
        <p:spPr>
          <a:xfrm>
            <a:off x="11473200" y="6414480"/>
            <a:ext cx="259920" cy="2466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3BD52D2-B5B6-404C-B517-6CFBBC49D20F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42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82" name="Grafik 18"/>
          <p:cNvPicPr/>
          <p:nvPr/>
        </p:nvPicPr>
        <p:blipFill>
          <a:blip r:embed="rId1"/>
          <a:stretch/>
        </p:blipFill>
        <p:spPr>
          <a:xfrm>
            <a:off x="900000" y="1734480"/>
            <a:ext cx="7558200" cy="243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3" name="Pfeil: nach rechts 5"/>
          <p:cNvSpPr/>
          <p:nvPr/>
        </p:nvSpPr>
        <p:spPr>
          <a:xfrm rot="9762600">
            <a:off x="6336720" y="1211040"/>
            <a:ext cx="934200" cy="3812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feld 12"/>
          <p:cNvSpPr/>
          <p:nvPr/>
        </p:nvSpPr>
        <p:spPr>
          <a:xfrm>
            <a:off x="7301160" y="1024920"/>
            <a:ext cx="18770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Loopless + Symmetrisch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86;p 24"/>
          <p:cNvSpPr/>
          <p:nvPr/>
        </p:nvSpPr>
        <p:spPr>
          <a:xfrm>
            <a:off x="1569600" y="6417360"/>
            <a:ext cx="43549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1680" cy="573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SimpleGraph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Google Shape;89;p 24"/>
          <p:cNvSpPr/>
          <p:nvPr/>
        </p:nvSpPr>
        <p:spPr>
          <a:xfrm>
            <a:off x="589680" y="6417360"/>
            <a:ext cx="746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PlaceHolder 2"/>
          <p:cNvSpPr>
            <a:spLocks noGrp="1"/>
          </p:cNvSpPr>
          <p:nvPr>
            <p:ph type="sldNum" idx="56"/>
          </p:nvPr>
        </p:nvSpPr>
        <p:spPr>
          <a:xfrm>
            <a:off x="11473200" y="6414480"/>
            <a:ext cx="259920" cy="2466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2DD9080-816F-487A-B048-F5E31AF4D266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43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89" name="Grafik 37"/>
          <p:cNvPicPr/>
          <p:nvPr/>
        </p:nvPicPr>
        <p:blipFill>
          <a:blip r:embed="rId1"/>
          <a:stretch/>
        </p:blipFill>
        <p:spPr>
          <a:xfrm>
            <a:off x="900000" y="1734480"/>
            <a:ext cx="7558200" cy="243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0" name="Pfeil: nach rechts 8"/>
          <p:cNvSpPr/>
          <p:nvPr/>
        </p:nvSpPr>
        <p:spPr>
          <a:xfrm rot="9762600">
            <a:off x="6336720" y="1211040"/>
            <a:ext cx="934200" cy="3812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feld 13"/>
          <p:cNvSpPr/>
          <p:nvPr/>
        </p:nvSpPr>
        <p:spPr>
          <a:xfrm>
            <a:off x="7301160" y="1024920"/>
            <a:ext cx="18770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Loopless + Symmetrisch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2" name="Grafik 19"/>
          <p:cNvPicPr/>
          <p:nvPr/>
        </p:nvPicPr>
        <p:blipFill>
          <a:blip r:embed="rId2"/>
          <a:stretch/>
        </p:blipFill>
        <p:spPr>
          <a:xfrm>
            <a:off x="891360" y="2160000"/>
            <a:ext cx="4147200" cy="1118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86;p 23"/>
          <p:cNvSpPr/>
          <p:nvPr/>
        </p:nvSpPr>
        <p:spPr>
          <a:xfrm>
            <a:off x="1569600" y="6417360"/>
            <a:ext cx="43549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1680" cy="573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SimpleGraph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Google Shape;89;p 23"/>
          <p:cNvSpPr/>
          <p:nvPr/>
        </p:nvSpPr>
        <p:spPr>
          <a:xfrm>
            <a:off x="589680" y="6417360"/>
            <a:ext cx="746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PlaceHolder 2"/>
          <p:cNvSpPr>
            <a:spLocks noGrp="1"/>
          </p:cNvSpPr>
          <p:nvPr>
            <p:ph type="sldNum" idx="57"/>
          </p:nvPr>
        </p:nvSpPr>
        <p:spPr>
          <a:xfrm>
            <a:off x="11473200" y="6414480"/>
            <a:ext cx="259920" cy="2466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89984BE-B22D-475E-A4A3-11A320898309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44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97" name="Grafik 20"/>
          <p:cNvPicPr/>
          <p:nvPr/>
        </p:nvPicPr>
        <p:blipFill>
          <a:blip r:embed="rId1"/>
          <a:stretch/>
        </p:blipFill>
        <p:spPr>
          <a:xfrm>
            <a:off x="900000" y="1734480"/>
            <a:ext cx="7558200" cy="243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98" name="Grafik 36"/>
          <p:cNvPicPr/>
          <p:nvPr/>
        </p:nvPicPr>
        <p:blipFill>
          <a:blip r:embed="rId2"/>
          <a:stretch/>
        </p:blipFill>
        <p:spPr>
          <a:xfrm>
            <a:off x="891000" y="2160000"/>
            <a:ext cx="4147200" cy="11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9" name="Pfeil: nach rechts 7"/>
          <p:cNvSpPr/>
          <p:nvPr/>
        </p:nvSpPr>
        <p:spPr>
          <a:xfrm rot="9762600">
            <a:off x="6336720" y="1211040"/>
            <a:ext cx="934200" cy="3812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feld 3"/>
          <p:cNvSpPr/>
          <p:nvPr/>
        </p:nvSpPr>
        <p:spPr>
          <a:xfrm>
            <a:off x="7301160" y="1024920"/>
            <a:ext cx="18770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Loopless + Symmetrisch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1" name="Grafik 392"/>
          <p:cNvPicPr/>
          <p:nvPr/>
        </p:nvPicPr>
        <p:blipFill>
          <a:blip r:embed="rId3"/>
          <a:stretch/>
        </p:blipFill>
        <p:spPr>
          <a:xfrm>
            <a:off x="5333760" y="2160000"/>
            <a:ext cx="2405880" cy="2380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86;p 17"/>
          <p:cNvSpPr/>
          <p:nvPr/>
        </p:nvSpPr>
        <p:spPr>
          <a:xfrm>
            <a:off x="1569600" y="6417360"/>
            <a:ext cx="43549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1680" cy="573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SimpleGraph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Google Shape;89;p 17"/>
          <p:cNvSpPr/>
          <p:nvPr/>
        </p:nvSpPr>
        <p:spPr>
          <a:xfrm>
            <a:off x="589680" y="6417360"/>
            <a:ext cx="746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PlaceHolder 2"/>
          <p:cNvSpPr>
            <a:spLocks noGrp="1"/>
          </p:cNvSpPr>
          <p:nvPr>
            <p:ph type="sldNum" idx="58"/>
          </p:nvPr>
        </p:nvSpPr>
        <p:spPr>
          <a:xfrm>
            <a:off x="11473200" y="6414480"/>
            <a:ext cx="259920" cy="2466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E0781AD-DC59-4BC6-A058-772711C7BF22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45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06" name="Grafik 21"/>
          <p:cNvPicPr/>
          <p:nvPr/>
        </p:nvPicPr>
        <p:blipFill>
          <a:blip r:embed="rId1"/>
          <a:stretch/>
        </p:blipFill>
        <p:spPr>
          <a:xfrm>
            <a:off x="900000" y="1734480"/>
            <a:ext cx="7558200" cy="243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07" name="Grafik 22"/>
          <p:cNvPicPr/>
          <p:nvPr/>
        </p:nvPicPr>
        <p:blipFill>
          <a:blip r:embed="rId2"/>
          <a:stretch/>
        </p:blipFill>
        <p:spPr>
          <a:xfrm>
            <a:off x="891000" y="2160000"/>
            <a:ext cx="4147200" cy="11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8" name="Pfeil: nach rechts 16"/>
          <p:cNvSpPr/>
          <p:nvPr/>
        </p:nvSpPr>
        <p:spPr>
          <a:xfrm rot="9762600">
            <a:off x="6336720" y="1211040"/>
            <a:ext cx="934200" cy="3812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09" name="Textfeld 15"/>
          <p:cNvSpPr/>
          <p:nvPr/>
        </p:nvSpPr>
        <p:spPr>
          <a:xfrm>
            <a:off x="7301160" y="1024920"/>
            <a:ext cx="18770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Loopless + Symmetrisch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Gerader Verbinder 3"/>
          <p:cNvSpPr/>
          <p:nvPr/>
        </p:nvSpPr>
        <p:spPr>
          <a:xfrm>
            <a:off x="720000" y="3492000"/>
            <a:ext cx="10440000" cy="360"/>
          </a:xfrm>
          <a:prstGeom prst="line">
            <a:avLst/>
          </a:prstGeom>
          <a:ln w="0">
            <a:solidFill>
              <a:srgbClr val="E0051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-45000" rIns="90000" bIns="-4500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1" name="Grafik 23"/>
          <p:cNvPicPr/>
          <p:nvPr/>
        </p:nvPicPr>
        <p:blipFill>
          <a:blip r:embed="rId3"/>
          <a:stretch/>
        </p:blipFill>
        <p:spPr>
          <a:xfrm>
            <a:off x="865440" y="3960000"/>
            <a:ext cx="9663480" cy="1438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86;p 21"/>
          <p:cNvSpPr/>
          <p:nvPr/>
        </p:nvSpPr>
        <p:spPr>
          <a:xfrm>
            <a:off x="1569600" y="6417360"/>
            <a:ext cx="43549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1680" cy="573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SimpleGraph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Google Shape;89;p 21"/>
          <p:cNvSpPr/>
          <p:nvPr/>
        </p:nvSpPr>
        <p:spPr>
          <a:xfrm>
            <a:off x="589680" y="6417360"/>
            <a:ext cx="746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PlaceHolder 2"/>
          <p:cNvSpPr>
            <a:spLocks noGrp="1"/>
          </p:cNvSpPr>
          <p:nvPr>
            <p:ph type="sldNum" idx="59"/>
          </p:nvPr>
        </p:nvSpPr>
        <p:spPr>
          <a:xfrm>
            <a:off x="11473200" y="6414480"/>
            <a:ext cx="259920" cy="2466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CB60F23-F1FC-4A5A-934C-9B80B04F34F3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46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16" name="Grafik 30"/>
          <p:cNvPicPr/>
          <p:nvPr/>
        </p:nvPicPr>
        <p:blipFill>
          <a:blip r:embed="rId1"/>
          <a:stretch/>
        </p:blipFill>
        <p:spPr>
          <a:xfrm>
            <a:off x="900000" y="1734480"/>
            <a:ext cx="7558200" cy="243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7" name="Grafik 31"/>
          <p:cNvPicPr/>
          <p:nvPr/>
        </p:nvPicPr>
        <p:blipFill>
          <a:blip r:embed="rId2"/>
          <a:stretch/>
        </p:blipFill>
        <p:spPr>
          <a:xfrm>
            <a:off x="891000" y="2160000"/>
            <a:ext cx="4147200" cy="11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8" name="Pfeil: nach rechts 19"/>
          <p:cNvSpPr/>
          <p:nvPr/>
        </p:nvSpPr>
        <p:spPr>
          <a:xfrm rot="9762600">
            <a:off x="6336720" y="1211040"/>
            <a:ext cx="934200" cy="3812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19" name="Textfeld 26"/>
          <p:cNvSpPr/>
          <p:nvPr/>
        </p:nvSpPr>
        <p:spPr>
          <a:xfrm>
            <a:off x="7301160" y="1024920"/>
            <a:ext cx="18770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Loopless + Symmetrisch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Gerader Verbinder 4"/>
          <p:cNvSpPr/>
          <p:nvPr/>
        </p:nvSpPr>
        <p:spPr>
          <a:xfrm>
            <a:off x="720000" y="3492000"/>
            <a:ext cx="10440000" cy="360"/>
          </a:xfrm>
          <a:prstGeom prst="line">
            <a:avLst/>
          </a:prstGeom>
          <a:ln w="0">
            <a:solidFill>
              <a:srgbClr val="E0051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-45000" rIns="90000" bIns="-4500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1" name="Grafik 32"/>
          <p:cNvPicPr/>
          <p:nvPr/>
        </p:nvPicPr>
        <p:blipFill>
          <a:blip r:embed="rId3"/>
          <a:stretch/>
        </p:blipFill>
        <p:spPr>
          <a:xfrm>
            <a:off x="865440" y="3960000"/>
            <a:ext cx="9663480" cy="143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2" name="Pfeil: nach rechts 21"/>
          <p:cNvSpPr/>
          <p:nvPr/>
        </p:nvSpPr>
        <p:spPr>
          <a:xfrm rot="12480000">
            <a:off x="6695280" y="5418360"/>
            <a:ext cx="934200" cy="3812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feld 28"/>
          <p:cNvSpPr/>
          <p:nvPr/>
        </p:nvSpPr>
        <p:spPr>
          <a:xfrm>
            <a:off x="7380000" y="5760000"/>
            <a:ext cx="18770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Grundannahmen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4" name="Grafik 415"/>
          <p:cNvPicPr/>
          <p:nvPr/>
        </p:nvPicPr>
        <p:blipFill>
          <a:blip r:embed="rId1"/>
          <a:stretch/>
        </p:blipFill>
        <p:spPr>
          <a:xfrm>
            <a:off x="1800000" y="2160000"/>
            <a:ext cx="9143280" cy="2656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5" name="Google Shape;86;p 6"/>
          <p:cNvSpPr/>
          <p:nvPr/>
        </p:nvSpPr>
        <p:spPr>
          <a:xfrm>
            <a:off x="1569600" y="6417360"/>
            <a:ext cx="43549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1680" cy="573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Zustand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Google Shape;89;p 6"/>
          <p:cNvSpPr/>
          <p:nvPr/>
        </p:nvSpPr>
        <p:spPr>
          <a:xfrm>
            <a:off x="589680" y="6417360"/>
            <a:ext cx="746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PlaceHolder 2"/>
          <p:cNvSpPr>
            <a:spLocks noGrp="1"/>
          </p:cNvSpPr>
          <p:nvPr>
            <p:ph type="sldNum" idx="60"/>
          </p:nvPr>
        </p:nvSpPr>
        <p:spPr>
          <a:xfrm>
            <a:off x="11473200" y="6414840"/>
            <a:ext cx="273240" cy="2466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26E476E-961B-4B3E-A7EA-FB6FB749D896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47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9" name="Rechteck 420"/>
          <p:cNvSpPr/>
          <p:nvPr/>
        </p:nvSpPr>
        <p:spPr>
          <a:xfrm flipV="1">
            <a:off x="1980000" y="3022560"/>
            <a:ext cx="8819640" cy="201564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86;p 22"/>
          <p:cNvSpPr/>
          <p:nvPr/>
        </p:nvSpPr>
        <p:spPr>
          <a:xfrm>
            <a:off x="1569600" y="6417360"/>
            <a:ext cx="43549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1680" cy="573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Zustand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Google Shape;89;p 22"/>
          <p:cNvSpPr/>
          <p:nvPr/>
        </p:nvSpPr>
        <p:spPr>
          <a:xfrm>
            <a:off x="589680" y="6417360"/>
            <a:ext cx="746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PlaceHolder 2"/>
          <p:cNvSpPr>
            <a:spLocks noGrp="1"/>
          </p:cNvSpPr>
          <p:nvPr>
            <p:ph type="sldNum" idx="61"/>
          </p:nvPr>
        </p:nvSpPr>
        <p:spPr>
          <a:xfrm>
            <a:off x="11473200" y="6414840"/>
            <a:ext cx="273240" cy="2466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411CC0C-E126-4BA8-9AB5-238270E96BD1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48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34" name="Grafik 425"/>
          <p:cNvPicPr/>
          <p:nvPr/>
        </p:nvPicPr>
        <p:blipFill>
          <a:blip r:embed="rId1"/>
          <a:stretch/>
        </p:blipFill>
        <p:spPr>
          <a:xfrm>
            <a:off x="1800360" y="2160000"/>
            <a:ext cx="9143280" cy="2656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5" name="Rechteck 426"/>
          <p:cNvSpPr/>
          <p:nvPr/>
        </p:nvSpPr>
        <p:spPr>
          <a:xfrm flipV="1">
            <a:off x="1980360" y="2374560"/>
            <a:ext cx="8819640" cy="68364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86;p 25"/>
          <p:cNvSpPr/>
          <p:nvPr/>
        </p:nvSpPr>
        <p:spPr>
          <a:xfrm>
            <a:off x="1569600" y="6417360"/>
            <a:ext cx="43549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1680" cy="573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Zustand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Google Shape;89;p 25"/>
          <p:cNvSpPr/>
          <p:nvPr/>
        </p:nvSpPr>
        <p:spPr>
          <a:xfrm>
            <a:off x="589680" y="6417360"/>
            <a:ext cx="746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PlaceHolder 2"/>
          <p:cNvSpPr>
            <a:spLocks noGrp="1"/>
          </p:cNvSpPr>
          <p:nvPr>
            <p:ph type="sldNum" idx="62"/>
          </p:nvPr>
        </p:nvSpPr>
        <p:spPr>
          <a:xfrm>
            <a:off x="11473200" y="6414840"/>
            <a:ext cx="273240" cy="2466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B8680FE-0E00-40EC-8417-BB7325FA1A10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49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0" name="Pfeil: nach rechts 10"/>
          <p:cNvSpPr/>
          <p:nvPr/>
        </p:nvSpPr>
        <p:spPr>
          <a:xfrm rot="12480000">
            <a:off x="6515280" y="4878360"/>
            <a:ext cx="934200" cy="3812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41" name="Textfeld 16"/>
          <p:cNvSpPr/>
          <p:nvPr/>
        </p:nvSpPr>
        <p:spPr>
          <a:xfrm>
            <a:off x="7200000" y="5220000"/>
            <a:ext cx="18770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Grundannahmen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42" name="Grafik 433"/>
          <p:cNvPicPr/>
          <p:nvPr/>
        </p:nvPicPr>
        <p:blipFill>
          <a:blip r:embed="rId1"/>
          <a:stretch/>
        </p:blipFill>
        <p:spPr>
          <a:xfrm>
            <a:off x="1800720" y="2160360"/>
            <a:ext cx="9143280" cy="2656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3" name="Rechteck 434"/>
          <p:cNvSpPr/>
          <p:nvPr/>
        </p:nvSpPr>
        <p:spPr>
          <a:xfrm flipV="1">
            <a:off x="1980720" y="2374920"/>
            <a:ext cx="8819640" cy="68364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PlaceHolder 1"/>
          <p:cNvSpPr>
            <a:spLocks noGrp="1"/>
          </p:cNvSpPr>
          <p:nvPr>
            <p:ph/>
          </p:nvPr>
        </p:nvSpPr>
        <p:spPr>
          <a:xfrm>
            <a:off x="696240" y="4841280"/>
            <a:ext cx="7620120" cy="8787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Die Übersetzung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Titel 3"/>
          <p:cNvSpPr/>
          <p:nvPr/>
        </p:nvSpPr>
        <p:spPr>
          <a:xfrm>
            <a:off x="696240" y="3833640"/>
            <a:ext cx="76201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b">
            <a:normAutofit/>
          </a:bodyPr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Von Alloy nach Lean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86;p 19"/>
          <p:cNvSpPr/>
          <p:nvPr/>
        </p:nvSpPr>
        <p:spPr>
          <a:xfrm>
            <a:off x="1569600" y="6417360"/>
            <a:ext cx="43549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1680" cy="573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Wie Alloy in Lean übersetzen?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Google Shape;89;p 19"/>
          <p:cNvSpPr/>
          <p:nvPr/>
        </p:nvSpPr>
        <p:spPr>
          <a:xfrm>
            <a:off x="589680" y="6417360"/>
            <a:ext cx="746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PlaceHolder 2"/>
          <p:cNvSpPr>
            <a:spLocks noGrp="1"/>
          </p:cNvSpPr>
          <p:nvPr>
            <p:ph type="sldNum" idx="63"/>
          </p:nvPr>
        </p:nvSpPr>
        <p:spPr>
          <a:xfrm>
            <a:off x="11473200" y="6414480"/>
            <a:ext cx="239760" cy="2466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87F4DD3-A10D-4FC5-96A3-3F2405C672E5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51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0" name="Textfeld 21"/>
          <p:cNvSpPr/>
          <p:nvPr/>
        </p:nvSpPr>
        <p:spPr>
          <a:xfrm>
            <a:off x="2701440" y="2160000"/>
            <a:ext cx="6838560" cy="257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schrittGrob[p: PERSON, von, nach: RAUM]{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//pre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 in von.personenImOrtGrob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some t: TUER | t in von.nachbarn and t in nach.nachbarn and t.offen in True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//post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von.personenImOrtGrob' = von.personenImOrtGrob - p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nach.personenImOrtGrob' = nach.personenImOrtGrob + p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//frame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o: ORT - (von + nach) | o.personenImOrtGrob' = o.personenImOrtGrob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86;p 26"/>
          <p:cNvSpPr/>
          <p:nvPr/>
        </p:nvSpPr>
        <p:spPr>
          <a:xfrm>
            <a:off x="1569600" y="6417360"/>
            <a:ext cx="43549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1680" cy="573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Wie Alloy in Lean übersetzen?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Google Shape;89;p 26"/>
          <p:cNvSpPr/>
          <p:nvPr/>
        </p:nvSpPr>
        <p:spPr>
          <a:xfrm>
            <a:off x="589680" y="6417360"/>
            <a:ext cx="746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PlaceHolder 2"/>
          <p:cNvSpPr>
            <a:spLocks noGrp="1"/>
          </p:cNvSpPr>
          <p:nvPr>
            <p:ph type="sldNum" idx="64"/>
          </p:nvPr>
        </p:nvSpPr>
        <p:spPr>
          <a:xfrm>
            <a:off x="11473200" y="6414480"/>
            <a:ext cx="239760" cy="2466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96E566F-CE4D-4FB9-A511-E26D78110191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52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5" name="Pfeil: nach rechts 9"/>
          <p:cNvSpPr/>
          <p:nvPr/>
        </p:nvSpPr>
        <p:spPr>
          <a:xfrm rot="10800000">
            <a:off x="9391680" y="2859480"/>
            <a:ext cx="934200" cy="3812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56" name="Textfeld 18"/>
          <p:cNvSpPr/>
          <p:nvPr/>
        </p:nvSpPr>
        <p:spPr>
          <a:xfrm>
            <a:off x="10002960" y="2916000"/>
            <a:ext cx="18770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Vorbedingungen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Textfeld 2"/>
          <p:cNvSpPr/>
          <p:nvPr/>
        </p:nvSpPr>
        <p:spPr>
          <a:xfrm>
            <a:off x="2701440" y="2160360"/>
            <a:ext cx="6838560" cy="257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schrittGrob[p: PERSON, von, nach: RAUM]{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//pre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 in von.personenImOrtGrob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some t: TUER | t in von.nachbarn and t in nach.nachbarn and t.offen in True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//post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von.personenImOrtGrob' = von.personenImOrtGrob - p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nach.personenImOrtGrob' = nach.personenImOrtGrob + p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//frame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o: ORT - (von + nach) | o.personenImOrtGrob' = o.personenImOrtGrob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86;p 27"/>
          <p:cNvSpPr/>
          <p:nvPr/>
        </p:nvSpPr>
        <p:spPr>
          <a:xfrm>
            <a:off x="1569600" y="6417360"/>
            <a:ext cx="43549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1680" cy="573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Wie Alloy in Lean übersetzen?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Google Shape;89;p 27"/>
          <p:cNvSpPr/>
          <p:nvPr/>
        </p:nvSpPr>
        <p:spPr>
          <a:xfrm>
            <a:off x="589680" y="6417360"/>
            <a:ext cx="746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PlaceHolder 2"/>
          <p:cNvSpPr>
            <a:spLocks noGrp="1"/>
          </p:cNvSpPr>
          <p:nvPr>
            <p:ph type="sldNum" idx="65"/>
          </p:nvPr>
        </p:nvSpPr>
        <p:spPr>
          <a:xfrm>
            <a:off x="11473200" y="6414480"/>
            <a:ext cx="239760" cy="2466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DD8BB5E-1D4C-4777-B9C0-2C2F1D5741E8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53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2" name="Pfeil: nach rechts 18"/>
          <p:cNvSpPr/>
          <p:nvPr/>
        </p:nvSpPr>
        <p:spPr>
          <a:xfrm>
            <a:off x="2520000" y="3492000"/>
            <a:ext cx="934200" cy="3812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63" name="Textfeld 30"/>
          <p:cNvSpPr/>
          <p:nvPr/>
        </p:nvSpPr>
        <p:spPr>
          <a:xfrm>
            <a:off x="677520" y="3537720"/>
            <a:ext cx="18770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Nachbedingungen + Aktion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Textfeld 14"/>
          <p:cNvSpPr/>
          <p:nvPr/>
        </p:nvSpPr>
        <p:spPr>
          <a:xfrm>
            <a:off x="2701440" y="2160360"/>
            <a:ext cx="6838560" cy="257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schrittGrob[p: PERSON, von, nach: RAUM]{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//pre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 in von.personenImOrtGrob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some t: TUER | t in von.nachbarn and t in nach.nachbarn and t.offen in True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//post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von.personenImOrtGrob' = von.personenImOrtGrob - p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nach.personenImOrtGrob' = nach.personenImOrtGrob + p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//frame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o: ORT - (von + nach) | o.personenImOrtGrob' = o.personenImOrtGrob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Pfeil: nach rechts 1"/>
          <p:cNvSpPr/>
          <p:nvPr/>
        </p:nvSpPr>
        <p:spPr>
          <a:xfrm rot="10800000">
            <a:off x="9391680" y="2859840"/>
            <a:ext cx="934200" cy="3812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66" name="Textfeld 19"/>
          <p:cNvSpPr/>
          <p:nvPr/>
        </p:nvSpPr>
        <p:spPr>
          <a:xfrm>
            <a:off x="10002960" y="2916360"/>
            <a:ext cx="18770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Vorbedingungen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86;p 28"/>
          <p:cNvSpPr/>
          <p:nvPr/>
        </p:nvSpPr>
        <p:spPr>
          <a:xfrm>
            <a:off x="1569600" y="6417360"/>
            <a:ext cx="43549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1680" cy="573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Wie Alloy in Lean übersetzen?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9" name="Google Shape;89;p 28"/>
          <p:cNvSpPr/>
          <p:nvPr/>
        </p:nvSpPr>
        <p:spPr>
          <a:xfrm>
            <a:off x="589680" y="6417360"/>
            <a:ext cx="746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0" name="PlaceHolder 2"/>
          <p:cNvSpPr>
            <a:spLocks noGrp="1"/>
          </p:cNvSpPr>
          <p:nvPr>
            <p:ph type="sldNum" idx="66"/>
          </p:nvPr>
        </p:nvSpPr>
        <p:spPr>
          <a:xfrm>
            <a:off x="11473200" y="6414480"/>
            <a:ext cx="239760" cy="2466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447E727-3062-4B6D-9BE0-1DE5B24B65BE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54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1" name="Pfeil: nach rechts 24"/>
          <p:cNvSpPr/>
          <p:nvPr/>
        </p:nvSpPr>
        <p:spPr>
          <a:xfrm rot="13020000">
            <a:off x="7580880" y="4743720"/>
            <a:ext cx="934200" cy="3812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feld 32"/>
          <p:cNvSpPr/>
          <p:nvPr/>
        </p:nvSpPr>
        <p:spPr>
          <a:xfrm>
            <a:off x="8129520" y="5157720"/>
            <a:ext cx="18770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Basisannahmen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Textfeld 17"/>
          <p:cNvSpPr/>
          <p:nvPr/>
        </p:nvSpPr>
        <p:spPr>
          <a:xfrm>
            <a:off x="2701440" y="2160360"/>
            <a:ext cx="6838560" cy="257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schrittGrob[p: PERSON, von, nach: RAUM]{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//pre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 in von.personenImOrtGrob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some t: TUER | t in von.nachbarn and t in nach.nachbarn and t.offen in True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//post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von.personenImOrtGrob' = von.personenImOrtGrob - p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nach.personenImOrtGrob' = nach.personenImOrtGrob + p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//frame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o: ORT - (von + nach) | o.personenImOrtGrob' = o.personenImOrtGrob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Pfeil: nach rechts 3"/>
          <p:cNvSpPr/>
          <p:nvPr/>
        </p:nvSpPr>
        <p:spPr>
          <a:xfrm rot="10800000">
            <a:off x="9391680" y="2859840"/>
            <a:ext cx="934200" cy="3812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75" name="Textfeld 20"/>
          <p:cNvSpPr/>
          <p:nvPr/>
        </p:nvSpPr>
        <p:spPr>
          <a:xfrm>
            <a:off x="10002960" y="2916360"/>
            <a:ext cx="18770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Vorbedingungen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Pfeil: nach rechts 11"/>
          <p:cNvSpPr/>
          <p:nvPr/>
        </p:nvSpPr>
        <p:spPr>
          <a:xfrm>
            <a:off x="2520360" y="3492360"/>
            <a:ext cx="934200" cy="3812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77" name="Textfeld 23"/>
          <p:cNvSpPr/>
          <p:nvPr/>
        </p:nvSpPr>
        <p:spPr>
          <a:xfrm>
            <a:off x="677880" y="3538080"/>
            <a:ext cx="18770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Nachbedingungen + Aktion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86;p 20"/>
          <p:cNvSpPr/>
          <p:nvPr/>
        </p:nvSpPr>
        <p:spPr>
          <a:xfrm>
            <a:off x="1569600" y="6417360"/>
            <a:ext cx="43549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1680" cy="573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Übersetzung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0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7554600" cy="4570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50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`pre_` bezeichnet eine Vorbedingung. 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50000"/>
              <a:buFont typeface="Wingdings" charset="2"/>
              <a:buChar char=""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`post_` bezeichnet eine Nachbedingung.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50000"/>
              <a:buFont typeface="Wingdings" charset="2"/>
              <a:buChar char=""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`frame_` bezeichnet Eigenschaften, die unverändert bleiben.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50000"/>
              <a:buFont typeface="Wingdings" charset="2"/>
              <a:buChar char=""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`aktion_` bezeichnet die eigentliche Zustandsänderung.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50000"/>
              <a:buFont typeface="Wingdings" charset="2"/>
              <a:buChar char=""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`...Schritt` bezeichnet eine vollständige Übergangsrelation.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Google Shape;89;p 20"/>
          <p:cNvSpPr/>
          <p:nvPr/>
        </p:nvSpPr>
        <p:spPr>
          <a:xfrm>
            <a:off x="589680" y="6417360"/>
            <a:ext cx="746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PlaceHolder 3"/>
          <p:cNvSpPr>
            <a:spLocks noGrp="1"/>
          </p:cNvSpPr>
          <p:nvPr>
            <p:ph type="sldNum" idx="67"/>
          </p:nvPr>
        </p:nvSpPr>
        <p:spPr>
          <a:xfrm>
            <a:off x="11473200" y="6414480"/>
            <a:ext cx="259920" cy="2466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EA53640-3399-460E-9D8B-41078DB6304A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55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3" name="PlaceHolder 6"/>
          <p:cNvSpPr/>
          <p:nvPr/>
        </p:nvSpPr>
        <p:spPr>
          <a:xfrm>
            <a:off x="8069760" y="1404000"/>
            <a:ext cx="2101680" cy="269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normAutofit lnSpcReduction="9999"/>
          </a:bodyPr>
          <a:p>
            <a:pPr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0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}</a:t>
            </a:r>
            <a:endParaRPr lang="de-DE" sz="20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4" name="PlaceHolder 11"/>
          <p:cNvSpPr/>
          <p:nvPr/>
        </p:nvSpPr>
        <p:spPr>
          <a:xfrm>
            <a:off x="9301320" y="2436120"/>
            <a:ext cx="1183320" cy="39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normAutofit/>
          </a:bodyPr>
          <a:p>
            <a:pPr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Beweise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PlaceHolder 1"/>
          <p:cNvSpPr>
            <a:spLocks noGrp="1"/>
          </p:cNvSpPr>
          <p:nvPr>
            <p:ph/>
          </p:nvPr>
        </p:nvSpPr>
        <p:spPr>
          <a:xfrm>
            <a:off x="696240" y="4841280"/>
            <a:ext cx="7620120" cy="8787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betreteTuer als Beispiel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Titel 8"/>
          <p:cNvSpPr/>
          <p:nvPr/>
        </p:nvSpPr>
        <p:spPr>
          <a:xfrm>
            <a:off x="696240" y="3833640"/>
            <a:ext cx="76201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b">
            <a:normAutofit/>
          </a:bodyPr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Beispiel: verfeinertes Modell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87" name="Grafik 369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300000" y="5040000"/>
            <a:ext cx="5474880" cy="1521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86;p 9"/>
          <p:cNvSpPr/>
          <p:nvPr/>
        </p:nvSpPr>
        <p:spPr>
          <a:xfrm>
            <a:off x="1569600" y="6417360"/>
            <a:ext cx="43549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9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1680" cy="573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Modell: betrete Tür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0" name="Google Shape;89;p 9"/>
          <p:cNvSpPr/>
          <p:nvPr/>
        </p:nvSpPr>
        <p:spPr>
          <a:xfrm>
            <a:off x="589680" y="6417360"/>
            <a:ext cx="746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PlaceHolder 2"/>
          <p:cNvSpPr>
            <a:spLocks noGrp="1"/>
          </p:cNvSpPr>
          <p:nvPr>
            <p:ph type="sldNum" idx="68"/>
          </p:nvPr>
        </p:nvSpPr>
        <p:spPr>
          <a:xfrm>
            <a:off x="11473200" y="6414480"/>
            <a:ext cx="172080" cy="2466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B3E4439-B96F-4C1A-9B7C-4E85C15DB8A8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57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92" name="Grafik 24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843360" y="4364640"/>
            <a:ext cx="4597200" cy="855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93" name="Grafik 25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3938040" y="2550960"/>
            <a:ext cx="4407840" cy="1017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94" name="Grafik 26"/>
          <p:cNvPicPr/>
          <p:nvPr/>
        </p:nvPicPr>
        <p:blipFill>
          <a:blip r:embed="rId5"/>
          <a:stretch/>
        </p:blipFill>
        <p:spPr>
          <a:xfrm>
            <a:off x="4628520" y="2040480"/>
            <a:ext cx="822600" cy="993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95" name="Grafik 27"/>
          <p:cNvPicPr/>
          <p:nvPr/>
        </p:nvPicPr>
        <p:blipFill>
          <a:blip r:embed="rId6"/>
          <a:stretch/>
        </p:blipFill>
        <p:spPr>
          <a:xfrm>
            <a:off x="5619600" y="3749040"/>
            <a:ext cx="822600" cy="993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96" name="Grafik 28"/>
          <p:cNvPicPr/>
          <p:nvPr/>
        </p:nvPicPr>
        <p:blipFill>
          <a:blip r:embed="rId7"/>
          <a:stretch/>
        </p:blipFill>
        <p:spPr>
          <a:xfrm>
            <a:off x="3782520" y="1766160"/>
            <a:ext cx="844200" cy="1208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97" name="Grafik 29"/>
          <p:cNvPicPr/>
          <p:nvPr/>
        </p:nvPicPr>
        <p:blipFill>
          <a:blip r:embed="rId8"/>
          <a:stretch/>
        </p:blipFill>
        <p:spPr>
          <a:xfrm>
            <a:off x="3600000" y="3578040"/>
            <a:ext cx="844200" cy="120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8" name="Rechteck 382"/>
          <p:cNvSpPr/>
          <p:nvPr/>
        </p:nvSpPr>
        <p:spPr>
          <a:xfrm>
            <a:off x="1296360" y="5860080"/>
            <a:ext cx="979128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3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ist in Raum A             ˄             betreteTuer             ˄             ist in Tür             ˄              verlasseTuer             →             ist in Raum B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86;p 14"/>
          <p:cNvSpPr/>
          <p:nvPr/>
        </p:nvSpPr>
        <p:spPr>
          <a:xfrm>
            <a:off x="1569600" y="6417360"/>
            <a:ext cx="43549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1680" cy="573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Vorbedingung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Google Shape;89;p 14"/>
          <p:cNvSpPr/>
          <p:nvPr/>
        </p:nvSpPr>
        <p:spPr>
          <a:xfrm>
            <a:off x="589680" y="6417360"/>
            <a:ext cx="746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2" name="PlaceHolder 2"/>
          <p:cNvSpPr>
            <a:spLocks noGrp="1"/>
          </p:cNvSpPr>
          <p:nvPr>
            <p:ph type="sldNum" idx="69"/>
          </p:nvPr>
        </p:nvSpPr>
        <p:spPr>
          <a:xfrm>
            <a:off x="11473200" y="6414480"/>
            <a:ext cx="172080" cy="2466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43E8349-B022-4045-9267-F3D9F7E939EF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58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3" name="Rechteck 388"/>
          <p:cNvSpPr/>
          <p:nvPr/>
        </p:nvSpPr>
        <p:spPr>
          <a:xfrm>
            <a:off x="1800000" y="5874120"/>
            <a:ext cx="8486280" cy="25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ist in Raum A             ˄             betreteTuer             ˄             ist in Tür             ˄              verlasseTuer             →             ist in Raum 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Flussdiagramm: Prozess 389"/>
          <p:cNvSpPr/>
          <p:nvPr/>
        </p:nvSpPr>
        <p:spPr>
          <a:xfrm>
            <a:off x="1606680" y="5724000"/>
            <a:ext cx="1380240" cy="53892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760" tIns="59760" rIns="104760" bIns="5976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86;p 29"/>
          <p:cNvSpPr/>
          <p:nvPr/>
        </p:nvSpPr>
        <p:spPr>
          <a:xfrm>
            <a:off x="1569600" y="6417360"/>
            <a:ext cx="43549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6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1680" cy="573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Vorbedingung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7" name="Google Shape;89;p 29"/>
          <p:cNvSpPr/>
          <p:nvPr/>
        </p:nvSpPr>
        <p:spPr>
          <a:xfrm>
            <a:off x="589680" y="6417360"/>
            <a:ext cx="746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8" name="PlaceHolder 2"/>
          <p:cNvSpPr>
            <a:spLocks noGrp="1"/>
          </p:cNvSpPr>
          <p:nvPr>
            <p:ph type="sldNum" idx="70"/>
          </p:nvPr>
        </p:nvSpPr>
        <p:spPr>
          <a:xfrm>
            <a:off x="11473200" y="6414480"/>
            <a:ext cx="172080" cy="2466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2A7E991-33B6-40DD-8DC8-4875B72D42CD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59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09" name="Grafik 35"/>
          <p:cNvPicPr/>
          <p:nvPr/>
        </p:nvPicPr>
        <p:blipFill>
          <a:blip r:embed="rId1"/>
          <a:stretch/>
        </p:blipFill>
        <p:spPr>
          <a:xfrm>
            <a:off x="1577520" y="2340000"/>
            <a:ext cx="9041040" cy="215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0" name="Rechteck 2"/>
          <p:cNvSpPr/>
          <p:nvPr/>
        </p:nvSpPr>
        <p:spPr>
          <a:xfrm>
            <a:off x="1800000" y="5874120"/>
            <a:ext cx="83682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ist in Raum A             ˄             betreteTuer             ˄             ist in Tür             ˄              verlasseTuer             →             ist in Raum 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1" name="Flussdiagramm: Prozess 2"/>
          <p:cNvSpPr/>
          <p:nvPr/>
        </p:nvSpPr>
        <p:spPr>
          <a:xfrm>
            <a:off x="1606680" y="5724000"/>
            <a:ext cx="1380240" cy="53892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760" tIns="59760" rIns="104760" bIns="5976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86;p 10"/>
          <p:cNvSpPr/>
          <p:nvPr/>
        </p:nvSpPr>
        <p:spPr>
          <a:xfrm>
            <a:off x="1569600" y="6417360"/>
            <a:ext cx="43549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3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1680" cy="573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Aktion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4" name="Google Shape;89;p 10"/>
          <p:cNvSpPr/>
          <p:nvPr/>
        </p:nvSpPr>
        <p:spPr>
          <a:xfrm>
            <a:off x="589680" y="6417360"/>
            <a:ext cx="746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5" name="PlaceHolder 2"/>
          <p:cNvSpPr>
            <a:spLocks noGrp="1"/>
          </p:cNvSpPr>
          <p:nvPr>
            <p:ph type="sldNum" idx="71"/>
          </p:nvPr>
        </p:nvSpPr>
        <p:spPr>
          <a:xfrm>
            <a:off x="11473200" y="6414480"/>
            <a:ext cx="172080" cy="2466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0A8092E-AC0D-4D44-8976-05C515CDD4A5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60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6" name="Rechteck 394"/>
          <p:cNvSpPr/>
          <p:nvPr/>
        </p:nvSpPr>
        <p:spPr>
          <a:xfrm>
            <a:off x="1800000" y="5874480"/>
            <a:ext cx="8486280" cy="25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ist in Raum A             ˄             betreteTuer             ˄             ist in Tür             ˄              verlasseTuer             →             ist in Raum 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7" name="Flussdiagramm: Prozess 395"/>
          <p:cNvSpPr/>
          <p:nvPr/>
        </p:nvSpPr>
        <p:spPr>
          <a:xfrm>
            <a:off x="3528000" y="5760000"/>
            <a:ext cx="1380240" cy="53892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760" tIns="59760" rIns="104760" bIns="5976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86;p 30"/>
          <p:cNvSpPr/>
          <p:nvPr/>
        </p:nvSpPr>
        <p:spPr>
          <a:xfrm>
            <a:off x="1569600" y="6417360"/>
            <a:ext cx="43549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1680" cy="573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Aktion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0" name="Google Shape;89;p 30"/>
          <p:cNvSpPr/>
          <p:nvPr/>
        </p:nvSpPr>
        <p:spPr>
          <a:xfrm>
            <a:off x="589680" y="6417360"/>
            <a:ext cx="746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1" name="PlaceHolder 2"/>
          <p:cNvSpPr>
            <a:spLocks noGrp="1"/>
          </p:cNvSpPr>
          <p:nvPr>
            <p:ph type="sldNum" idx="72"/>
          </p:nvPr>
        </p:nvSpPr>
        <p:spPr>
          <a:xfrm>
            <a:off x="11473200" y="6414480"/>
            <a:ext cx="172080" cy="2466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0C9CE9C-744F-4A56-9694-A6EC6DBDBDF6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61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2" name="Rechteck 3"/>
          <p:cNvSpPr/>
          <p:nvPr/>
        </p:nvSpPr>
        <p:spPr>
          <a:xfrm>
            <a:off x="1800000" y="5874480"/>
            <a:ext cx="83682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ist in Raum A             ˄             betreteTuer             ˄             ist in Tür             ˄              verlasseTuer             →             ist in Raum 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3" name="Flussdiagramm: Prozess 3"/>
          <p:cNvSpPr/>
          <p:nvPr/>
        </p:nvSpPr>
        <p:spPr>
          <a:xfrm>
            <a:off x="3528000" y="5760000"/>
            <a:ext cx="1380240" cy="53892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760" tIns="59760" rIns="104760" bIns="5976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24" name="Grafik 38"/>
          <p:cNvPicPr/>
          <p:nvPr/>
        </p:nvPicPr>
        <p:blipFill>
          <a:blip r:embed="rId1"/>
          <a:stretch/>
        </p:blipFill>
        <p:spPr>
          <a:xfrm>
            <a:off x="2122920" y="2340000"/>
            <a:ext cx="8316000" cy="1756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86;p 7"/>
          <p:cNvSpPr/>
          <p:nvPr/>
        </p:nvSpPr>
        <p:spPr>
          <a:xfrm>
            <a:off x="1569600" y="6417360"/>
            <a:ext cx="43549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6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1680" cy="573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Nachbedingung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7" name="Google Shape;89;p 7"/>
          <p:cNvSpPr/>
          <p:nvPr/>
        </p:nvSpPr>
        <p:spPr>
          <a:xfrm>
            <a:off x="589680" y="6417360"/>
            <a:ext cx="746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PlaceHolder 2"/>
          <p:cNvSpPr>
            <a:spLocks noGrp="1"/>
          </p:cNvSpPr>
          <p:nvPr>
            <p:ph type="sldNum" idx="73"/>
          </p:nvPr>
        </p:nvSpPr>
        <p:spPr>
          <a:xfrm>
            <a:off x="11473200" y="6414480"/>
            <a:ext cx="172080" cy="2466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4FF2DCA-CC0A-4F5A-A43B-662D2C0C1599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62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9" name="Rechteck 402"/>
          <p:cNvSpPr/>
          <p:nvPr/>
        </p:nvSpPr>
        <p:spPr>
          <a:xfrm>
            <a:off x="1800000" y="5874480"/>
            <a:ext cx="8486280" cy="25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ist in Raum A             ˄             betreteTuer             ˄             ist in Tür             ˄              verlasseTuer             →             ist in Raum 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Flussdiagramm: Prozess 403"/>
          <p:cNvSpPr/>
          <p:nvPr/>
        </p:nvSpPr>
        <p:spPr>
          <a:xfrm>
            <a:off x="5328000" y="5760000"/>
            <a:ext cx="1132200" cy="53892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760" tIns="59760" rIns="104760" bIns="5976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86;p 31"/>
          <p:cNvSpPr/>
          <p:nvPr/>
        </p:nvSpPr>
        <p:spPr>
          <a:xfrm>
            <a:off x="1569600" y="6417360"/>
            <a:ext cx="43549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2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1680" cy="573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Nachbedingung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Google Shape;89;p 31"/>
          <p:cNvSpPr/>
          <p:nvPr/>
        </p:nvSpPr>
        <p:spPr>
          <a:xfrm>
            <a:off x="589680" y="6417360"/>
            <a:ext cx="746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PlaceHolder 2"/>
          <p:cNvSpPr>
            <a:spLocks noGrp="1"/>
          </p:cNvSpPr>
          <p:nvPr>
            <p:ph type="sldNum" idx="74"/>
          </p:nvPr>
        </p:nvSpPr>
        <p:spPr>
          <a:xfrm>
            <a:off x="11473200" y="6414480"/>
            <a:ext cx="172080" cy="2466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FDC84EE-D6E2-4180-BDCF-7CD35D430CD7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63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5" name="Rechteck 4"/>
          <p:cNvSpPr/>
          <p:nvPr/>
        </p:nvSpPr>
        <p:spPr>
          <a:xfrm>
            <a:off x="1800000" y="5874480"/>
            <a:ext cx="83682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ist in Raum A             ˄             betreteTuer             ˄             ist in Tür             ˄              verlasseTuer             →             ist in Raum 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6" name="Flussdiagramm: Prozess 4"/>
          <p:cNvSpPr/>
          <p:nvPr/>
        </p:nvSpPr>
        <p:spPr>
          <a:xfrm>
            <a:off x="5328000" y="5760000"/>
            <a:ext cx="1132200" cy="53892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760" tIns="59760" rIns="104760" bIns="5976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7" name="Grafik 528"/>
          <p:cNvPicPr/>
          <p:nvPr/>
        </p:nvPicPr>
        <p:blipFill>
          <a:blip r:embed="rId1"/>
          <a:stretch/>
        </p:blipFill>
        <p:spPr>
          <a:xfrm>
            <a:off x="720000" y="2520000"/>
            <a:ext cx="10820160" cy="1181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86;p 11"/>
          <p:cNvSpPr/>
          <p:nvPr/>
        </p:nvSpPr>
        <p:spPr>
          <a:xfrm>
            <a:off x="1569600" y="6417360"/>
            <a:ext cx="43549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9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1680" cy="573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Schritt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0" name="Google Shape;89;p 11"/>
          <p:cNvSpPr/>
          <p:nvPr/>
        </p:nvSpPr>
        <p:spPr>
          <a:xfrm>
            <a:off x="589680" y="6417360"/>
            <a:ext cx="746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1" name="PlaceHolder 2"/>
          <p:cNvSpPr>
            <a:spLocks noGrp="1"/>
          </p:cNvSpPr>
          <p:nvPr>
            <p:ph type="sldNum" idx="75"/>
          </p:nvPr>
        </p:nvSpPr>
        <p:spPr>
          <a:xfrm>
            <a:off x="11473200" y="6414480"/>
            <a:ext cx="172080" cy="2466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8C288F0-7C8D-4951-A7B3-B6B02DA3D324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64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2" name="Rechteck 409"/>
          <p:cNvSpPr/>
          <p:nvPr/>
        </p:nvSpPr>
        <p:spPr>
          <a:xfrm>
            <a:off x="1800000" y="5874480"/>
            <a:ext cx="854244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ist in Raum A             →             betreteTuer             →             ist in Tür             →              verlasseTuer             →             ist in Raum 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3" name="Flussdiagramm: Prozess 410"/>
          <p:cNvSpPr/>
          <p:nvPr/>
        </p:nvSpPr>
        <p:spPr>
          <a:xfrm>
            <a:off x="1620000" y="5760000"/>
            <a:ext cx="5088600" cy="53892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760" tIns="59760" rIns="104760" bIns="5976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86;p 32"/>
          <p:cNvSpPr/>
          <p:nvPr/>
        </p:nvSpPr>
        <p:spPr>
          <a:xfrm>
            <a:off x="1569600" y="6417360"/>
            <a:ext cx="43549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1680" cy="573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Schritt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6" name="Google Shape;89;p 32"/>
          <p:cNvSpPr/>
          <p:nvPr/>
        </p:nvSpPr>
        <p:spPr>
          <a:xfrm>
            <a:off x="589680" y="6417360"/>
            <a:ext cx="746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7" name="PlaceHolder 2"/>
          <p:cNvSpPr>
            <a:spLocks noGrp="1"/>
          </p:cNvSpPr>
          <p:nvPr>
            <p:ph type="sldNum" idx="76"/>
          </p:nvPr>
        </p:nvSpPr>
        <p:spPr>
          <a:xfrm>
            <a:off x="11473200" y="6414480"/>
            <a:ext cx="172080" cy="2466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5F2D2FE-325F-4B26-86F2-A7D2EDD45590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65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48" name="Grafik 40"/>
          <p:cNvPicPr/>
          <p:nvPr/>
        </p:nvPicPr>
        <p:blipFill>
          <a:blip r:embed="rId1"/>
          <a:stretch/>
        </p:blipFill>
        <p:spPr>
          <a:xfrm>
            <a:off x="1707120" y="1932840"/>
            <a:ext cx="8551440" cy="269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9" name="Rechteck 5"/>
          <p:cNvSpPr/>
          <p:nvPr/>
        </p:nvSpPr>
        <p:spPr>
          <a:xfrm>
            <a:off x="1800000" y="5874480"/>
            <a:ext cx="85428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ist in Raum A             →             betreteTuer             →             ist in Tür             →              verlasseTuer             →             ist in Raum 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0" name="Flussdiagramm: Prozess 5"/>
          <p:cNvSpPr/>
          <p:nvPr/>
        </p:nvSpPr>
        <p:spPr>
          <a:xfrm>
            <a:off x="1620000" y="5760000"/>
            <a:ext cx="5088600" cy="53892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760" tIns="59760" rIns="104760" bIns="5976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86;p 35"/>
          <p:cNvSpPr/>
          <p:nvPr/>
        </p:nvSpPr>
        <p:spPr>
          <a:xfrm>
            <a:off x="1569600" y="6417360"/>
            <a:ext cx="43549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2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1680" cy="573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Schritt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3" name="Google Shape;89;p 35"/>
          <p:cNvSpPr/>
          <p:nvPr/>
        </p:nvSpPr>
        <p:spPr>
          <a:xfrm>
            <a:off x="589680" y="6417360"/>
            <a:ext cx="746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4" name="PlaceHolder 2"/>
          <p:cNvSpPr>
            <a:spLocks noGrp="1"/>
          </p:cNvSpPr>
          <p:nvPr>
            <p:ph type="sldNum" idx="77"/>
          </p:nvPr>
        </p:nvSpPr>
        <p:spPr>
          <a:xfrm>
            <a:off x="11473200" y="6414480"/>
            <a:ext cx="172080" cy="2466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B387F37-AB83-4709-B97A-7EB54549A452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66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55" name="Grafik 33"/>
          <p:cNvPicPr/>
          <p:nvPr/>
        </p:nvPicPr>
        <p:blipFill>
          <a:blip r:embed="rId1"/>
          <a:stretch/>
        </p:blipFill>
        <p:spPr>
          <a:xfrm>
            <a:off x="1707120" y="1932840"/>
            <a:ext cx="8551440" cy="269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6" name="Rechteck 8"/>
          <p:cNvSpPr/>
          <p:nvPr/>
        </p:nvSpPr>
        <p:spPr>
          <a:xfrm>
            <a:off x="1800000" y="5874480"/>
            <a:ext cx="85428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ist in Raum A             →             betreteTuer             →             ist in Tür             →              verlasseTuer             →             ist in Raum 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7" name="Flussdiagramm: Prozess 7"/>
          <p:cNvSpPr/>
          <p:nvPr/>
        </p:nvSpPr>
        <p:spPr>
          <a:xfrm>
            <a:off x="1620000" y="5760000"/>
            <a:ext cx="5088600" cy="53892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760" tIns="59760" rIns="104760" bIns="5976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8" name="Pfeil: nach rechts 12"/>
          <p:cNvSpPr/>
          <p:nvPr/>
        </p:nvSpPr>
        <p:spPr>
          <a:xfrm rot="10800000">
            <a:off x="7771320" y="2700360"/>
            <a:ext cx="934200" cy="3812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59" name="Textfeld 22"/>
          <p:cNvSpPr/>
          <p:nvPr/>
        </p:nvSpPr>
        <p:spPr>
          <a:xfrm>
            <a:off x="8382600" y="2756880"/>
            <a:ext cx="18770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Vorbedingungen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86;p 36"/>
          <p:cNvSpPr/>
          <p:nvPr/>
        </p:nvSpPr>
        <p:spPr>
          <a:xfrm>
            <a:off x="1569600" y="6417360"/>
            <a:ext cx="43549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1680" cy="573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Schritt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2" name="Google Shape;89;p 36"/>
          <p:cNvSpPr/>
          <p:nvPr/>
        </p:nvSpPr>
        <p:spPr>
          <a:xfrm>
            <a:off x="589680" y="6417360"/>
            <a:ext cx="746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3" name="PlaceHolder 2"/>
          <p:cNvSpPr>
            <a:spLocks noGrp="1"/>
          </p:cNvSpPr>
          <p:nvPr>
            <p:ph type="sldNum" idx="78"/>
          </p:nvPr>
        </p:nvSpPr>
        <p:spPr>
          <a:xfrm>
            <a:off x="11473200" y="6414480"/>
            <a:ext cx="172080" cy="2466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D311A64-DA9C-4BAD-B782-CBE943888BC0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67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64" name="Grafik 34"/>
          <p:cNvPicPr/>
          <p:nvPr/>
        </p:nvPicPr>
        <p:blipFill>
          <a:blip r:embed="rId1"/>
          <a:stretch/>
        </p:blipFill>
        <p:spPr>
          <a:xfrm>
            <a:off x="1707120" y="1932840"/>
            <a:ext cx="8551440" cy="269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5" name="Rechteck 9"/>
          <p:cNvSpPr/>
          <p:nvPr/>
        </p:nvSpPr>
        <p:spPr>
          <a:xfrm>
            <a:off x="1800000" y="5874480"/>
            <a:ext cx="85428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ist in Raum A             →             betreteTuer             →             ist in Tür             →              verlasseTuer             →             ist in Raum 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6" name="Flussdiagramm: Prozess 8"/>
          <p:cNvSpPr/>
          <p:nvPr/>
        </p:nvSpPr>
        <p:spPr>
          <a:xfrm>
            <a:off x="1620000" y="5760000"/>
            <a:ext cx="5088600" cy="53892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760" tIns="59760" rIns="104760" bIns="5976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7" name="Pfeil: nach rechts 15"/>
          <p:cNvSpPr/>
          <p:nvPr/>
        </p:nvSpPr>
        <p:spPr>
          <a:xfrm rot="10800000">
            <a:off x="7771320" y="2700360"/>
            <a:ext cx="934200" cy="3812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68" name="Textfeld 25"/>
          <p:cNvSpPr/>
          <p:nvPr/>
        </p:nvSpPr>
        <p:spPr>
          <a:xfrm>
            <a:off x="8382600" y="2756880"/>
            <a:ext cx="18770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Vorbedingungen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Pfeil: nach rechts 25"/>
          <p:cNvSpPr/>
          <p:nvPr/>
        </p:nvSpPr>
        <p:spPr>
          <a:xfrm rot="20400000">
            <a:off x="827640" y="3579120"/>
            <a:ext cx="934200" cy="3812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70" name="Textfeld 36"/>
          <p:cNvSpPr/>
          <p:nvPr/>
        </p:nvSpPr>
        <p:spPr>
          <a:xfrm>
            <a:off x="-366120" y="3852000"/>
            <a:ext cx="18770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Aktion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86;p 37"/>
          <p:cNvSpPr/>
          <p:nvPr/>
        </p:nvSpPr>
        <p:spPr>
          <a:xfrm>
            <a:off x="1569600" y="6417360"/>
            <a:ext cx="43549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2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1680" cy="573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Schritt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3" name="Google Shape;89;p 37"/>
          <p:cNvSpPr/>
          <p:nvPr/>
        </p:nvSpPr>
        <p:spPr>
          <a:xfrm>
            <a:off x="589680" y="6417360"/>
            <a:ext cx="746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4" name="PlaceHolder 2"/>
          <p:cNvSpPr>
            <a:spLocks noGrp="1"/>
          </p:cNvSpPr>
          <p:nvPr>
            <p:ph type="sldNum" idx="79"/>
          </p:nvPr>
        </p:nvSpPr>
        <p:spPr>
          <a:xfrm>
            <a:off x="11473200" y="6414480"/>
            <a:ext cx="172080" cy="2466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F281F5F-80D0-4361-840B-DAE4CDDB83E0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68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75" name="Grafik 39"/>
          <p:cNvPicPr/>
          <p:nvPr/>
        </p:nvPicPr>
        <p:blipFill>
          <a:blip r:embed="rId1"/>
          <a:stretch/>
        </p:blipFill>
        <p:spPr>
          <a:xfrm>
            <a:off x="1707120" y="1932840"/>
            <a:ext cx="8551440" cy="269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6" name="Rechteck 10"/>
          <p:cNvSpPr/>
          <p:nvPr/>
        </p:nvSpPr>
        <p:spPr>
          <a:xfrm>
            <a:off x="1800000" y="5874480"/>
            <a:ext cx="85428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ist in Raum A             →             betreteTuer             →             ist in Tür             →              verlasseTuer             →             ist in Raum 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7" name="Flussdiagramm: Prozess 9"/>
          <p:cNvSpPr/>
          <p:nvPr/>
        </p:nvSpPr>
        <p:spPr>
          <a:xfrm>
            <a:off x="1620000" y="5760000"/>
            <a:ext cx="5088600" cy="53892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760" tIns="59760" rIns="104760" bIns="5976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8" name="Pfeil: nach rechts 26"/>
          <p:cNvSpPr/>
          <p:nvPr/>
        </p:nvSpPr>
        <p:spPr>
          <a:xfrm rot="10800000">
            <a:off x="7771320" y="2700360"/>
            <a:ext cx="934200" cy="3812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79" name="Textfeld 37"/>
          <p:cNvSpPr/>
          <p:nvPr/>
        </p:nvSpPr>
        <p:spPr>
          <a:xfrm>
            <a:off x="8382600" y="2756880"/>
            <a:ext cx="18770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Vorbedingungen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0" name="Pfeil: nach rechts 28"/>
          <p:cNvSpPr/>
          <p:nvPr/>
        </p:nvSpPr>
        <p:spPr>
          <a:xfrm rot="18780000">
            <a:off x="1953720" y="4737240"/>
            <a:ext cx="934200" cy="3812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81" name="Textfeld 38"/>
          <p:cNvSpPr/>
          <p:nvPr/>
        </p:nvSpPr>
        <p:spPr>
          <a:xfrm>
            <a:off x="540000" y="5121720"/>
            <a:ext cx="18770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Nachbedingungen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2" name="Pfeil: nach rechts 29"/>
          <p:cNvSpPr/>
          <p:nvPr/>
        </p:nvSpPr>
        <p:spPr>
          <a:xfrm rot="20400000">
            <a:off x="827640" y="3579120"/>
            <a:ext cx="934200" cy="3812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83" name="Textfeld 39"/>
          <p:cNvSpPr/>
          <p:nvPr/>
        </p:nvSpPr>
        <p:spPr>
          <a:xfrm>
            <a:off x="-366120" y="3852000"/>
            <a:ext cx="18770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Aktion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4" name="Grafik 575"/>
          <p:cNvPicPr/>
          <p:nvPr/>
        </p:nvPicPr>
        <p:blipFill>
          <a:blip r:embed="rId1"/>
          <a:stretch/>
        </p:blipFill>
        <p:spPr>
          <a:xfrm>
            <a:off x="1483200" y="2395080"/>
            <a:ext cx="8416440" cy="1672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5" name="Google Shape;86;p 34"/>
          <p:cNvSpPr/>
          <p:nvPr/>
        </p:nvSpPr>
        <p:spPr>
          <a:xfrm>
            <a:off x="1569600" y="6417360"/>
            <a:ext cx="43549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1680" cy="573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Beweis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7" name="Google Shape;89;p 34"/>
          <p:cNvSpPr/>
          <p:nvPr/>
        </p:nvSpPr>
        <p:spPr>
          <a:xfrm>
            <a:off x="589680" y="6417360"/>
            <a:ext cx="746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8" name="PlaceHolder 2"/>
          <p:cNvSpPr>
            <a:spLocks noGrp="1"/>
          </p:cNvSpPr>
          <p:nvPr>
            <p:ph type="sldNum" idx="80"/>
          </p:nvPr>
        </p:nvSpPr>
        <p:spPr>
          <a:xfrm>
            <a:off x="11473200" y="6414480"/>
            <a:ext cx="172080" cy="2466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FA0B7C7-9955-49D4-B2B3-8D9400E19661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69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9" name="Rechteck 580"/>
          <p:cNvSpPr/>
          <p:nvPr/>
        </p:nvSpPr>
        <p:spPr>
          <a:xfrm flipV="1">
            <a:off x="1620000" y="3562560"/>
            <a:ext cx="8819640" cy="111564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8619480" cy="10054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Konsistenz zwischen Modellen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1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0120" cy="1141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Nur Bewohner dürfen Türen öffnen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2" name="Grafik 420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4069800" y="5079240"/>
            <a:ext cx="7808400" cy="1578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Google Shape;86;p 16"/>
          <p:cNvSpPr/>
          <p:nvPr/>
        </p:nvSpPr>
        <p:spPr>
          <a:xfrm>
            <a:off x="1569600" y="6417360"/>
            <a:ext cx="43549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4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1680" cy="573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Konsistenz zwischen den Modellen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5" name="Google Shape;89;p 16"/>
          <p:cNvSpPr/>
          <p:nvPr/>
        </p:nvSpPr>
        <p:spPr>
          <a:xfrm>
            <a:off x="589680" y="6417360"/>
            <a:ext cx="746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6" name="PlaceHolder 2"/>
          <p:cNvSpPr>
            <a:spLocks noGrp="1"/>
          </p:cNvSpPr>
          <p:nvPr>
            <p:ph type="sldNum" idx="81"/>
          </p:nvPr>
        </p:nvSpPr>
        <p:spPr>
          <a:xfrm>
            <a:off x="11473200" y="6414480"/>
            <a:ext cx="172080" cy="2466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2261B53-A9C1-4519-B350-5C7FC93440E5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71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97" name="Grafik 425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2269800" y="2700000"/>
            <a:ext cx="7808400" cy="1578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86;p 12"/>
          <p:cNvSpPr/>
          <p:nvPr/>
        </p:nvSpPr>
        <p:spPr>
          <a:xfrm>
            <a:off x="1569600" y="6417360"/>
            <a:ext cx="43549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9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1680" cy="573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Beweis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0" name="Google Shape;89;p 12"/>
          <p:cNvSpPr/>
          <p:nvPr/>
        </p:nvSpPr>
        <p:spPr>
          <a:xfrm>
            <a:off x="589680" y="6417360"/>
            <a:ext cx="746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1" name="PlaceHolder 2"/>
          <p:cNvSpPr>
            <a:spLocks noGrp="1"/>
          </p:cNvSpPr>
          <p:nvPr>
            <p:ph type="sldNum" idx="82"/>
          </p:nvPr>
        </p:nvSpPr>
        <p:spPr>
          <a:xfrm>
            <a:off x="11473200" y="6414480"/>
            <a:ext cx="172080" cy="2466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17F9073-C1AE-49B6-BEB3-57297510DFA5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72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2" name="Rechteck 415"/>
          <p:cNvSpPr/>
          <p:nvPr/>
        </p:nvSpPr>
        <p:spPr>
          <a:xfrm>
            <a:off x="1800000" y="5874480"/>
            <a:ext cx="83682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ist in Raum A             ˄             betreteTuer             ˄             ist in Tür             ˄              verlasseTuer             →             ist in Raum 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3" name="Flussdiagramm: Prozess 417"/>
          <p:cNvSpPr/>
          <p:nvPr/>
        </p:nvSpPr>
        <p:spPr>
          <a:xfrm>
            <a:off x="1620000" y="5760000"/>
            <a:ext cx="8818920" cy="53892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760" tIns="59760" rIns="104760" bIns="5976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04" name="Grafik 41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2270160" y="2700360"/>
            <a:ext cx="7808400" cy="1578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86;p 33"/>
          <p:cNvSpPr/>
          <p:nvPr/>
        </p:nvSpPr>
        <p:spPr>
          <a:xfrm>
            <a:off x="1569600" y="6417360"/>
            <a:ext cx="43549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6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1680" cy="573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Beweis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7" name="Google Shape;89;p 33"/>
          <p:cNvSpPr/>
          <p:nvPr/>
        </p:nvSpPr>
        <p:spPr>
          <a:xfrm>
            <a:off x="589680" y="6417360"/>
            <a:ext cx="746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8" name="PlaceHolder 2"/>
          <p:cNvSpPr>
            <a:spLocks noGrp="1"/>
          </p:cNvSpPr>
          <p:nvPr>
            <p:ph type="sldNum" idx="83"/>
          </p:nvPr>
        </p:nvSpPr>
        <p:spPr>
          <a:xfrm>
            <a:off x="11473200" y="6414480"/>
            <a:ext cx="172080" cy="2466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E9D56B1-0204-4E43-9DFB-2185F7BB81E6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73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9" name="Rechteck 6"/>
          <p:cNvSpPr/>
          <p:nvPr/>
        </p:nvSpPr>
        <p:spPr>
          <a:xfrm>
            <a:off x="1800000" y="5874480"/>
            <a:ext cx="83682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ist in Raum A             ˄             betreteTuer             ˄             ist in Tür             ˄              verlasseTuer             →             ist in Raum 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0" name="Flussdiagramm: Prozess 6"/>
          <p:cNvSpPr/>
          <p:nvPr/>
        </p:nvSpPr>
        <p:spPr>
          <a:xfrm>
            <a:off x="1620000" y="5760000"/>
            <a:ext cx="8818920" cy="53892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760" tIns="59760" rIns="104760" bIns="5976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11" name="Grafik 602"/>
          <p:cNvPicPr/>
          <p:nvPr/>
        </p:nvPicPr>
        <p:blipFill>
          <a:blip r:embed="rId1"/>
          <a:stretch/>
        </p:blipFill>
        <p:spPr>
          <a:xfrm>
            <a:off x="1800000" y="1849680"/>
            <a:ext cx="8523360" cy="2649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2" name="Rechteck 603"/>
          <p:cNvSpPr/>
          <p:nvPr/>
        </p:nvSpPr>
        <p:spPr>
          <a:xfrm flipV="1">
            <a:off x="1620000" y="3274560"/>
            <a:ext cx="8819640" cy="158364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95;p3"/>
          <p:cNvSpPr/>
          <p:nvPr/>
        </p:nvSpPr>
        <p:spPr>
          <a:xfrm>
            <a:off x="1569600" y="6417360"/>
            <a:ext cx="43549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4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7620120" cy="10054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Fazit und Ausblick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5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0120" cy="1365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Was getan ist und was als nächstes möglich wäre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6" name="Google Shape;98;p3"/>
          <p:cNvSpPr/>
          <p:nvPr/>
        </p:nvSpPr>
        <p:spPr>
          <a:xfrm>
            <a:off x="589680" y="6417360"/>
            <a:ext cx="746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7" name="PlaceHolder 3"/>
          <p:cNvSpPr>
            <a:spLocks noGrp="1"/>
          </p:cNvSpPr>
          <p:nvPr>
            <p:ph type="sldNum" idx="84"/>
          </p:nvPr>
        </p:nvSpPr>
        <p:spPr>
          <a:xfrm>
            <a:off x="11473200" y="6414480"/>
            <a:ext cx="172080" cy="2466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EB896B4-FE66-4EEB-9A63-8AC32A2F6D04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74</a:t>
            </a:fld>
            <a:endParaRPr lang="de-D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178;p8"/>
          <p:cNvSpPr/>
          <p:nvPr/>
        </p:nvSpPr>
        <p:spPr>
          <a:xfrm>
            <a:off x="1569600" y="6417360"/>
            <a:ext cx="43549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9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1680" cy="573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Fazit und Ausblick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0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11101680" cy="4570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</a:rPr>
              <a:t>Weiterentwicklung des Systems durch weitere </a:t>
            </a:r>
            <a:r>
              <a:rPr lang="en-US" sz="2000" b="1" u="none" strike="noStrike">
                <a:solidFill>
                  <a:srgbClr val="361E47"/>
                </a:solidFill>
                <a:effectLst/>
                <a:uFillTx/>
                <a:latin typeface="Arial"/>
              </a:rPr>
              <a:t>Zutrittsregeln</a:t>
            </a: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</a:rPr>
              <a:t> und </a:t>
            </a:r>
            <a:r>
              <a:rPr lang="en-US" sz="2000" b="1" u="none" strike="noStrike">
                <a:solidFill>
                  <a:srgbClr val="361E47"/>
                </a:solidFill>
                <a:effectLst/>
                <a:uFillTx/>
                <a:latin typeface="Arial"/>
              </a:rPr>
              <a:t>Zutrittsschritte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</a:rPr>
              <a:t>Weitere Zutrittsregeln auf Autorisierungsebene: </a:t>
            </a: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Raumkapazitäten, Uhrzeiten, Personentypen oder externe Bedingungen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Weitere Zutrittsschritte mit nach Event-B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Parallele Authentifizierungsschritte und Spezifikationslücken durch Regelverletzung finden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1" name="Google Shape;181;p8"/>
          <p:cNvSpPr/>
          <p:nvPr/>
        </p:nvSpPr>
        <p:spPr>
          <a:xfrm>
            <a:off x="589680" y="6417360"/>
            <a:ext cx="746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2" name="PlaceHolder 3"/>
          <p:cNvSpPr>
            <a:spLocks noGrp="1"/>
          </p:cNvSpPr>
          <p:nvPr>
            <p:ph type="sldNum" idx="85"/>
          </p:nvPr>
        </p:nvSpPr>
        <p:spPr>
          <a:xfrm>
            <a:off x="11473200" y="6414480"/>
            <a:ext cx="172080" cy="2466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44433A2-0CC7-4A7C-B8E3-D3C19276D107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75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5549400" cy="10054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34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Vielen lieben Dank!</a:t>
            </a:r>
            <a:endParaRPr lang="de-DE" sz="3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4" name="PlaceHolder 2"/>
          <p:cNvSpPr>
            <a:spLocks noGrp="1"/>
          </p:cNvSpPr>
          <p:nvPr>
            <p:ph type="subTitle"/>
          </p:nvPr>
        </p:nvSpPr>
        <p:spPr>
          <a:xfrm>
            <a:off x="543960" y="4689360"/>
            <a:ext cx="5549400" cy="1365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marL="228600"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FF0000"/>
                </a:solidFill>
                <a:effectLst/>
                <a:uFillTx/>
                <a:latin typeface="Arial"/>
                <a:ea typeface="Arial"/>
              </a:rPr>
              <a:t>Verena Kipp, Anna-Livia Martin, David Rossel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5" name="Google Shape;80;p1"/>
          <p:cNvSpPr/>
          <p:nvPr/>
        </p:nvSpPr>
        <p:spPr>
          <a:xfrm>
            <a:off x="589680" y="6417360"/>
            <a:ext cx="746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6" name="Google Shape;81;p1" descr="Grafik 7"/>
          <p:cNvPicPr/>
          <p:nvPr/>
        </p:nvPicPr>
        <p:blipFill>
          <a:blip r:embed="rId1"/>
          <a:stretch/>
        </p:blipFill>
        <p:spPr>
          <a:xfrm>
            <a:off x="10726560" y="399240"/>
            <a:ext cx="1145520" cy="448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27" name="Grafik 14"/>
          <p:cNvPicPr/>
          <p:nvPr/>
        </p:nvPicPr>
        <p:blipFill>
          <a:blip r:embed="rId2"/>
          <a:stretch/>
        </p:blipFill>
        <p:spPr>
          <a:xfrm>
            <a:off x="5760000" y="3471120"/>
            <a:ext cx="3706920" cy="4478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28" name="Grafik 16"/>
          <p:cNvPicPr/>
          <p:nvPr/>
        </p:nvPicPr>
        <p:blipFill>
          <a:blip r:embed="rId3"/>
          <a:stretch/>
        </p:blipFill>
        <p:spPr>
          <a:xfrm>
            <a:off x="8508240" y="2700000"/>
            <a:ext cx="3804120" cy="5446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Google Shape;232;p14"/>
          <p:cNvSpPr/>
          <p:nvPr/>
        </p:nvSpPr>
        <p:spPr>
          <a:xfrm>
            <a:off x="1569600" y="6417360"/>
            <a:ext cx="43549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0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1680" cy="5738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Quellen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1" name="PlaceHolder 2"/>
          <p:cNvSpPr>
            <a:spLocks noGrp="1"/>
          </p:cNvSpPr>
          <p:nvPr>
            <p:ph/>
          </p:nvPr>
        </p:nvSpPr>
        <p:spPr>
          <a:xfrm>
            <a:off x="543960" y="1471680"/>
            <a:ext cx="11101680" cy="45709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Bernd das Brot: https://erfurt-mitte.de/blogs/erfurt-mitte-blog/bernd-das-brot-merchandise-im-onlineshop-kultiges-kultbrot-fuer-fans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Sandmännchen: https://www.gmx.ch/magazine/unterhaltung/tv-shows/24-zentimeter-gross-unermuedlich-sandmann-55-30229448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Alle anderen Diagramme/Bilder sind durch uns erstellt worden. 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2" name="Google Shape;235;p14"/>
          <p:cNvSpPr/>
          <p:nvPr/>
        </p:nvSpPr>
        <p:spPr>
          <a:xfrm>
            <a:off x="589680" y="6417360"/>
            <a:ext cx="746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3" name="PlaceHolder 3"/>
          <p:cNvSpPr>
            <a:spLocks noGrp="1"/>
          </p:cNvSpPr>
          <p:nvPr>
            <p:ph type="sldNum" idx="86"/>
          </p:nvPr>
        </p:nvSpPr>
        <p:spPr>
          <a:xfrm>
            <a:off x="11402640" y="6414480"/>
            <a:ext cx="243000" cy="2466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17AC2D2-F72F-4EAA-8F63-AC8BC3240BB9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77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361E47"/>
      </a:dk1>
      <a:lt1>
        <a:srgbClr val="FFFFFF"/>
      </a:lt1>
      <a:dk2>
        <a:srgbClr val="A7A7A7"/>
      </a:dk2>
      <a:lt2>
        <a:srgbClr val="535353"/>
      </a:lt2>
      <a:accent1>
        <a:srgbClr val="E00514"/>
      </a:accent1>
      <a:accent2>
        <a:srgbClr val="A42564"/>
      </a:accent2>
      <a:accent3>
        <a:srgbClr val="5E3EE1"/>
      </a:accent3>
      <a:accent4>
        <a:srgbClr val="F6D0F1"/>
      </a:accent4>
      <a:accent5>
        <a:srgbClr val="B44D79"/>
      </a:accent5>
      <a:accent6>
        <a:srgbClr val="7E63E8"/>
      </a:accent6>
      <a:hlink>
        <a:srgbClr val="0000FF"/>
      </a:hlink>
      <a:folHlink>
        <a:srgbClr val="FF00FF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361E47"/>
      </a:dk1>
      <a:lt1>
        <a:srgbClr val="FFFFFF"/>
      </a:lt1>
      <a:dk2>
        <a:srgbClr val="A7A7A7"/>
      </a:dk2>
      <a:lt2>
        <a:srgbClr val="535353"/>
      </a:lt2>
      <a:accent1>
        <a:srgbClr val="E00514"/>
      </a:accent1>
      <a:accent2>
        <a:srgbClr val="A42564"/>
      </a:accent2>
      <a:accent3>
        <a:srgbClr val="5E3EE1"/>
      </a:accent3>
      <a:accent4>
        <a:srgbClr val="F6D0F1"/>
      </a:accent4>
      <a:accent5>
        <a:srgbClr val="B44D79"/>
      </a:accent5>
      <a:accent6>
        <a:srgbClr val="7E63E8"/>
      </a:accent6>
      <a:hlink>
        <a:srgbClr val="0000FF"/>
      </a:hlink>
      <a:folHlink>
        <a:srgbClr val="FF00FF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Application>LibreOffice/26.2.5.2$Windows_X86_64 LibreOffice_project/cd7284b4cbbfeb507e630c1aac019f4157393acb</Application>
  <AppVersion>15.0000</AppVersion>
  <Words>4364</Words>
  <Paragraphs>871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de-DE</dc:language>
  <cp:lastModifiedBy/>
  <dcterms:modified xsi:type="dcterms:W3CDTF">2026-08-19T10:37:09Z</dcterms:modified>
  <cp:revision>81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9</vt:i4>
  </property>
  <property fmtid="{D5CDD505-2E9C-101B-9397-08002B2CF9AE}" pid="3" name="Notes">
    <vt:i4>27</vt:i4>
  </property>
  <property fmtid="{D5CDD505-2E9C-101B-9397-08002B2CF9AE}" pid="4" name="PresentationFormat">
    <vt:lpwstr>Breitbild</vt:lpwstr>
  </property>
  <property fmtid="{D5CDD505-2E9C-101B-9397-08002B2CF9AE}" pid="5" name="Slides">
    <vt:i4>77</vt:i4>
  </property>
</Properties>
</file>