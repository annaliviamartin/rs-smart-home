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42522A0-FB72-412F-8104-6059EB8B3500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6160" cy="2196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61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Google Shape;51;p24" descr="Grafik 6"/>
          <p:cNvPicPr/>
          <p:nvPr/>
        </p:nvPicPr>
        <p:blipFill>
          <a:blip r:embed="rId3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9370AA-74D7-400B-914D-D66B9CF699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lstStyle>
            <a:lvl1pPr indent="0" algn="l">
              <a:buNone/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840" cy="968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" name="Google Shape;57;p25"/>
          <p:cNvGrpSpPr/>
          <p:nvPr/>
        </p:nvGrpSpPr>
        <p:grpSpPr>
          <a:xfrm>
            <a:off x="10884240" y="488880"/>
            <a:ext cx="891000" cy="214560"/>
            <a:chOff x="10884240" y="488880"/>
            <a:chExt cx="891000" cy="214560"/>
          </a:xfrm>
        </p:grpSpPr>
        <p:sp>
          <p:nvSpPr>
            <p:cNvPr id="12" name="Google Shape;58;p25"/>
            <p:cNvSpPr/>
            <p:nvPr/>
          </p:nvSpPr>
          <p:spPr>
            <a:xfrm>
              <a:off x="10884240" y="490680"/>
              <a:ext cx="676440" cy="212760"/>
            </a:xfrm>
            <a:custGeom>
              <a:avLst/>
              <a:gdLst>
                <a:gd name="textAreaLeft" fmla="*/ 0 w 676440"/>
                <a:gd name="textAreaRight" fmla="*/ 676800 w 676440"/>
                <a:gd name="textAreaTop" fmla="*/ 0 h 212760"/>
                <a:gd name="textAreaBottom" fmla="*/ 213120 h 21276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Google Shape;59;p25"/>
            <p:cNvSpPr/>
            <p:nvPr/>
          </p:nvSpPr>
          <p:spPr>
            <a:xfrm>
              <a:off x="11617920" y="488880"/>
              <a:ext cx="157320" cy="150480"/>
            </a:xfrm>
            <a:custGeom>
              <a:avLst/>
              <a:gdLst>
                <a:gd name="textAreaLeft" fmla="*/ 0 w 157320"/>
                <a:gd name="textAreaRight" fmla="*/ 157680 w 15732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" name="PlaceHolder 4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50C295-D981-4514-B319-445FEB96ABC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lstStyle>
            <a:lvl1pPr indent="0" algn="l">
              <a:buNone/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2800" cy="70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6080" cy="2296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6080" cy="2296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6240" cy="1076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6240" cy="1076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Google Shape;69;p26" descr="Grafik 2"/>
          <p:cNvPicPr/>
          <p:nvPr/>
        </p:nvPicPr>
        <p:blipFill>
          <a:blip r:embed="rId4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7"/>
          <p:cNvSpPr>
            <a:spLocks noGrp="1"/>
          </p:cNvSpPr>
          <p:nvPr>
            <p:ph type="sldNum" idx="3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DD9373-F441-4C6D-B63C-3EE13223FA8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Google Shape;72;p27" descr="Grafik 2"/>
          <p:cNvPicPr/>
          <p:nvPr/>
        </p:nvPicPr>
        <p:blipFill>
          <a:blip r:embed="rId3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sldNum" idx="4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63BE82-50F6-4F40-A935-1CBFAB4FCD8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Google Shape;13;p16" descr="Grafik 7"/>
          <p:cNvPicPr/>
          <p:nvPr/>
        </p:nvPicPr>
        <p:blipFill>
          <a:blip r:embed="rId3"/>
          <a:srcRect l="0" t="33686" r="9034" b="0"/>
          <a:stretch/>
        </p:blipFill>
        <p:spPr>
          <a:xfrm>
            <a:off x="4588200" y="0"/>
            <a:ext cx="7603560" cy="653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PlaceHolder 3"/>
          <p:cNvSpPr>
            <a:spLocks noGrp="1"/>
          </p:cNvSpPr>
          <p:nvPr>
            <p:ph type="sldNum" idx="5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DE80E0-A155-426C-A5D1-5B55A8FCA23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5AAEBC-E8BA-4E3C-A77B-71F55E15B6F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itelfolie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3"/>
          <p:cNvSpPr>
            <a:spLocks noGrp="1"/>
          </p:cNvSpPr>
          <p:nvPr>
            <p:ph type="sldNum" idx="7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D4EF8E-EA85-4C59-BF38-0EBF413A724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160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55000" lnSpcReduction="1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8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B9555C-FEFA-4F54-AB7F-6C08979D96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5680" cy="520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AFD7E0E-1163-473C-AEFE-4DC43A8590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71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71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sldNum" idx="10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38419C-EEC1-421E-A394-363A4B9B64A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1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65D8F8-21A1-4965-9601-92265B8CA464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5680" cy="520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6E017E-6B4F-41FA-B920-3DA1E7F9010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80;p1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 &amp; Problemstellung: Zugangskontrollsystem, Beispiel Bernd &amp; Sandmännchen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Grober Gebäude-/Raumplan zur Veranschaulichung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Ankündigung des Vorgehens: drei Verfeinerungsstufen nach Event-B, jeweils formal geprüft mit Alloy (Modellprüfung) und bewiesen mit Lean (Beweis)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Kurzer Überblick über das abstrakte Datenmodell (Person/Bewohner:in/Gast, Ort/Raum/Zimmer/Garten/Tür) — Klassendiagramm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Stufe 1 – Erstes grobes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Anforderungen,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1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39E2F-FA3D-4078-9441-A1708DB933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5;p 3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Stufe 2 – Zweites 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Anforderungen,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98;p 1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19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C49EAB-0F44-4621-9E47-B4B059FD55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86;p 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89;p 1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E3B3B65-6891-44BA-A477-EB7894D3E0B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95;p 4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Stufe 3 – Drittes feines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Anforderungen,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98;p 4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21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41979F-8525-4F1D-B8AB-D177411BD0F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86;p 3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89;p 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7EDA6C-6AF0-4300-8371-54FB16D8F05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95;p 5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Anforderungen,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98;p 5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23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AA853D-9C80-40BA-9B9E-64BAEA0160A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86;p 4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Verfeinerung muss auf-/abwärtskompatibel sein — was in Stufe 3 möglich ist, muss (von außen betrachtet) auch in Stufe 1 gültig sein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wie die Modellprüfung das für begrenzte Instanzen stichprobenartig zeigt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der allgemeine Beweis, dass alle drei Modelle dasselbe fachliche Ergebnis liefert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89;p 4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24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C5126BD-A769-49BA-A77F-45FAC6CA2E4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95;p 6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Alloy vs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Vergleich von Vor- und Nachteilen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98;p 6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25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12A9EA-D753-4E19-B0B6-1EC0138D149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86;p 5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Vergleichstabelle aus UMSETZUNG.md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89;p 5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2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9E0C05-A1E9-4841-8CBE-6A6C006EDD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95;p3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98;p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2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A304693-83CA-4079-B8EA-8654522E441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13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78;p8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Zusammenfassung der drei Stufen und ihrer Garantien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Erweiterungsideen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81;p8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2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35C0622-9106-4BA3-9BA3-1E580F72774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232;p14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Sources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Bla bla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235;p14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29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85C331-FD1B-4C4B-B53D-CD52F544C5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dcterms:modified xsi:type="dcterms:W3CDTF">2026-08-11T17:01:01Z</dcterms:modified>
  <cp:revision>18</cp:revision>
  <dc:subject/>
  <dc:title/>
</cp:coreProperties>
</file>