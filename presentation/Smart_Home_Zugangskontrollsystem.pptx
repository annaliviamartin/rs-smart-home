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15.xml" ContentType="application/vnd.openxmlformats-officedocument.theme+xml"/>
  <Override PartName="/ppt/presentation.xml" ContentType="application/vnd.openxmlformats-officedocument.presentationml.presentation.main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64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media/image17.svg" ContentType="image/svg"/>
  <Override PartName="/ppt/media/image19.svg" ContentType="image/svg"/>
  <Override PartName="/ppt/media/image15.svg" ContentType="image/svg"/>
  <Override PartName="/ppt/media/image22.svg" ContentType="image/svg"/>
  <Override PartName="/ppt/media/image24.svg" ContentType="image/svg"/>
  <Override PartName="/ppt/media/image36.svg" ContentType="image/svg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77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01BB0DB-6795-43FC-9B43-92B4A6F88ECD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720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7200"/>
          </a:xfrm>
          <a:prstGeom prst="rect">
            <a:avLst/>
          </a:prstGeom>
          <a:ln w="0">
            <a:noFill/>
          </a:ln>
        </p:spPr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1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 haben Invarianten nicht als facts festgehalten, sondern nur über asserts überprüft, damit wir das Modell nicht zu sehr einschränken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6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6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6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7200"/>
          </a:xfrm>
          <a:prstGeom prst="rect">
            <a:avLst/>
          </a:prstGeom>
          <a:ln w="0">
            <a:noFill/>
          </a:ln>
        </p:spPr>
      </p:sp>
      <p:sp>
        <p:nvSpPr>
          <p:cNvPr id="67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7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laceHolder 2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7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0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4F4AB82-E636-43D8-A885-8D7FB15E9237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4360" cy="219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436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" name="Google Shape;51;p24" descr="Grafik 6"/>
          <p:cNvPicPr/>
          <p:nvPr/>
        </p:nvPicPr>
        <p:blipFill>
          <a:blip r:embed="rId3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3"/>
          <p:cNvSpPr>
            <a:spLocks noGrp="1"/>
          </p:cNvSpPr>
          <p:nvPr>
            <p:ph type="sldNum" idx="2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1E2C68-7B3B-408F-AA5A-C451C4C5CCA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04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sldNum" idx="3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C8F37E-54A8-4796-ABC5-2D4FF0EC028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Titelfolie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48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048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PlaceHolder 3"/>
          <p:cNvSpPr>
            <a:spLocks noGrp="1"/>
          </p:cNvSpPr>
          <p:nvPr>
            <p:ph type="sldNum" idx="4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1CB981-E68C-4562-A661-8AB1B208876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3980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70000" lnSpcReduction="1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3980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sldNum" idx="5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830B39-6BBC-4423-A9BC-DE1A13A6E31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3880" cy="520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3980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sldNum" idx="6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A04C94-BEB1-41FF-89D9-96BE21C1234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5360" cy="6855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5360" cy="6855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4976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4976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7"/>
          </p:nvPr>
        </p:nvSpPr>
        <p:spPr>
          <a:xfrm>
            <a:off x="5892840" y="6233760"/>
            <a:ext cx="28425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F4357C-0865-4EE0-9497-4EFB475B025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folie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48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048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8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453EDA-F31C-4AD7-A012-7CDC6BA3DE28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4976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4976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3880" cy="520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9A5099-88E8-4EA4-B7F2-48D480665C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1000" cy="70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4280" cy="2294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4280" cy="2294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3980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4440" cy="1074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4440" cy="1074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Google Shape;69;p26" descr="Grafik 2"/>
          <p:cNvPicPr/>
          <p:nvPr/>
        </p:nvPicPr>
        <p:blipFill>
          <a:blip r:embed="rId4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PlaceHolder 7"/>
          <p:cNvSpPr>
            <a:spLocks noGrp="1"/>
          </p:cNvSpPr>
          <p:nvPr>
            <p:ph type="sldNum" idx="10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6D078E-12BE-43BC-B1C2-F400D3B3E3E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" name="Google Shape;72;p27" descr="Grafik 2"/>
          <p:cNvPicPr/>
          <p:nvPr/>
        </p:nvPicPr>
        <p:blipFill>
          <a:blip r:embed="rId3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PlaceHolder 1"/>
          <p:cNvSpPr>
            <a:spLocks noGrp="1"/>
          </p:cNvSpPr>
          <p:nvPr>
            <p:ph type="sldNum" idx="11"/>
          </p:nvPr>
        </p:nvSpPr>
        <p:spPr>
          <a:xfrm>
            <a:off x="5892840" y="6233760"/>
            <a:ext cx="28425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DBE41A-7168-46E1-8D6E-07BE42984C2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4976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4976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" name="Google Shape;13;p16" descr="Grafik 7"/>
          <p:cNvPicPr/>
          <p:nvPr/>
        </p:nvPicPr>
        <p:blipFill>
          <a:blip r:embed="rId3"/>
          <a:srcRect l="0" t="33700" r="9034" b="0"/>
          <a:stretch/>
        </p:blipFill>
        <p:spPr>
          <a:xfrm>
            <a:off x="4588200" y="0"/>
            <a:ext cx="7601760" cy="65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3"/>
          <p:cNvSpPr>
            <a:spLocks noGrp="1"/>
          </p:cNvSpPr>
          <p:nvPr>
            <p:ph type="sldNum" idx="12"/>
          </p:nvPr>
        </p:nvSpPr>
        <p:spPr>
          <a:xfrm>
            <a:off x="5892840" y="6233760"/>
            <a:ext cx="28425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8725A3-66E2-485C-8578-6DE51AE253F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04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sldNum" idx="13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64584D-3CC6-4657-9FC2-6A1EEA353AB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04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14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7894FC-B554-4D09-969A-37D2445DC4C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04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15"/>
          </p:nvPr>
        </p:nvSpPr>
        <p:spPr>
          <a:xfrm>
            <a:off x="11402640" y="6416640"/>
            <a:ext cx="243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4440D8-689B-4E83-A99E-8C97330CC2A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Google Shape;57;p25"/>
          <p:cNvGrpSpPr/>
          <p:nvPr/>
        </p:nvGrpSpPr>
        <p:grpSpPr>
          <a:xfrm>
            <a:off x="10884240" y="488880"/>
            <a:ext cx="889200" cy="212760"/>
            <a:chOff x="10884240" y="488880"/>
            <a:chExt cx="889200" cy="212760"/>
          </a:xfrm>
        </p:grpSpPr>
        <p:sp>
          <p:nvSpPr>
            <p:cNvPr id="4" name="Google Shape;58;p25"/>
            <p:cNvSpPr/>
            <p:nvPr/>
          </p:nvSpPr>
          <p:spPr>
            <a:xfrm>
              <a:off x="10884240" y="490680"/>
              <a:ext cx="674640" cy="210960"/>
            </a:xfrm>
            <a:custGeom>
              <a:avLst/>
              <a:gdLst>
                <a:gd name="textAreaLeft" fmla="*/ 0 w 674640"/>
                <a:gd name="textAreaRight" fmla="*/ 676800 w 674640"/>
                <a:gd name="textAreaTop" fmla="*/ 0 h 210960"/>
                <a:gd name="textAreaBottom" fmla="*/ 213120 h 21096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Google Shape;59;p25"/>
            <p:cNvSpPr/>
            <p:nvPr/>
          </p:nvSpPr>
          <p:spPr>
            <a:xfrm>
              <a:off x="11617920" y="488880"/>
              <a:ext cx="155520" cy="148680"/>
            </a:xfrm>
            <a:custGeom>
              <a:avLst/>
              <a:gdLst>
                <a:gd name="textAreaLeft" fmla="*/ 0 w 155520"/>
                <a:gd name="textAreaRight" fmla="*/ 157680 w 155520"/>
                <a:gd name="textAreaTop" fmla="*/ 0 h 148680"/>
                <a:gd name="textAreaBottom" fmla="*/ 150840 h 14868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" name="PlaceHolder 1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3360" cy="243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3781FF-A556-46EE-AAE3-A4322C052A3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sv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sv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svg"/><Relationship Id="rId3" Type="http://schemas.openxmlformats.org/officeDocument/2006/relationships/slideLayout" Target="../slideLayouts/slideLayout8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8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20.png"/><Relationship Id="rId4" Type="http://schemas.openxmlformats.org/officeDocument/2006/relationships/image" Target="../media/image23.png"/><Relationship Id="rId5" Type="http://schemas.openxmlformats.org/officeDocument/2006/relationships/image" Target="../media/image24.svg"/><Relationship Id="rId6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6.png"/><Relationship Id="rId8" Type="http://schemas.openxmlformats.org/officeDocument/2006/relationships/image" Target="../media/image5.png"/><Relationship Id="rId9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svg"/><Relationship Id="rId3" Type="http://schemas.openxmlformats.org/officeDocument/2006/relationships/slideLayout" Target="../slideLayouts/slideLayout8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13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3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3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3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3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3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3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3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8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13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13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4976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4976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80;p1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" name="Google Shape;81;p1" descr="Grafik 7"/>
          <p:cNvPicPr/>
          <p:nvPr/>
        </p:nvPicPr>
        <p:blipFill>
          <a:blip r:embed="rId1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Grafik 14"/>
          <p:cNvPicPr/>
          <p:nvPr/>
        </p:nvPicPr>
        <p:blipFill>
          <a:blip r:embed="rId2"/>
          <a:stretch/>
        </p:blipFill>
        <p:spPr>
          <a:xfrm>
            <a:off x="5760000" y="3471120"/>
            <a:ext cx="3707280" cy="447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Grafik 16"/>
          <p:cNvPicPr/>
          <p:nvPr/>
        </p:nvPicPr>
        <p:blipFill>
          <a:blip r:embed="rId3"/>
          <a:stretch/>
        </p:blipFill>
        <p:spPr>
          <a:xfrm>
            <a:off x="8508240" y="2700000"/>
            <a:ext cx="3804480" cy="544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6;p2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1080000" y="1980000"/>
            <a:ext cx="4315680" cy="495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Wo befindet sich eine Person?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89;p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19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4235BD-FCC9-44EF-BFDD-0D77C5E6FB4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4"/>
          <p:cNvSpPr/>
          <p:nvPr/>
        </p:nvSpPr>
        <p:spPr>
          <a:xfrm>
            <a:off x="1440000" y="3104280"/>
            <a:ext cx="485964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Ist eine Tür geöffnet oder geschlossen?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5"/>
          <p:cNvSpPr/>
          <p:nvPr/>
        </p:nvSpPr>
        <p:spPr>
          <a:xfrm>
            <a:off x="5763960" y="2520000"/>
            <a:ext cx="4315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und Türen gibt es?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/>
          <p:nvPr/>
        </p:nvSpPr>
        <p:spPr>
          <a:xfrm>
            <a:off x="5400000" y="3868560"/>
            <a:ext cx="503964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 fontScale="92500" lnSpcReduction="9999"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sind miteinander verbunden?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9"/>
          <p:cNvSpPr/>
          <p:nvPr/>
        </p:nvSpPr>
        <p:spPr>
          <a:xfrm>
            <a:off x="540000" y="4860000"/>
            <a:ext cx="4315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Darf eine Person die Tür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10"/>
          <p:cNvSpPr/>
          <p:nvPr/>
        </p:nvSpPr>
        <p:spPr>
          <a:xfrm>
            <a:off x="5220000" y="4904280"/>
            <a:ext cx="503964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Was passiert während des Durchgangs?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86;p 8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1623960" y="1844280"/>
            <a:ext cx="4315680" cy="495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Wo befindet sich eine Person?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89;p 8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1C0DB3-0A8F-40B5-8DB6-3B1FB1BDB65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20"/>
          <p:cNvSpPr/>
          <p:nvPr/>
        </p:nvSpPr>
        <p:spPr>
          <a:xfrm>
            <a:off x="1080000" y="2852280"/>
            <a:ext cx="485964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Ist eine Tür geöffnet oder geschlossen?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1"/>
          <p:cNvSpPr/>
          <p:nvPr/>
        </p:nvSpPr>
        <p:spPr>
          <a:xfrm>
            <a:off x="6123960" y="2340000"/>
            <a:ext cx="4315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und Türen gibt es?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2"/>
          <p:cNvSpPr/>
          <p:nvPr/>
        </p:nvSpPr>
        <p:spPr>
          <a:xfrm>
            <a:off x="5400000" y="4068000"/>
            <a:ext cx="503964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 fontScale="92500" lnSpcReduction="9999"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sind miteinander verbunden?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3"/>
          <p:cNvSpPr/>
          <p:nvPr/>
        </p:nvSpPr>
        <p:spPr>
          <a:xfrm>
            <a:off x="540000" y="4860000"/>
            <a:ext cx="4315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Darf eine Person die Tür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4"/>
          <p:cNvSpPr/>
          <p:nvPr/>
        </p:nvSpPr>
        <p:spPr>
          <a:xfrm>
            <a:off x="5220000" y="4904280"/>
            <a:ext cx="503964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Was passiert während des Durchgangs?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14"/>
          <p:cNvSpPr/>
          <p:nvPr/>
        </p:nvSpPr>
        <p:spPr>
          <a:xfrm>
            <a:off x="1512000" y="3348000"/>
            <a:ext cx="95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4000" b="1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Zugangssicherheit beweisen?</a:t>
            </a:r>
            <a:endParaRPr lang="de-DE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95;p 2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24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Grundlegende räumliche Struktur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48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Übersicht Gebäudestruktur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98;p 3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21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66100B-AD06-450B-AE88-4A4944CA00F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86;p2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Gebäudestruktur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89;p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sldNum" idx="22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4FFAFAF-53BA-48EA-9592-8EF41D403D3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7" name="Grafik 112"/>
          <p:cNvPicPr/>
          <p:nvPr/>
        </p:nvPicPr>
        <p:blipFill>
          <a:blip r:embed="rId1"/>
          <a:stretch/>
        </p:blipFill>
        <p:spPr>
          <a:xfrm>
            <a:off x="5580000" y="360000"/>
            <a:ext cx="4679640" cy="609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PlaceHolder 15"/>
          <p:cNvSpPr/>
          <p:nvPr/>
        </p:nvSpPr>
        <p:spPr>
          <a:xfrm>
            <a:off x="543960" y="1484640"/>
            <a:ext cx="467964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Jede Person an einem Ort gleichzeitig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 verbindet zwei Räume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 kann geöffnet/geschlossen sein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 darf nur bei geöffneter Tür passieren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Keine Teleportation ermöglichen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86;p2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Weitere Grundgesetze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04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Alle Räume sind von allen Räumen aus erreichbar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Um das Gebäude herum existiert ein Außenbereich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Der Außenbereich kann nur durch eine Eingangstür betreten werden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Jeder Nachbarraum eines Raums ist wiederum Nachbar des Nachbarraums (Symmetrie)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89;p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sldNum" idx="23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F5662A-DF20-4E76-A0F5-B129BB536ED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95;p 2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24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Alloy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48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Event B: Aufbau und schrittweise Verfeinerung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98;p 3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24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DE08C6-0531-4542-8C4E-44FB09461CB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sldNum" idx="25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80F2A6-765E-440D-9738-4F0CCBC19EC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3" name="Grafik 2"/>
          <p:cNvPicPr/>
          <p:nvPr/>
        </p:nvPicPr>
        <p:blipFill>
          <a:blip r:embed="rId1"/>
          <a:stretch/>
        </p:blipFill>
        <p:spPr>
          <a:xfrm>
            <a:off x="2303640" y="1268280"/>
            <a:ext cx="7582680" cy="4570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Axiome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ldNum" idx="26"/>
          </p:nvPr>
        </p:nvSpPr>
        <p:spPr>
          <a:xfrm>
            <a:off x="11473200" y="6414840"/>
            <a:ext cx="24660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4BB3FE-F35E-4299-AD50-9DA011D539F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8" name="Grafik 10"/>
          <p:cNvPicPr/>
          <p:nvPr/>
        </p:nvPicPr>
        <p:blipFill>
          <a:blip r:embed="rId1"/>
          <a:stretch/>
        </p:blipFill>
        <p:spPr>
          <a:xfrm>
            <a:off x="6490800" y="1574280"/>
            <a:ext cx="4980600" cy="19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Textfeld 11"/>
          <p:cNvSpPr/>
          <p:nvPr/>
        </p:nvSpPr>
        <p:spPr>
          <a:xfrm>
            <a:off x="543960" y="1873080"/>
            <a:ext cx="682092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genauEinenGarten { #GARTEN = 1}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alleRaumeInEinemGebaeude {all r: RAUM | r in GARTEN.^nachbarn}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einePersonInGenauEinemOrt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(all p: PERSON | #(p.~personenImOrtGrob) = 1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and #(p.~personenImOrtFein) = 1)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tuerImmerOffenWennPersonEnthalten{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t: TUER |  #(t.personenImOrtFein) &gt;= 1 implies t.offen =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alleNachbarnSindSymmetrisch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r: RAUM, t: TUER | r in t.nachbarn &lt;=&gt; t in r.nachbarn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t:TUER, r: RAUM | t in r.nachbarn &lt;=&gt; r in t.nachbarn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tuerVerbindetZweiRaeume {all t: TUER | #t.nachbarn = 2}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Invarianten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ldNum" idx="27"/>
          </p:nvPr>
        </p:nvSpPr>
        <p:spPr>
          <a:xfrm>
            <a:off x="11473200" y="6415920"/>
            <a:ext cx="24660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816A2B-1744-45EA-9DE2-5E4BBA297B6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4" name="Grafik 10"/>
          <p:cNvPicPr/>
          <p:nvPr/>
        </p:nvPicPr>
        <p:blipFill>
          <a:blip r:embed="rId1"/>
          <a:stretch/>
        </p:blipFill>
        <p:spPr>
          <a:xfrm>
            <a:off x="5926320" y="3552480"/>
            <a:ext cx="5720400" cy="224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feld 11"/>
          <p:cNvSpPr/>
          <p:nvPr/>
        </p:nvSpPr>
        <p:spPr>
          <a:xfrm>
            <a:off x="543960" y="1426680"/>
            <a:ext cx="7705440" cy="48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assert keineTeleportation_GROB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p: PERSON, von, nach: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 in von.personenImOrtGrob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nach.personenImOrtGrob' implies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(nach in von.nachbarn.nachbarn)) or (p in von.personenImOrtGrob and p in von.personenImOrtGrob')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assert keineTeleportation_FEIN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p: PERSON, von, nach: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 in von.personenImOrtFein and p in nach.personenImOrtFein' implies (nach in von.nachbarn)) or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 in von.personenImOrtFein and p in von.personenImOrtFein')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assert personIstNieInTuer_GROB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p: PERSON, t: TUER |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 not in t.personenImOrtGrob)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assert personenImGrobmodellNurInRaeumen{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t: TUER | no t.personenImOrtGrob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assert verfeinerungKorrekt {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p: PERSON, r1, r2: RAUM |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 in r1.personenImOrtFein and p in r2.personenImOrtFein')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implies (p in r1.personenImOrtGrob' and p in r2.personenImOrtGrob‘)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ldNum" idx="28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5FEC7B-D025-4198-8C7B-13BFB498C5B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Grafik 2"/>
          <p:cNvPicPr/>
          <p:nvPr/>
        </p:nvPicPr>
        <p:blipFill>
          <a:blip r:embed="rId1"/>
          <a:stretch/>
        </p:blipFill>
        <p:spPr>
          <a:xfrm>
            <a:off x="2483640" y="2086560"/>
            <a:ext cx="5132880" cy="200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1" name="Grafik 4"/>
          <p:cNvPicPr/>
          <p:nvPr/>
        </p:nvPicPr>
        <p:blipFill>
          <a:blip r:embed="rId2"/>
          <a:stretch/>
        </p:blipFill>
        <p:spPr>
          <a:xfrm>
            <a:off x="637560" y="4434120"/>
            <a:ext cx="5456880" cy="1874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2" name="Grafik 6"/>
          <p:cNvPicPr/>
          <p:nvPr/>
        </p:nvPicPr>
        <p:blipFill>
          <a:blip r:embed="rId3"/>
          <a:stretch/>
        </p:blipFill>
        <p:spPr>
          <a:xfrm>
            <a:off x="6004080" y="2423880"/>
            <a:ext cx="4980600" cy="19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3" name="Grafik 3"/>
          <p:cNvPicPr/>
          <p:nvPr/>
        </p:nvPicPr>
        <p:blipFill>
          <a:blip r:embed="rId4"/>
          <a:stretch/>
        </p:blipFill>
        <p:spPr>
          <a:xfrm>
            <a:off x="416160" y="1748880"/>
            <a:ext cx="5066280" cy="197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480" cy="8791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Grundlagen für die weiteren Schritte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itel 1"/>
          <p:cNvSpPr/>
          <p:nvPr/>
        </p:nvSpPr>
        <p:spPr>
          <a:xfrm>
            <a:off x="696240" y="3833640"/>
            <a:ext cx="7620480" cy="100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 fontScale="92500" lnSpcReduction="9999"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Ereignisse des Grobes Modells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Grafik 151"/>
          <p:cNvPicPr/>
          <p:nvPr/>
        </p:nvPicPr>
        <p:blipFill>
          <a:blip r:embed="rId1"/>
          <a:stretch/>
        </p:blipFill>
        <p:spPr>
          <a:xfrm>
            <a:off x="5720040" y="1540800"/>
            <a:ext cx="5865840" cy="135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11473200" y="6415560"/>
            <a:ext cx="24660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8B549D-03B9-4F4C-97DC-C35D3BE0982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Textfeld 4"/>
          <p:cNvSpPr/>
          <p:nvPr/>
        </p:nvSpPr>
        <p:spPr>
          <a:xfrm>
            <a:off x="2715840" y="1553400"/>
            <a:ext cx="6759360" cy="22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feld 1"/>
          <p:cNvSpPr/>
          <p:nvPr/>
        </p:nvSpPr>
        <p:spPr>
          <a:xfrm>
            <a:off x="3260520" y="5493600"/>
            <a:ext cx="18781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feld 5"/>
          <p:cNvSpPr/>
          <p:nvPr/>
        </p:nvSpPr>
        <p:spPr>
          <a:xfrm>
            <a:off x="6713640" y="5491440"/>
            <a:ext cx="18781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feil: nach rechts 6"/>
          <p:cNvSpPr/>
          <p:nvPr/>
        </p:nvSpPr>
        <p:spPr>
          <a:xfrm rot="9762600">
            <a:off x="8504280" y="178884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feld 8"/>
          <p:cNvSpPr/>
          <p:nvPr/>
        </p:nvSpPr>
        <p:spPr>
          <a:xfrm>
            <a:off x="9334800" y="1457280"/>
            <a:ext cx="187812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6" name="Grafik 2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260520" y="3949560"/>
            <a:ext cx="5331240" cy="123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7" name="Grafik 5"/>
          <p:cNvPicPr/>
          <p:nvPr/>
        </p:nvPicPr>
        <p:blipFill>
          <a:blip r:embed="rId3"/>
          <a:stretch/>
        </p:blipFill>
        <p:spPr>
          <a:xfrm>
            <a:off x="4387680" y="3660480"/>
            <a:ext cx="823680" cy="99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sldNum" idx="30"/>
          </p:nvPr>
        </p:nvSpPr>
        <p:spPr>
          <a:xfrm>
            <a:off x="11473200" y="6415560"/>
            <a:ext cx="24012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906B7F-9A2C-4A1A-8C75-11058F51F04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Textfeld 4"/>
          <p:cNvSpPr/>
          <p:nvPr/>
        </p:nvSpPr>
        <p:spPr>
          <a:xfrm>
            <a:off x="2715840" y="1553400"/>
            <a:ext cx="6759360" cy="22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feld 1"/>
          <p:cNvSpPr/>
          <p:nvPr/>
        </p:nvSpPr>
        <p:spPr>
          <a:xfrm>
            <a:off x="3260520" y="5493600"/>
            <a:ext cx="18781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feld 5"/>
          <p:cNvSpPr/>
          <p:nvPr/>
        </p:nvSpPr>
        <p:spPr>
          <a:xfrm>
            <a:off x="6713640" y="5491440"/>
            <a:ext cx="18781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feil: nach rechts 6"/>
          <p:cNvSpPr/>
          <p:nvPr/>
        </p:nvSpPr>
        <p:spPr>
          <a:xfrm rot="9762600">
            <a:off x="8504280" y="178884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feld 8"/>
          <p:cNvSpPr/>
          <p:nvPr/>
        </p:nvSpPr>
        <p:spPr>
          <a:xfrm>
            <a:off x="9334800" y="1457280"/>
            <a:ext cx="187812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Grafik 2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260520" y="3949560"/>
            <a:ext cx="5331240" cy="123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Grafik 5"/>
          <p:cNvPicPr/>
          <p:nvPr/>
        </p:nvPicPr>
        <p:blipFill>
          <a:blip r:embed="rId3"/>
          <a:stretch/>
        </p:blipFill>
        <p:spPr>
          <a:xfrm>
            <a:off x="6583680" y="3570120"/>
            <a:ext cx="823680" cy="99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04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31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BC4CEA-F088-42BA-94BD-EDAF04DC898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48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Ereignisse des feinen Modells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543960" y="4689000"/>
            <a:ext cx="7620480" cy="12009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Umsetzung der Türen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Grafik 16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95880" y="1547280"/>
            <a:ext cx="5475240" cy="152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sldNum" idx="32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AC2E3F-6312-44B8-BE47-80FF53F3412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7560" cy="85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3800" cy="1035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Initialer 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ldNum" idx="33"/>
          </p:nvPr>
        </p:nvSpPr>
        <p:spPr>
          <a:xfrm>
            <a:off x="11473200" y="6415560"/>
            <a:ext cx="2667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E0A06C-DC78-46F1-9444-05B9F272979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7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8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920" cy="101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9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0" name="Grafik 8"/>
          <p:cNvPicPr/>
          <p:nvPr/>
        </p:nvPicPr>
        <p:blipFill>
          <a:blip r:embed="rId6"/>
          <a:stretch/>
        </p:blipFill>
        <p:spPr>
          <a:xfrm>
            <a:off x="4397040" y="318744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1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2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3" name="Tabelle 3"/>
          <p:cNvGraphicFramePr/>
          <p:nvPr/>
        </p:nvGraphicFramePr>
        <p:xfrm>
          <a:off x="8990640" y="1668960"/>
          <a:ext cx="2230200" cy="1341000"/>
        </p:xfrm>
        <a:graphic>
          <a:graphicData uri="http://schemas.openxmlformats.org/drawingml/2006/table">
            <a:tbl>
              <a:tblPr/>
              <a:tblGrid>
                <a:gridCol w="743400"/>
                <a:gridCol w="743400"/>
                <a:gridCol w="743400"/>
              </a:tblGrid>
              <a:tr h="175320">
                <a:tc>
                  <a:txBody>
                    <a:bodyPr anchor="t">
                      <a:noAutofit/>
                    </a:bodyPr>
                    <a:p>
                      <a:endParaRPr lang="de-DE" sz="10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sldNum" idx="34"/>
          </p:nvPr>
        </p:nvSpPr>
        <p:spPr>
          <a:xfrm>
            <a:off x="11473200" y="6415560"/>
            <a:ext cx="24660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6927A7-94BC-4D03-ACC2-A85FD0078F8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8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9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920" cy="101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0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1" name="Grafik 8"/>
          <p:cNvPicPr/>
          <p:nvPr/>
        </p:nvPicPr>
        <p:blipFill>
          <a:blip r:embed="rId6"/>
          <a:stretch/>
        </p:blipFill>
        <p:spPr>
          <a:xfrm>
            <a:off x="5572440" y="318744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2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3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Pfeil: nach rechts 4"/>
          <p:cNvSpPr/>
          <p:nvPr/>
        </p:nvSpPr>
        <p:spPr>
          <a:xfrm rot="20607000">
            <a:off x="2684520" y="228240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feld 7"/>
          <p:cNvSpPr/>
          <p:nvPr/>
        </p:nvSpPr>
        <p:spPr>
          <a:xfrm>
            <a:off x="355680" y="2547000"/>
            <a:ext cx="330084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6" name="Tabelle 3"/>
          <p:cNvGraphicFramePr/>
          <p:nvPr/>
        </p:nvGraphicFramePr>
        <p:xfrm>
          <a:off x="8990640" y="1668960"/>
          <a:ext cx="2230200" cy="1341000"/>
        </p:xfrm>
        <a:graphic>
          <a:graphicData uri="http://schemas.openxmlformats.org/drawingml/2006/table">
            <a:tbl>
              <a:tblPr/>
              <a:tblGrid>
                <a:gridCol w="743400"/>
                <a:gridCol w="743400"/>
                <a:gridCol w="743400"/>
              </a:tblGrid>
              <a:tr h="175320">
                <a:tc>
                  <a:txBody>
                    <a:bodyPr anchor="t">
                      <a:noAutofit/>
                    </a:bodyPr>
                    <a:p>
                      <a:endParaRPr lang="de-DE" sz="10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17" name="Textfeld 4"/>
          <p:cNvSpPr/>
          <p:nvPr/>
        </p:nvSpPr>
        <p:spPr>
          <a:xfrm>
            <a:off x="589680" y="4842360"/>
            <a:ext cx="5551560" cy="11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sldNum" idx="35"/>
          </p:nvPr>
        </p:nvSpPr>
        <p:spPr>
          <a:xfrm>
            <a:off x="11473200" y="6415560"/>
            <a:ext cx="24012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F0F705-F7E6-4F35-AF2D-43FA405A3A2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2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3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920" cy="101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4" name="Grafik 5"/>
          <p:cNvPicPr/>
          <p:nvPr/>
        </p:nvPicPr>
        <p:blipFill>
          <a:blip r:embed="rId5"/>
          <a:stretch/>
        </p:blipFill>
        <p:spPr>
          <a:xfrm>
            <a:off x="7570440" y="147888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5" name="Grafik 8"/>
          <p:cNvPicPr/>
          <p:nvPr/>
        </p:nvPicPr>
        <p:blipFill>
          <a:blip r:embed="rId6"/>
          <a:stretch/>
        </p:blipFill>
        <p:spPr>
          <a:xfrm>
            <a:off x="7570440" y="318744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6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7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28" name="Tabelle 3"/>
          <p:cNvGraphicFramePr/>
          <p:nvPr/>
        </p:nvGraphicFramePr>
        <p:xfrm>
          <a:off x="8990640" y="1668960"/>
          <a:ext cx="2230200" cy="1341000"/>
        </p:xfrm>
        <a:graphic>
          <a:graphicData uri="http://schemas.openxmlformats.org/drawingml/2006/table">
            <a:tbl>
              <a:tblPr/>
              <a:tblGrid>
                <a:gridCol w="743400"/>
                <a:gridCol w="743400"/>
                <a:gridCol w="743400"/>
              </a:tblGrid>
              <a:tr h="175320">
                <a:tc>
                  <a:txBody>
                    <a:bodyPr anchor="t">
                      <a:noAutofit/>
                    </a:bodyPr>
                    <a:p>
                      <a:endParaRPr lang="de-DE" sz="10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29" name="Pfeil: nach rechts 4"/>
          <p:cNvSpPr/>
          <p:nvPr/>
        </p:nvSpPr>
        <p:spPr>
          <a:xfrm rot="20607000">
            <a:off x="2684520" y="228240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feld 7"/>
          <p:cNvSpPr/>
          <p:nvPr/>
        </p:nvSpPr>
        <p:spPr>
          <a:xfrm>
            <a:off x="355680" y="2547000"/>
            <a:ext cx="330084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feld 10"/>
          <p:cNvSpPr/>
          <p:nvPr/>
        </p:nvSpPr>
        <p:spPr>
          <a:xfrm>
            <a:off x="589680" y="4842360"/>
            <a:ext cx="5551560" cy="11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sldNum" idx="36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82BECE-8D2F-4EA3-AAC5-F790BC35E72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6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7560" cy="85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7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3800" cy="103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Textfeld 8"/>
          <p:cNvSpPr/>
          <p:nvPr/>
        </p:nvSpPr>
        <p:spPr>
          <a:xfrm>
            <a:off x="543960" y="2838600"/>
            <a:ext cx="54630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0" name="Tabelle 3"/>
          <p:cNvGraphicFramePr/>
          <p:nvPr/>
        </p:nvGraphicFramePr>
        <p:xfrm>
          <a:off x="2031840" y="25092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86;p 2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04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89;p 1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37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F3E542-E937-490F-B2BE-29CC072AFDC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1984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Ereignis: Autorisierung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480" cy="1141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8" name="Grafik 226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77880" y="1743120"/>
            <a:ext cx="5465520" cy="16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ldNum" idx="38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2A5CC1-2008-415E-A73D-A5B7A863099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3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1280" y="4275360"/>
            <a:ext cx="4597560" cy="85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Grafik 6"/>
          <p:cNvPicPr/>
          <p:nvPr/>
        </p:nvPicPr>
        <p:blipFill>
          <a:blip r:embed="rId3"/>
          <a:stretch/>
        </p:blipFill>
        <p:spPr>
          <a:xfrm>
            <a:off x="6731280" y="1519560"/>
            <a:ext cx="4597560" cy="106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Textfeld 8"/>
          <p:cNvSpPr/>
          <p:nvPr/>
        </p:nvSpPr>
        <p:spPr>
          <a:xfrm>
            <a:off x="543960" y="2838600"/>
            <a:ext cx="54630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6" name="Grafik 4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731280" y="2963880"/>
            <a:ext cx="4597560" cy="855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sldNum" idx="39"/>
          </p:nvPr>
        </p:nvSpPr>
        <p:spPr>
          <a:xfrm>
            <a:off x="11473200" y="6414840"/>
            <a:ext cx="27360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587B99F-7A7E-459E-B6CC-F2E8C163265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1" name="Grafik 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560" cy="85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2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560" cy="10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3" name="Grafik 7"/>
          <p:cNvPicPr/>
          <p:nvPr/>
        </p:nvPicPr>
        <p:blipFill>
          <a:blip r:embed="rId5"/>
          <a:stretch/>
        </p:blipFill>
        <p:spPr>
          <a:xfrm>
            <a:off x="4574160" y="1842120"/>
            <a:ext cx="822960" cy="99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Grafik 10"/>
          <p:cNvPicPr/>
          <p:nvPr/>
        </p:nvPicPr>
        <p:blipFill>
          <a:blip r:embed="rId6"/>
          <a:stretch/>
        </p:blipFill>
        <p:spPr>
          <a:xfrm>
            <a:off x="3727800" y="1568160"/>
            <a:ext cx="844560" cy="12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Multiplikationszeichen 11"/>
          <p:cNvSpPr/>
          <p:nvPr/>
        </p:nvSpPr>
        <p:spPr>
          <a:xfrm>
            <a:off x="5635080" y="4209840"/>
            <a:ext cx="919800" cy="919800"/>
          </a:xfrm>
          <a:prstGeom prst="mathMultiply">
            <a:avLst>
              <a:gd name="adj1" fmla="val 2352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66" name="Grafik 13"/>
          <p:cNvPicPr/>
          <p:nvPr/>
        </p:nvPicPr>
        <p:blipFill>
          <a:blip r:embed="rId7"/>
          <a:stretch/>
        </p:blipFill>
        <p:spPr>
          <a:xfrm>
            <a:off x="4475880" y="3677400"/>
            <a:ext cx="822960" cy="99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7" name="Grafik 15"/>
          <p:cNvPicPr/>
          <p:nvPr/>
        </p:nvPicPr>
        <p:blipFill>
          <a:blip r:embed="rId8"/>
          <a:stretch/>
        </p:blipFill>
        <p:spPr>
          <a:xfrm>
            <a:off x="3629520" y="3403080"/>
            <a:ext cx="844560" cy="1209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sldNum" idx="40"/>
          </p:nvPr>
        </p:nvSpPr>
        <p:spPr>
          <a:xfrm>
            <a:off x="11473200" y="6415200"/>
            <a:ext cx="23328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4FF98A-9217-441D-8E30-B2E53A40119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2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560" cy="85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3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560" cy="10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4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2960" cy="99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5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4560" cy="120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6" name="Grafik 15"/>
          <p:cNvPicPr/>
          <p:nvPr/>
        </p:nvPicPr>
        <p:blipFill>
          <a:blip r:embed="rId7"/>
          <a:stretch/>
        </p:blipFill>
        <p:spPr>
          <a:xfrm>
            <a:off x="4475880" y="3677400"/>
            <a:ext cx="822960" cy="99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7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4560" cy="12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feil: nach rechts 27"/>
          <p:cNvSpPr/>
          <p:nvPr/>
        </p:nvSpPr>
        <p:spPr>
          <a:xfrm rot="20607000">
            <a:off x="2576520" y="447840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feld 29"/>
          <p:cNvSpPr/>
          <p:nvPr/>
        </p:nvSpPr>
        <p:spPr>
          <a:xfrm>
            <a:off x="459000" y="5141160"/>
            <a:ext cx="6093000" cy="93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sldNum" idx="41"/>
          </p:nvPr>
        </p:nvSpPr>
        <p:spPr>
          <a:xfrm>
            <a:off x="11473200" y="6414840"/>
            <a:ext cx="23328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1915A8-858C-41A7-AE28-3C18A89D1E2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4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560" cy="85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5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560" cy="10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6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2960" cy="99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7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4560" cy="120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8" name="Grafik 15"/>
          <p:cNvPicPr/>
          <p:nvPr/>
        </p:nvPicPr>
        <p:blipFill>
          <a:blip r:embed="rId7"/>
          <a:stretch/>
        </p:blipFill>
        <p:spPr>
          <a:xfrm>
            <a:off x="5346000" y="3677400"/>
            <a:ext cx="822960" cy="99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9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4560" cy="12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Pfeil: nach rechts 2"/>
          <p:cNvSpPr/>
          <p:nvPr/>
        </p:nvSpPr>
        <p:spPr>
          <a:xfrm rot="20607000">
            <a:off x="2576520" y="447840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feld 5"/>
          <p:cNvSpPr/>
          <p:nvPr/>
        </p:nvSpPr>
        <p:spPr>
          <a:xfrm>
            <a:off x="459000" y="5141160"/>
            <a:ext cx="6093000" cy="93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Autorisierung: Schritt 3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sldNum" idx="42"/>
          </p:nvPr>
        </p:nvSpPr>
        <p:spPr>
          <a:xfrm>
            <a:off x="11473200" y="6414840"/>
            <a:ext cx="253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59BD53-F174-406E-A424-BD52E4BFA94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6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560" cy="85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7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560" cy="10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8" name="Grafik 11"/>
          <p:cNvPicPr/>
          <p:nvPr/>
        </p:nvPicPr>
        <p:blipFill>
          <a:blip r:embed="rId5"/>
          <a:stretch/>
        </p:blipFill>
        <p:spPr>
          <a:xfrm>
            <a:off x="6697800" y="1842120"/>
            <a:ext cx="822960" cy="99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9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4560" cy="120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0" name="Grafik 17"/>
          <p:cNvPicPr/>
          <p:nvPr/>
        </p:nvPicPr>
        <p:blipFill>
          <a:blip r:embed="rId7"/>
          <a:stretch/>
        </p:blipFill>
        <p:spPr>
          <a:xfrm>
            <a:off x="3629520" y="3403080"/>
            <a:ext cx="844560" cy="120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1" name="Grafik 1"/>
          <p:cNvPicPr/>
          <p:nvPr/>
        </p:nvPicPr>
        <p:blipFill>
          <a:blip r:embed="rId8"/>
          <a:stretch/>
        </p:blipFill>
        <p:spPr>
          <a:xfrm>
            <a:off x="6891480" y="3677400"/>
            <a:ext cx="822960" cy="99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1984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Synchronisierung der Modelle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48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1"/>
          <p:cNvSpPr>
            <a:spLocks noGrp="1"/>
          </p:cNvSpPr>
          <p:nvPr>
            <p:ph type="sldNum" idx="43"/>
          </p:nvPr>
        </p:nvSpPr>
        <p:spPr>
          <a:xfrm>
            <a:off x="11473200" y="6414840"/>
            <a:ext cx="253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5029D3-F8D1-4F65-B1B3-4C517A8838A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8" name="Tabelle 3"/>
          <p:cNvGraphicFramePr/>
          <p:nvPr/>
        </p:nvGraphicFramePr>
        <p:xfrm>
          <a:off x="2031840" y="15930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09" name="Textfeld 4"/>
          <p:cNvSpPr/>
          <p:nvPr/>
        </p:nvSpPr>
        <p:spPr>
          <a:xfrm>
            <a:off x="631080" y="4645440"/>
            <a:ext cx="4951440" cy="93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feld 6"/>
          <p:cNvSpPr/>
          <p:nvPr/>
        </p:nvSpPr>
        <p:spPr>
          <a:xfrm>
            <a:off x="6607800" y="4645440"/>
            <a:ext cx="4951440" cy="59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feld 7"/>
          <p:cNvSpPr/>
          <p:nvPr/>
        </p:nvSpPr>
        <p:spPr>
          <a:xfrm>
            <a:off x="631080" y="4169160"/>
            <a:ext cx="230580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1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feld 9"/>
          <p:cNvSpPr/>
          <p:nvPr/>
        </p:nvSpPr>
        <p:spPr>
          <a:xfrm>
            <a:off x="6607800" y="4169160"/>
            <a:ext cx="230580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2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feil: nach unten 10"/>
          <p:cNvSpPr/>
          <p:nvPr/>
        </p:nvSpPr>
        <p:spPr>
          <a:xfrm rot="2929200">
            <a:off x="3646800" y="3215520"/>
            <a:ext cx="477000" cy="8575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14" name="Pfeil: nach unten 12"/>
          <p:cNvSpPr/>
          <p:nvPr/>
        </p:nvSpPr>
        <p:spPr>
          <a:xfrm rot="19296000">
            <a:off x="6715080" y="3213000"/>
            <a:ext cx="477000" cy="8575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sldNum" idx="44"/>
          </p:nvPr>
        </p:nvSpPr>
        <p:spPr>
          <a:xfrm>
            <a:off x="11473200" y="6414840"/>
            <a:ext cx="253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A577C1-24AA-42BD-B005-B09968FAD6F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9" name="Tabelle 3"/>
          <p:cNvGraphicFramePr/>
          <p:nvPr/>
        </p:nvGraphicFramePr>
        <p:xfrm>
          <a:off x="1196640" y="2053800"/>
          <a:ext cx="9797040" cy="1849320"/>
        </p:xfrm>
        <a:graphic>
          <a:graphicData uri="http://schemas.openxmlformats.org/drawingml/2006/table">
            <a:tbl>
              <a:tblPr/>
              <a:tblGrid>
                <a:gridCol w="1959480"/>
                <a:gridCol w="1959480"/>
                <a:gridCol w="1959480"/>
                <a:gridCol w="1959480"/>
                <a:gridCol w="1959480"/>
              </a:tblGrid>
              <a:tr h="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Frame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personenGrob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personenFein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türen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1"/>
          <p:cNvSpPr>
            <a:spLocks noGrp="1"/>
          </p:cNvSpPr>
          <p:nvPr>
            <p:ph type="sldNum" idx="45"/>
          </p:nvPr>
        </p:nvSpPr>
        <p:spPr>
          <a:xfrm>
            <a:off x="11473200" y="6414840"/>
            <a:ext cx="253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45C5D6-F8DD-42EF-8B1B-A59DA3CC607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4" name="Grafik 4"/>
          <p:cNvPicPr/>
          <p:nvPr/>
        </p:nvPicPr>
        <p:blipFill>
          <a:blip r:embed="rId1"/>
          <a:stretch/>
        </p:blipFill>
        <p:spPr>
          <a:xfrm>
            <a:off x="2836800" y="2148120"/>
            <a:ext cx="6631920" cy="259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1"/>
          <p:cNvSpPr>
            <a:spLocks noGrp="1"/>
          </p:cNvSpPr>
          <p:nvPr>
            <p:ph type="sldNum" idx="46"/>
          </p:nvPr>
        </p:nvSpPr>
        <p:spPr>
          <a:xfrm>
            <a:off x="11473200" y="6414840"/>
            <a:ext cx="253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3D6F47-0701-4FE7-B9A5-64C73A17415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9" name="Grafik 4"/>
          <p:cNvPicPr/>
          <p:nvPr/>
        </p:nvPicPr>
        <p:blipFill>
          <a:blip r:embed="rId1"/>
          <a:stretch/>
        </p:blipFill>
        <p:spPr>
          <a:xfrm>
            <a:off x="2836800" y="2115000"/>
            <a:ext cx="6516360" cy="255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1"/>
          <p:cNvSpPr>
            <a:spLocks noGrp="1"/>
          </p:cNvSpPr>
          <p:nvPr>
            <p:ph type="sldNum" idx="47"/>
          </p:nvPr>
        </p:nvSpPr>
        <p:spPr>
          <a:xfrm>
            <a:off x="11473200" y="6414840"/>
            <a:ext cx="253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889CE5-BC29-477A-8B9E-3F882551DD6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4" name="Grafik 6"/>
          <p:cNvPicPr/>
          <p:nvPr/>
        </p:nvPicPr>
        <p:blipFill>
          <a:blip r:embed="rId1"/>
          <a:stretch/>
        </p:blipFill>
        <p:spPr>
          <a:xfrm>
            <a:off x="2836800" y="2115000"/>
            <a:ext cx="6524640" cy="255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86;p 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9;p 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 type="sldNum" idx="48"/>
          </p:nvPr>
        </p:nvSpPr>
        <p:spPr>
          <a:xfrm>
            <a:off x="11473200" y="6414840"/>
            <a:ext cx="253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0B2D71-C9AF-4ABC-98C6-6486B254F78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Grafik 5"/>
          <p:cNvPicPr/>
          <p:nvPr/>
        </p:nvPicPr>
        <p:blipFill>
          <a:blip r:embed="rId1"/>
          <a:stretch/>
        </p:blipFill>
        <p:spPr>
          <a:xfrm>
            <a:off x="2836800" y="2115000"/>
            <a:ext cx="7429320" cy="255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86;p 3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04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Google Shape;89;p 3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49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C498B7-638B-4892-A573-A6BB05578C1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95;p 5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424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48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Event B: Beweise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98;p 5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50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8C4E03-9027-4D84-8E59-A8960C60652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86;p 5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89;p 5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 type="sldNum" idx="51"/>
          </p:nvPr>
        </p:nvSpPr>
        <p:spPr>
          <a:xfrm>
            <a:off x="11473200" y="6414840"/>
            <a:ext cx="24660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2C4B930-6FC8-4759-8208-8F9A08B216A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54" name="Grafik 9"/>
          <p:cNvPicPr/>
          <p:nvPr/>
        </p:nvPicPr>
        <p:blipFill>
          <a:blip r:embed="rId1"/>
          <a:stretch/>
        </p:blipFill>
        <p:spPr>
          <a:xfrm>
            <a:off x="3756240" y="1440000"/>
            <a:ext cx="7762320" cy="467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PlaceHolder 8"/>
          <p:cNvSpPr/>
          <p:nvPr/>
        </p:nvSpPr>
        <p:spPr>
          <a:xfrm>
            <a:off x="544320" y="1484280"/>
            <a:ext cx="485424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Statische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Festgelegte Regeln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Unveränderlich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86;p 18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Google Shape;89;p 18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 type="sldNum" idx="52"/>
          </p:nvPr>
        </p:nvSpPr>
        <p:spPr>
          <a:xfrm>
            <a:off x="11473200" y="6414840"/>
            <a:ext cx="23328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39B0B5-09B1-424C-B17B-4F99C2653DD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Grafik 64"/>
          <p:cNvPicPr/>
          <p:nvPr/>
        </p:nvPicPr>
        <p:blipFill>
          <a:blip r:embed="rId1"/>
          <a:stretch/>
        </p:blipFill>
        <p:spPr>
          <a:xfrm>
            <a:off x="5637960" y="2340000"/>
            <a:ext cx="5340600" cy="20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1" name="PlaceHolder 60"/>
          <p:cNvSpPr/>
          <p:nvPr/>
        </p:nvSpPr>
        <p:spPr>
          <a:xfrm>
            <a:off x="544320" y="1484280"/>
            <a:ext cx="485424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Dynamische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personenImOrtFein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personenImOrtGrob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offen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Flussdiagramm: Prozess 322"/>
          <p:cNvSpPr/>
          <p:nvPr/>
        </p:nvSpPr>
        <p:spPr>
          <a:xfrm>
            <a:off x="5637960" y="2628000"/>
            <a:ext cx="2460600" cy="43056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Flussdiagramm: Prozess 323"/>
          <p:cNvSpPr/>
          <p:nvPr/>
        </p:nvSpPr>
        <p:spPr>
          <a:xfrm>
            <a:off x="7740000" y="3960000"/>
            <a:ext cx="898560" cy="17856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Flussdiagramm: Prozess 324"/>
          <p:cNvSpPr/>
          <p:nvPr/>
        </p:nvSpPr>
        <p:spPr>
          <a:xfrm>
            <a:off x="7740000" y="3960000"/>
            <a:ext cx="898560" cy="17856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86;p 4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89;p 4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 type="sldNum" idx="53"/>
          </p:nvPr>
        </p:nvSpPr>
        <p:spPr>
          <a:xfrm>
            <a:off x="11473200" y="6414840"/>
            <a:ext cx="26028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53B4A0-3D9A-404E-BFE7-9153B15D926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9" name="Grafik 329"/>
          <p:cNvPicPr/>
          <p:nvPr/>
        </p:nvPicPr>
        <p:blipFill>
          <a:blip r:embed="rId1"/>
          <a:stretch/>
        </p:blipFill>
        <p:spPr>
          <a:xfrm>
            <a:off x="900000" y="1734480"/>
            <a:ext cx="7558560" cy="244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86;p 15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Google Shape;89;p 15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 type="sldNum" idx="54"/>
          </p:nvPr>
        </p:nvSpPr>
        <p:spPr>
          <a:xfrm>
            <a:off x="11473200" y="6414840"/>
            <a:ext cx="26028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8D823B-CA27-46EA-97DB-8B483CE671D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4" name="Grafik 18"/>
          <p:cNvPicPr/>
          <p:nvPr/>
        </p:nvPicPr>
        <p:blipFill>
          <a:blip r:embed="rId1"/>
          <a:stretch/>
        </p:blipFill>
        <p:spPr>
          <a:xfrm>
            <a:off x="900000" y="1734480"/>
            <a:ext cx="7558560" cy="24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Pfeil: nach rechts 5"/>
          <p:cNvSpPr/>
          <p:nvPr/>
        </p:nvSpPr>
        <p:spPr>
          <a:xfrm rot="9762600">
            <a:off x="6336360" y="121104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feld 12"/>
          <p:cNvSpPr/>
          <p:nvPr/>
        </p:nvSpPr>
        <p:spPr>
          <a:xfrm>
            <a:off x="7301160" y="102492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86;p 24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Google Shape;89;p 24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 type="sldNum" idx="55"/>
          </p:nvPr>
        </p:nvSpPr>
        <p:spPr>
          <a:xfrm>
            <a:off x="11473200" y="6414840"/>
            <a:ext cx="26028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A6E2A5-CD0F-46B8-AC87-A41AC3E1ED6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1" name="Grafik 37"/>
          <p:cNvPicPr/>
          <p:nvPr/>
        </p:nvPicPr>
        <p:blipFill>
          <a:blip r:embed="rId1"/>
          <a:stretch/>
        </p:blipFill>
        <p:spPr>
          <a:xfrm>
            <a:off x="900000" y="1734480"/>
            <a:ext cx="7558560" cy="24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Pfeil: nach rechts 8"/>
          <p:cNvSpPr/>
          <p:nvPr/>
        </p:nvSpPr>
        <p:spPr>
          <a:xfrm rot="9762600">
            <a:off x="6336360" y="121104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feld 13"/>
          <p:cNvSpPr/>
          <p:nvPr/>
        </p:nvSpPr>
        <p:spPr>
          <a:xfrm>
            <a:off x="7301160" y="102492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4" name="Grafik 19"/>
          <p:cNvPicPr/>
          <p:nvPr/>
        </p:nvPicPr>
        <p:blipFill>
          <a:blip r:embed="rId2"/>
          <a:stretch/>
        </p:blipFill>
        <p:spPr>
          <a:xfrm>
            <a:off x="891360" y="2160000"/>
            <a:ext cx="4147560" cy="1118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86;p 23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Google Shape;89;p 23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 type="sldNum" idx="56"/>
          </p:nvPr>
        </p:nvSpPr>
        <p:spPr>
          <a:xfrm>
            <a:off x="11473200" y="6414840"/>
            <a:ext cx="26028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CE572A-BB65-4B56-B4AA-B8EB3CD7CEF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9" name="Grafik 20"/>
          <p:cNvPicPr/>
          <p:nvPr/>
        </p:nvPicPr>
        <p:blipFill>
          <a:blip r:embed="rId1"/>
          <a:stretch/>
        </p:blipFill>
        <p:spPr>
          <a:xfrm>
            <a:off x="900000" y="1734480"/>
            <a:ext cx="7558560" cy="24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0" name="Grafik 36"/>
          <p:cNvPicPr/>
          <p:nvPr/>
        </p:nvPicPr>
        <p:blipFill>
          <a:blip r:embed="rId2"/>
          <a:stretch/>
        </p:blipFill>
        <p:spPr>
          <a:xfrm>
            <a:off x="891000" y="2160000"/>
            <a:ext cx="4147560" cy="11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Pfeil: nach rechts 7"/>
          <p:cNvSpPr/>
          <p:nvPr/>
        </p:nvSpPr>
        <p:spPr>
          <a:xfrm rot="9762600">
            <a:off x="6336360" y="121104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feld 3"/>
          <p:cNvSpPr/>
          <p:nvPr/>
        </p:nvSpPr>
        <p:spPr>
          <a:xfrm>
            <a:off x="7301160" y="102492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"/>
          <p:cNvPicPr/>
          <p:nvPr/>
        </p:nvPicPr>
        <p:blipFill>
          <a:blip r:embed="rId3"/>
          <a:stretch/>
        </p:blipFill>
        <p:spPr>
          <a:xfrm>
            <a:off x="5333760" y="2160000"/>
            <a:ext cx="2406240" cy="2381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86;p 17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Google Shape;89;p 17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2"/>
          <p:cNvSpPr>
            <a:spLocks noGrp="1"/>
          </p:cNvSpPr>
          <p:nvPr>
            <p:ph type="sldNum" idx="57"/>
          </p:nvPr>
        </p:nvSpPr>
        <p:spPr>
          <a:xfrm>
            <a:off x="11473200" y="6414840"/>
            <a:ext cx="26028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464E7E-99D6-4546-B5C7-83DB4766B90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8" name="Grafik 21"/>
          <p:cNvPicPr/>
          <p:nvPr/>
        </p:nvPicPr>
        <p:blipFill>
          <a:blip r:embed="rId1"/>
          <a:stretch/>
        </p:blipFill>
        <p:spPr>
          <a:xfrm>
            <a:off x="900000" y="1734480"/>
            <a:ext cx="7558560" cy="24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9" name="Grafik 22"/>
          <p:cNvPicPr/>
          <p:nvPr/>
        </p:nvPicPr>
        <p:blipFill>
          <a:blip r:embed="rId2"/>
          <a:stretch/>
        </p:blipFill>
        <p:spPr>
          <a:xfrm>
            <a:off x="891000" y="2160000"/>
            <a:ext cx="4147560" cy="11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Pfeil: nach rechts 16"/>
          <p:cNvSpPr/>
          <p:nvPr/>
        </p:nvSpPr>
        <p:spPr>
          <a:xfrm rot="9762600">
            <a:off x="6336360" y="121104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feld 15"/>
          <p:cNvSpPr/>
          <p:nvPr/>
        </p:nvSpPr>
        <p:spPr>
          <a:xfrm>
            <a:off x="7301160" y="102492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Gerader Verbinder 3"/>
          <p:cNvSpPr/>
          <p:nvPr/>
        </p:nvSpPr>
        <p:spPr>
          <a:xfrm>
            <a:off x="720000" y="3492000"/>
            <a:ext cx="10440000" cy="360"/>
          </a:xfrm>
          <a:prstGeom prst="line">
            <a:avLst/>
          </a:prstGeom>
          <a:ln w="0">
            <a:solidFill>
              <a:srgbClr val="E0051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5000" rIns="90000" bIns="-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3" name="Grafik 23"/>
          <p:cNvPicPr/>
          <p:nvPr/>
        </p:nvPicPr>
        <p:blipFill>
          <a:blip r:embed="rId3"/>
          <a:stretch/>
        </p:blipFill>
        <p:spPr>
          <a:xfrm>
            <a:off x="865440" y="3960000"/>
            <a:ext cx="9663840" cy="143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86;p 2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Google Shape;89;p 21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2"/>
          <p:cNvSpPr>
            <a:spLocks noGrp="1"/>
          </p:cNvSpPr>
          <p:nvPr>
            <p:ph type="sldNum" idx="58"/>
          </p:nvPr>
        </p:nvSpPr>
        <p:spPr>
          <a:xfrm>
            <a:off x="11473200" y="6414840"/>
            <a:ext cx="26028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195C28-B61F-4933-B642-1A5574708F1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8" name="Grafik 30"/>
          <p:cNvPicPr/>
          <p:nvPr/>
        </p:nvPicPr>
        <p:blipFill>
          <a:blip r:embed="rId1"/>
          <a:stretch/>
        </p:blipFill>
        <p:spPr>
          <a:xfrm>
            <a:off x="900000" y="1734480"/>
            <a:ext cx="7558560" cy="24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9" name="Grafik 31"/>
          <p:cNvPicPr/>
          <p:nvPr/>
        </p:nvPicPr>
        <p:blipFill>
          <a:blip r:embed="rId2"/>
          <a:stretch/>
        </p:blipFill>
        <p:spPr>
          <a:xfrm>
            <a:off x="891000" y="2160000"/>
            <a:ext cx="4147560" cy="11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0" name="Pfeil: nach rechts 19"/>
          <p:cNvSpPr/>
          <p:nvPr/>
        </p:nvSpPr>
        <p:spPr>
          <a:xfrm rot="9762600">
            <a:off x="6336360" y="121104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feld 26"/>
          <p:cNvSpPr/>
          <p:nvPr/>
        </p:nvSpPr>
        <p:spPr>
          <a:xfrm>
            <a:off x="7301160" y="102492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Gerader Verbinder 4"/>
          <p:cNvSpPr/>
          <p:nvPr/>
        </p:nvSpPr>
        <p:spPr>
          <a:xfrm>
            <a:off x="720000" y="3492000"/>
            <a:ext cx="10440000" cy="360"/>
          </a:xfrm>
          <a:prstGeom prst="line">
            <a:avLst/>
          </a:prstGeom>
          <a:ln w="0">
            <a:solidFill>
              <a:srgbClr val="E0051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5000" rIns="90000" bIns="-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3" name="Grafik 32"/>
          <p:cNvPicPr/>
          <p:nvPr/>
        </p:nvPicPr>
        <p:blipFill>
          <a:blip r:embed="rId3"/>
          <a:stretch/>
        </p:blipFill>
        <p:spPr>
          <a:xfrm>
            <a:off x="865440" y="3960000"/>
            <a:ext cx="9663840" cy="14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Pfeil: nach rechts 21"/>
          <p:cNvSpPr/>
          <p:nvPr/>
        </p:nvSpPr>
        <p:spPr>
          <a:xfrm rot="12480000">
            <a:off x="6695280" y="541836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feld 28"/>
          <p:cNvSpPr/>
          <p:nvPr/>
        </p:nvSpPr>
        <p:spPr>
          <a:xfrm>
            <a:off x="7380000" y="576000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"/>
          <p:cNvPicPr/>
          <p:nvPr/>
        </p:nvPicPr>
        <p:blipFill>
          <a:blip r:embed="rId1"/>
          <a:stretch/>
        </p:blipFill>
        <p:spPr>
          <a:xfrm>
            <a:off x="1800000" y="2160000"/>
            <a:ext cx="9143640" cy="265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Google Shape;86;p 6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Google Shape;89;p 6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sldNum" idx="59"/>
          </p:nvPr>
        </p:nvSpPr>
        <p:spPr>
          <a:xfrm>
            <a:off x="11473200" y="6415200"/>
            <a:ext cx="27360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9E21F7-8C2C-4014-8C69-E3D95375A2F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 flipV="1">
            <a:off x="1980000" y="3023640"/>
            <a:ext cx="8820000" cy="2016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86;p 22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89;p 2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sldNum" idx="60"/>
          </p:nvPr>
        </p:nvSpPr>
        <p:spPr>
          <a:xfrm>
            <a:off x="11473200" y="6415200"/>
            <a:ext cx="27360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1EDB33-1AA6-42FF-BD7D-06CBB3EEAA8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6" name=""/>
          <p:cNvPicPr/>
          <p:nvPr/>
        </p:nvPicPr>
        <p:blipFill>
          <a:blip r:embed="rId1"/>
          <a:stretch/>
        </p:blipFill>
        <p:spPr>
          <a:xfrm>
            <a:off x="1800360" y="2160000"/>
            <a:ext cx="9143640" cy="265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"/>
          <p:cNvSpPr/>
          <p:nvPr/>
        </p:nvSpPr>
        <p:spPr>
          <a:xfrm flipV="1">
            <a:off x="1980360" y="2375640"/>
            <a:ext cx="8820000" cy="684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86;p 25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Google Shape;89;p 25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 type="sldNum" idx="61"/>
          </p:nvPr>
        </p:nvSpPr>
        <p:spPr>
          <a:xfrm>
            <a:off x="11473200" y="6415200"/>
            <a:ext cx="27360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6AB298-6B42-4C0E-A728-71F7686059C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Pfeil: nach rechts 10"/>
          <p:cNvSpPr/>
          <p:nvPr/>
        </p:nvSpPr>
        <p:spPr>
          <a:xfrm rot="12480000">
            <a:off x="6515280" y="487836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feld 16"/>
          <p:cNvSpPr/>
          <p:nvPr/>
        </p:nvSpPr>
        <p:spPr>
          <a:xfrm>
            <a:off x="7200000" y="522000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4" name=""/>
          <p:cNvPicPr/>
          <p:nvPr/>
        </p:nvPicPr>
        <p:blipFill>
          <a:blip r:embed="rId1"/>
          <a:stretch/>
        </p:blipFill>
        <p:spPr>
          <a:xfrm>
            <a:off x="1800720" y="2160360"/>
            <a:ext cx="9143640" cy="265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"/>
          <p:cNvSpPr/>
          <p:nvPr/>
        </p:nvSpPr>
        <p:spPr>
          <a:xfrm flipV="1">
            <a:off x="1980720" y="2376000"/>
            <a:ext cx="8820000" cy="684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480" cy="8791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Die Übersetzung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itel 3"/>
          <p:cNvSpPr/>
          <p:nvPr/>
        </p:nvSpPr>
        <p:spPr>
          <a:xfrm>
            <a:off x="696240" y="3833640"/>
            <a:ext cx="7620480" cy="100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Von Alloy nach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86;p 19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Google Shape;89;p 19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2"/>
          <p:cNvSpPr>
            <a:spLocks noGrp="1"/>
          </p:cNvSpPr>
          <p:nvPr>
            <p:ph type="sldNum" idx="62"/>
          </p:nvPr>
        </p:nvSpPr>
        <p:spPr>
          <a:xfrm>
            <a:off x="11473200" y="6414840"/>
            <a:ext cx="24012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E79100-F248-47C8-AC95-24A25BFB650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Textfeld 21"/>
          <p:cNvSpPr/>
          <p:nvPr/>
        </p:nvSpPr>
        <p:spPr>
          <a:xfrm>
            <a:off x="3320280" y="2340000"/>
            <a:ext cx="585864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86;p 26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Google Shape;89;p 26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 type="sldNum" idx="63"/>
          </p:nvPr>
        </p:nvSpPr>
        <p:spPr>
          <a:xfrm>
            <a:off x="11473200" y="6414840"/>
            <a:ext cx="24012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5ACD25-F9AF-42D8-8F22-15009E8679F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Textfeld 14"/>
          <p:cNvSpPr/>
          <p:nvPr/>
        </p:nvSpPr>
        <p:spPr>
          <a:xfrm>
            <a:off x="3320280" y="2340000"/>
            <a:ext cx="585864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feil: nach rechts 9"/>
          <p:cNvSpPr/>
          <p:nvPr/>
        </p:nvSpPr>
        <p:spPr>
          <a:xfrm rot="10800000">
            <a:off x="9324360" y="296712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feld 18"/>
          <p:cNvSpPr/>
          <p:nvPr/>
        </p:nvSpPr>
        <p:spPr>
          <a:xfrm>
            <a:off x="9936000" y="302400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86;p 27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Google Shape;89;p 27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2"/>
          <p:cNvSpPr>
            <a:spLocks noGrp="1"/>
          </p:cNvSpPr>
          <p:nvPr>
            <p:ph type="sldNum" idx="64"/>
          </p:nvPr>
        </p:nvSpPr>
        <p:spPr>
          <a:xfrm>
            <a:off x="11473200" y="6414840"/>
            <a:ext cx="24012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D047F4-F07D-4633-A66C-EC55D31CB09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Textfeld 20"/>
          <p:cNvSpPr/>
          <p:nvPr/>
        </p:nvSpPr>
        <p:spPr>
          <a:xfrm>
            <a:off x="3320280" y="2340000"/>
            <a:ext cx="585864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feil: nach rechts 17"/>
          <p:cNvSpPr/>
          <p:nvPr/>
        </p:nvSpPr>
        <p:spPr>
          <a:xfrm rot="10800000">
            <a:off x="9324360" y="296712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6" name="Pfeil: nach rechts 18"/>
          <p:cNvSpPr/>
          <p:nvPr/>
        </p:nvSpPr>
        <p:spPr>
          <a:xfrm>
            <a:off x="3132000" y="349200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feld 27"/>
          <p:cNvSpPr/>
          <p:nvPr/>
        </p:nvSpPr>
        <p:spPr>
          <a:xfrm>
            <a:off x="9936000" y="302400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feld 30"/>
          <p:cNvSpPr/>
          <p:nvPr/>
        </p:nvSpPr>
        <p:spPr>
          <a:xfrm>
            <a:off x="1325520" y="353772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 + 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86;p 28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Google Shape;89;p 28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2"/>
          <p:cNvSpPr>
            <a:spLocks noGrp="1"/>
          </p:cNvSpPr>
          <p:nvPr>
            <p:ph type="sldNum" idx="65"/>
          </p:nvPr>
        </p:nvSpPr>
        <p:spPr>
          <a:xfrm>
            <a:off x="11473200" y="6414840"/>
            <a:ext cx="24012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2B84DB-1385-4356-898A-F5EE87EDF36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Textfeld 31"/>
          <p:cNvSpPr/>
          <p:nvPr/>
        </p:nvSpPr>
        <p:spPr>
          <a:xfrm>
            <a:off x="3320280" y="2340000"/>
            <a:ext cx="585864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feil: nach rechts 22"/>
          <p:cNvSpPr/>
          <p:nvPr/>
        </p:nvSpPr>
        <p:spPr>
          <a:xfrm rot="10800000">
            <a:off x="9324360" y="296712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5" name="Pfeil: nach rechts 23"/>
          <p:cNvSpPr/>
          <p:nvPr/>
        </p:nvSpPr>
        <p:spPr>
          <a:xfrm>
            <a:off x="3132000" y="349200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6" name="Pfeil: nach rechts 24"/>
          <p:cNvSpPr/>
          <p:nvPr/>
        </p:nvSpPr>
        <p:spPr>
          <a:xfrm rot="13020000">
            <a:off x="7580880" y="474372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feld 32"/>
          <p:cNvSpPr/>
          <p:nvPr/>
        </p:nvSpPr>
        <p:spPr>
          <a:xfrm>
            <a:off x="8129520" y="515772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Basisannahmen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feld 33"/>
          <p:cNvSpPr/>
          <p:nvPr/>
        </p:nvSpPr>
        <p:spPr>
          <a:xfrm>
            <a:off x="9936000" y="302400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feld 34"/>
          <p:cNvSpPr/>
          <p:nvPr/>
        </p:nvSpPr>
        <p:spPr>
          <a:xfrm>
            <a:off x="1325520" y="353772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 + 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86;p 20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Übersetzung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755496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`pre_` bezeichnet eine Vorbedingung.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`post_` bezeichnet eine Nachbedingung.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`frame_` bezeichnet Eigenschaften, die unverändert bleiben.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`aktion_` bezeichnet die eigentliche Zustandsänderung.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`...Schritt` bezeichnet eine vollständige Übergangsrelation.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Google Shape;89;p 20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sldNum" idx="66"/>
          </p:nvPr>
        </p:nvSpPr>
        <p:spPr>
          <a:xfrm>
            <a:off x="11473200" y="6414840"/>
            <a:ext cx="26028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4C9970-D5BC-4AA0-B2B2-404C0AD526A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PlaceHolder 6"/>
          <p:cNvSpPr/>
          <p:nvPr/>
        </p:nvSpPr>
        <p:spPr>
          <a:xfrm>
            <a:off x="8069760" y="1404000"/>
            <a:ext cx="2102040" cy="26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 lnSpcReduction="9999"/>
          </a:bodyPr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}</a:t>
            </a:r>
            <a:endParaRPr lang="de-DE" sz="20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11"/>
          <p:cNvSpPr/>
          <p:nvPr/>
        </p:nvSpPr>
        <p:spPr>
          <a:xfrm>
            <a:off x="9301320" y="2436120"/>
            <a:ext cx="1183680" cy="3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480" cy="8791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betreteTuer als Beispiel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itel 8"/>
          <p:cNvSpPr/>
          <p:nvPr/>
        </p:nvSpPr>
        <p:spPr>
          <a:xfrm>
            <a:off x="696240" y="3833640"/>
            <a:ext cx="7620480" cy="100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Beispiel: 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Grafik 36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300000" y="5040000"/>
            <a:ext cx="5475240" cy="152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86;p 9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betrete Tür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Google Shape;89;p 9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 type="sldNum" idx="67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5FB0A8-35D5-4D4C-9FC8-70010144C7B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84" name="Grafik 2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843360" y="4364640"/>
            <a:ext cx="4597560" cy="85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5" name="Grafik 25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938040" y="2550960"/>
            <a:ext cx="4408200" cy="101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6" name="Grafik 26"/>
          <p:cNvPicPr/>
          <p:nvPr/>
        </p:nvPicPr>
        <p:blipFill>
          <a:blip r:embed="rId5"/>
          <a:stretch/>
        </p:blipFill>
        <p:spPr>
          <a:xfrm>
            <a:off x="4628520" y="2040480"/>
            <a:ext cx="822960" cy="99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7" name="Grafik 27"/>
          <p:cNvPicPr/>
          <p:nvPr/>
        </p:nvPicPr>
        <p:blipFill>
          <a:blip r:embed="rId6"/>
          <a:stretch/>
        </p:blipFill>
        <p:spPr>
          <a:xfrm>
            <a:off x="5619600" y="3749040"/>
            <a:ext cx="822960" cy="99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8" name="Grafik 28"/>
          <p:cNvPicPr/>
          <p:nvPr/>
        </p:nvPicPr>
        <p:blipFill>
          <a:blip r:embed="rId7"/>
          <a:stretch/>
        </p:blipFill>
        <p:spPr>
          <a:xfrm>
            <a:off x="3782520" y="1766160"/>
            <a:ext cx="844560" cy="120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Grafik 29"/>
          <p:cNvPicPr/>
          <p:nvPr/>
        </p:nvPicPr>
        <p:blipFill>
          <a:blip r:embed="rId8"/>
          <a:stretch/>
        </p:blipFill>
        <p:spPr>
          <a:xfrm>
            <a:off x="3600000" y="3578040"/>
            <a:ext cx="844560" cy="12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Rechteck 382"/>
          <p:cNvSpPr/>
          <p:nvPr/>
        </p:nvSpPr>
        <p:spPr>
          <a:xfrm>
            <a:off x="1296360" y="5860080"/>
            <a:ext cx="9791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86;p 14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Vorbedingung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Google Shape;89;p 14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2"/>
          <p:cNvSpPr>
            <a:spLocks noGrp="1"/>
          </p:cNvSpPr>
          <p:nvPr>
            <p:ph type="sldNum" idx="68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E3240B-3E52-4F08-AD65-B3FD1A0B2E3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Rechteck 388"/>
          <p:cNvSpPr/>
          <p:nvPr/>
        </p:nvSpPr>
        <p:spPr>
          <a:xfrm>
            <a:off x="1800000" y="5874120"/>
            <a:ext cx="848664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Flussdiagramm: Prozess 389"/>
          <p:cNvSpPr/>
          <p:nvPr/>
        </p:nvSpPr>
        <p:spPr>
          <a:xfrm>
            <a:off x="1606680" y="5724000"/>
            <a:ext cx="138060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86;p 29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Vorbedingung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Google Shape;89;p 29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sldNum" idx="69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F0D589-C180-4528-A7CA-8609FB9A1AA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01" name="Grafik 35"/>
          <p:cNvPicPr/>
          <p:nvPr/>
        </p:nvPicPr>
        <p:blipFill>
          <a:blip r:embed="rId1"/>
          <a:stretch/>
        </p:blipFill>
        <p:spPr>
          <a:xfrm>
            <a:off x="1577520" y="2340000"/>
            <a:ext cx="9041400" cy="215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Rechteck 2"/>
          <p:cNvSpPr/>
          <p:nvPr/>
        </p:nvSpPr>
        <p:spPr>
          <a:xfrm>
            <a:off x="1800000" y="5874120"/>
            <a:ext cx="8368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Flussdiagramm: Prozess 2"/>
          <p:cNvSpPr/>
          <p:nvPr/>
        </p:nvSpPr>
        <p:spPr>
          <a:xfrm>
            <a:off x="1606680" y="5724000"/>
            <a:ext cx="138060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86;p 10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Aktion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Google Shape;89;p 10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2"/>
          <p:cNvSpPr>
            <a:spLocks noGrp="1"/>
          </p:cNvSpPr>
          <p:nvPr>
            <p:ph type="sldNum" idx="70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FF04D4-6339-4B5C-A186-ED9655762CE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Rechteck 394"/>
          <p:cNvSpPr/>
          <p:nvPr/>
        </p:nvSpPr>
        <p:spPr>
          <a:xfrm>
            <a:off x="1800000" y="5874480"/>
            <a:ext cx="848664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Flussdiagramm: Prozess 395"/>
          <p:cNvSpPr/>
          <p:nvPr/>
        </p:nvSpPr>
        <p:spPr>
          <a:xfrm>
            <a:off x="3528000" y="5760000"/>
            <a:ext cx="138060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86;p 30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Aktion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Google Shape;89;p 30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 type="sldNum" idx="71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2ECB5D-A78A-42A5-A35B-92AC78CC116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Rechteck 3"/>
          <p:cNvSpPr/>
          <p:nvPr/>
        </p:nvSpPr>
        <p:spPr>
          <a:xfrm>
            <a:off x="1800000" y="5874480"/>
            <a:ext cx="8368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Flussdiagramm: Prozess 3"/>
          <p:cNvSpPr/>
          <p:nvPr/>
        </p:nvSpPr>
        <p:spPr>
          <a:xfrm>
            <a:off x="3528000" y="5760000"/>
            <a:ext cx="138060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6" name="Grafik 38"/>
          <p:cNvPicPr/>
          <p:nvPr/>
        </p:nvPicPr>
        <p:blipFill>
          <a:blip r:embed="rId1"/>
          <a:stretch/>
        </p:blipFill>
        <p:spPr>
          <a:xfrm>
            <a:off x="2122920" y="2340000"/>
            <a:ext cx="8316360" cy="1757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86;p 7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Google Shape;89;p 7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 type="sldNum" idx="72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9CD51A-30B9-4D7D-AB1A-DE2B0312274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Rechteck 402"/>
          <p:cNvSpPr/>
          <p:nvPr/>
        </p:nvSpPr>
        <p:spPr>
          <a:xfrm>
            <a:off x="1800000" y="5874480"/>
            <a:ext cx="848664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Flussdiagramm: Prozess 403"/>
          <p:cNvSpPr/>
          <p:nvPr/>
        </p:nvSpPr>
        <p:spPr>
          <a:xfrm>
            <a:off x="5328000" y="5760000"/>
            <a:ext cx="113256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86;p 3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Google Shape;89;p 31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PlaceHolder 2"/>
          <p:cNvSpPr>
            <a:spLocks noGrp="1"/>
          </p:cNvSpPr>
          <p:nvPr>
            <p:ph type="sldNum" idx="73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FD0857-9892-480C-8381-0A4D14879AE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Rechteck 4"/>
          <p:cNvSpPr/>
          <p:nvPr/>
        </p:nvSpPr>
        <p:spPr>
          <a:xfrm>
            <a:off x="1800000" y="5874480"/>
            <a:ext cx="8368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Flussdiagramm: Prozess 4"/>
          <p:cNvSpPr/>
          <p:nvPr/>
        </p:nvSpPr>
        <p:spPr>
          <a:xfrm>
            <a:off x="5328000" y="5760000"/>
            <a:ext cx="113256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9" name=""/>
          <p:cNvPicPr/>
          <p:nvPr/>
        </p:nvPicPr>
        <p:blipFill>
          <a:blip r:embed="rId1"/>
          <a:stretch/>
        </p:blipFill>
        <p:spPr>
          <a:xfrm>
            <a:off x="720000" y="2520000"/>
            <a:ext cx="10820520" cy="1181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86;p 11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Google Shape;89;p 11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 type="sldNum" idx="74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F50761-F160-49CE-929A-8FFB7EEC603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Rechteck 409"/>
          <p:cNvSpPr/>
          <p:nvPr/>
        </p:nvSpPr>
        <p:spPr>
          <a:xfrm>
            <a:off x="1800000" y="5874480"/>
            <a:ext cx="854280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Flussdiagramm: Prozess 410"/>
          <p:cNvSpPr/>
          <p:nvPr/>
        </p:nvSpPr>
        <p:spPr>
          <a:xfrm>
            <a:off x="1620000" y="5760000"/>
            <a:ext cx="508896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86;p 32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Google Shape;89;p 3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 type="sldNum" idx="75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4CA412-AA9E-4DF7-B202-92193ED1F0D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0" name="Grafik 40"/>
          <p:cNvPicPr/>
          <p:nvPr/>
        </p:nvPicPr>
        <p:blipFill>
          <a:blip r:embed="rId1"/>
          <a:stretch/>
        </p:blipFill>
        <p:spPr>
          <a:xfrm>
            <a:off x="1707120" y="1932840"/>
            <a:ext cx="8551800" cy="26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Rechteck 5"/>
          <p:cNvSpPr/>
          <p:nvPr/>
        </p:nvSpPr>
        <p:spPr>
          <a:xfrm>
            <a:off x="1800000" y="5874480"/>
            <a:ext cx="8542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Flussdiagramm: Prozess 5"/>
          <p:cNvSpPr/>
          <p:nvPr/>
        </p:nvSpPr>
        <p:spPr>
          <a:xfrm>
            <a:off x="1620000" y="5760000"/>
            <a:ext cx="508896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86;p 35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Google Shape;89;p 35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PlaceHolder 2"/>
          <p:cNvSpPr>
            <a:spLocks noGrp="1"/>
          </p:cNvSpPr>
          <p:nvPr>
            <p:ph type="sldNum" idx="76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26C1CC-7263-461A-B52E-D7A0DCB9A33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7" name="Grafik 33"/>
          <p:cNvPicPr/>
          <p:nvPr/>
        </p:nvPicPr>
        <p:blipFill>
          <a:blip r:embed="rId1"/>
          <a:stretch/>
        </p:blipFill>
        <p:spPr>
          <a:xfrm>
            <a:off x="1707120" y="1932840"/>
            <a:ext cx="8551800" cy="26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8" name="Rechteck 8"/>
          <p:cNvSpPr/>
          <p:nvPr/>
        </p:nvSpPr>
        <p:spPr>
          <a:xfrm>
            <a:off x="1800000" y="5874480"/>
            <a:ext cx="8542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Flussdiagramm: Prozess 7"/>
          <p:cNvSpPr/>
          <p:nvPr/>
        </p:nvSpPr>
        <p:spPr>
          <a:xfrm>
            <a:off x="1620000" y="5760000"/>
            <a:ext cx="508896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Pfeil: nach rechts 12"/>
          <p:cNvSpPr/>
          <p:nvPr/>
        </p:nvSpPr>
        <p:spPr>
          <a:xfrm rot="10800000">
            <a:off x="7770960" y="270000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feld 22"/>
          <p:cNvSpPr/>
          <p:nvPr/>
        </p:nvSpPr>
        <p:spPr>
          <a:xfrm>
            <a:off x="8382600" y="275688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86;p 36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Google Shape;89;p 36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2"/>
          <p:cNvSpPr>
            <a:spLocks noGrp="1"/>
          </p:cNvSpPr>
          <p:nvPr>
            <p:ph type="sldNum" idx="77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58CC6A-23C4-4284-859F-A3A4EC2553F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6" name="Grafik 34"/>
          <p:cNvPicPr/>
          <p:nvPr/>
        </p:nvPicPr>
        <p:blipFill>
          <a:blip r:embed="rId1"/>
          <a:stretch/>
        </p:blipFill>
        <p:spPr>
          <a:xfrm>
            <a:off x="1707120" y="1932840"/>
            <a:ext cx="8551800" cy="26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Rechteck 9"/>
          <p:cNvSpPr/>
          <p:nvPr/>
        </p:nvSpPr>
        <p:spPr>
          <a:xfrm>
            <a:off x="1800000" y="5874480"/>
            <a:ext cx="8542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Flussdiagramm: Prozess 8"/>
          <p:cNvSpPr/>
          <p:nvPr/>
        </p:nvSpPr>
        <p:spPr>
          <a:xfrm>
            <a:off x="1620000" y="5760000"/>
            <a:ext cx="508896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Pfeil: nach rechts 15"/>
          <p:cNvSpPr/>
          <p:nvPr/>
        </p:nvSpPr>
        <p:spPr>
          <a:xfrm rot="10800000">
            <a:off x="7770960" y="270000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feld 25"/>
          <p:cNvSpPr/>
          <p:nvPr/>
        </p:nvSpPr>
        <p:spPr>
          <a:xfrm>
            <a:off x="8382600" y="275688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feil: nach rechts 25"/>
          <p:cNvSpPr/>
          <p:nvPr/>
        </p:nvSpPr>
        <p:spPr>
          <a:xfrm rot="20400000">
            <a:off x="828000" y="357912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feld 36"/>
          <p:cNvSpPr/>
          <p:nvPr/>
        </p:nvSpPr>
        <p:spPr>
          <a:xfrm>
            <a:off x="-366120" y="3852000"/>
            <a:ext cx="187740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86;p 37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Google Shape;89;p 37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PlaceHolder 2"/>
          <p:cNvSpPr>
            <a:spLocks noGrp="1"/>
          </p:cNvSpPr>
          <p:nvPr>
            <p:ph type="sldNum" idx="78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01B0E7-D963-45DA-947E-1EDD060D47A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67" name="Grafik 39"/>
          <p:cNvPicPr/>
          <p:nvPr/>
        </p:nvPicPr>
        <p:blipFill>
          <a:blip r:embed="rId1"/>
          <a:stretch/>
        </p:blipFill>
        <p:spPr>
          <a:xfrm>
            <a:off x="1707120" y="1932840"/>
            <a:ext cx="8551800" cy="26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8" name="Rechteck 10"/>
          <p:cNvSpPr/>
          <p:nvPr/>
        </p:nvSpPr>
        <p:spPr>
          <a:xfrm>
            <a:off x="1800000" y="5874480"/>
            <a:ext cx="8542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Flussdiagramm: Prozess 9"/>
          <p:cNvSpPr/>
          <p:nvPr/>
        </p:nvSpPr>
        <p:spPr>
          <a:xfrm>
            <a:off x="1620000" y="5760000"/>
            <a:ext cx="508896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feil: nach rechts 26"/>
          <p:cNvSpPr/>
          <p:nvPr/>
        </p:nvSpPr>
        <p:spPr>
          <a:xfrm rot="10800000">
            <a:off x="7770960" y="270000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feld 37"/>
          <p:cNvSpPr/>
          <p:nvPr/>
        </p:nvSpPr>
        <p:spPr>
          <a:xfrm>
            <a:off x="8382600" y="275688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Pfeil: nach rechts 28"/>
          <p:cNvSpPr/>
          <p:nvPr/>
        </p:nvSpPr>
        <p:spPr>
          <a:xfrm rot="18780000">
            <a:off x="1954080" y="473724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feld 38"/>
          <p:cNvSpPr/>
          <p:nvPr/>
        </p:nvSpPr>
        <p:spPr>
          <a:xfrm>
            <a:off x="540000" y="5121720"/>
            <a:ext cx="187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feil: nach rechts 29"/>
          <p:cNvSpPr/>
          <p:nvPr/>
        </p:nvSpPr>
        <p:spPr>
          <a:xfrm rot="20400000">
            <a:off x="828000" y="3579120"/>
            <a:ext cx="934560" cy="38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feld 39"/>
          <p:cNvSpPr/>
          <p:nvPr/>
        </p:nvSpPr>
        <p:spPr>
          <a:xfrm>
            <a:off x="-366120" y="3852000"/>
            <a:ext cx="187740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"/>
          <p:cNvPicPr/>
          <p:nvPr/>
        </p:nvPicPr>
        <p:blipFill>
          <a:blip r:embed="rId1"/>
          <a:stretch/>
        </p:blipFill>
        <p:spPr>
          <a:xfrm>
            <a:off x="1483200" y="2395080"/>
            <a:ext cx="8416800" cy="1672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Google Shape;86;p 34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Google Shape;89;p 34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2"/>
          <p:cNvSpPr>
            <a:spLocks noGrp="1"/>
          </p:cNvSpPr>
          <p:nvPr>
            <p:ph type="sldNum" idx="79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A332E6-F7CE-48AA-8558-ED3276141CB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 flipV="1">
            <a:off x="1620000" y="3563640"/>
            <a:ext cx="8820000" cy="1116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1984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Konsistenz zwischen Modellen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480" cy="1141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4" name="Grafik 420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069800" y="5079240"/>
            <a:ext cx="7808760" cy="157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86;p 16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Konsistenz zwischen den Modellen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Google Shape;89;p 16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PlaceHolder 2"/>
          <p:cNvSpPr>
            <a:spLocks noGrp="1"/>
          </p:cNvSpPr>
          <p:nvPr>
            <p:ph type="sldNum" idx="80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63BAD8-EBE7-4819-BA88-59DE340495A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9" name="Grafik 425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69800" y="2700000"/>
            <a:ext cx="7808760" cy="157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86;p 12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Google Shape;89;p 12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PlaceHolder 2"/>
          <p:cNvSpPr>
            <a:spLocks noGrp="1"/>
          </p:cNvSpPr>
          <p:nvPr>
            <p:ph type="sldNum" idx="81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CB4604-EBCA-47AD-BBC8-6FEFE1954C3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Rechteck 415"/>
          <p:cNvSpPr/>
          <p:nvPr/>
        </p:nvSpPr>
        <p:spPr>
          <a:xfrm>
            <a:off x="1800000" y="5874480"/>
            <a:ext cx="8368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Flussdiagramm: Prozess 417"/>
          <p:cNvSpPr/>
          <p:nvPr/>
        </p:nvSpPr>
        <p:spPr>
          <a:xfrm>
            <a:off x="1620000" y="5760000"/>
            <a:ext cx="881928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Grafik 41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70160" y="2700360"/>
            <a:ext cx="7808760" cy="157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86;p 33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Google Shape;89;p 33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 type="sldNum" idx="82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752ACD-C660-4B0D-8D62-EE6F432269F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Rechteck 6"/>
          <p:cNvSpPr/>
          <p:nvPr/>
        </p:nvSpPr>
        <p:spPr>
          <a:xfrm>
            <a:off x="1800000" y="5874480"/>
            <a:ext cx="8368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Flussdiagramm: Prozess 6"/>
          <p:cNvSpPr/>
          <p:nvPr/>
        </p:nvSpPr>
        <p:spPr>
          <a:xfrm>
            <a:off x="1620000" y="5760000"/>
            <a:ext cx="8819280" cy="53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3" name=""/>
          <p:cNvPicPr/>
          <p:nvPr/>
        </p:nvPicPr>
        <p:blipFill>
          <a:blip r:embed="rId1"/>
          <a:stretch/>
        </p:blipFill>
        <p:spPr>
          <a:xfrm>
            <a:off x="1800000" y="1849680"/>
            <a:ext cx="8523720" cy="265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"/>
          <p:cNvSpPr/>
          <p:nvPr/>
        </p:nvSpPr>
        <p:spPr>
          <a:xfrm flipV="1">
            <a:off x="1620000" y="3275640"/>
            <a:ext cx="8820000" cy="1584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95;p3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48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48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Google Shape;98;p3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sldNum" idx="83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DEFCB0-5F25-40CC-9EBF-0D84C817069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74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178;p8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04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</a:rPr>
              <a:t>Weiterentwicklung des Systems durch weitere </a:t>
            </a:r>
            <a:r>
              <a:rPr lang="en-US" sz="2000" b="1" u="none" strike="noStrike">
                <a:solidFill>
                  <a:srgbClr val="361E47"/>
                </a:solidFill>
                <a:effectLst/>
                <a:uFillTx/>
                <a:latin typeface="Arial"/>
              </a:rPr>
              <a:t>Zutrittsregeln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</a:rPr>
              <a:t> und </a:t>
            </a:r>
            <a:r>
              <a:rPr lang="en-US" sz="2000" b="1" u="none" strike="noStrike">
                <a:solidFill>
                  <a:srgbClr val="361E47"/>
                </a:solidFill>
                <a:effectLst/>
                <a:uFillTx/>
                <a:latin typeface="Arial"/>
              </a:rPr>
              <a:t>Zutrittsschritte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</a:rPr>
              <a:t>Weitere Zutrittsregeln auf Autorisierungsebene: 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Raumkapazitäten, Uhrzeiten, Personentypen oder externe Bedingungen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Weitere Zutrittsschritte mit nach Event-B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Parallele Authentifizierungsschritte und Spezifikationslücken durch Regelverletzung finden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Google Shape;181;p8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sldNum" idx="84"/>
          </p:nvPr>
        </p:nvSpPr>
        <p:spPr>
          <a:xfrm>
            <a:off x="11473200" y="6414840"/>
            <a:ext cx="17244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28CF89-1716-41E4-B202-19AEFB9BC34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49760" cy="100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Vielen lieben Dank!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49760" cy="136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Google Shape;80;p1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8" name="Google Shape;81;p1" descr="Grafik 7"/>
          <p:cNvPicPr/>
          <p:nvPr/>
        </p:nvPicPr>
        <p:blipFill>
          <a:blip r:embed="rId1"/>
          <a:stretch/>
        </p:blipFill>
        <p:spPr>
          <a:xfrm>
            <a:off x="10726560" y="399240"/>
            <a:ext cx="1145880" cy="44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9" name="Grafik 14"/>
          <p:cNvPicPr/>
          <p:nvPr/>
        </p:nvPicPr>
        <p:blipFill>
          <a:blip r:embed="rId2"/>
          <a:stretch/>
        </p:blipFill>
        <p:spPr>
          <a:xfrm>
            <a:off x="5760000" y="3471120"/>
            <a:ext cx="3707280" cy="447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0" name="Grafik 16"/>
          <p:cNvPicPr/>
          <p:nvPr/>
        </p:nvPicPr>
        <p:blipFill>
          <a:blip r:embed="rId3"/>
          <a:stretch/>
        </p:blipFill>
        <p:spPr>
          <a:xfrm>
            <a:off x="8508240" y="2700000"/>
            <a:ext cx="3804480" cy="544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232;p14"/>
          <p:cNvSpPr/>
          <p:nvPr/>
        </p:nvSpPr>
        <p:spPr>
          <a:xfrm>
            <a:off x="1569600" y="6417360"/>
            <a:ext cx="4355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040" cy="574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Quellen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2040" cy="4571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Bernd das Brot: https://erfurt-mitte.de/blogs/erfurt-mitte-blog/bernd-das-brot-merchandise-im-onlineshop-kultiges-kultbrot-fuer-fans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Sandmännchen: https://www.gmx.ch/magazine/unterhaltung/tv-shows/24-zentimeter-gross-unermuedlich-sandmann-55-30229448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Alle anderen Diagramme/Bilder sind durch uns erstellt worden.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Google Shape;235;p14"/>
          <p:cNvSpPr/>
          <p:nvPr/>
        </p:nvSpPr>
        <p:spPr>
          <a:xfrm>
            <a:off x="589680" y="6417360"/>
            <a:ext cx="746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PlaceHolder 3"/>
          <p:cNvSpPr>
            <a:spLocks noGrp="1"/>
          </p:cNvSpPr>
          <p:nvPr>
            <p:ph type="sldNum" idx="85"/>
          </p:nvPr>
        </p:nvSpPr>
        <p:spPr>
          <a:xfrm>
            <a:off x="11402640" y="6414840"/>
            <a:ext cx="243360" cy="2462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C1F229-0CB9-452E-8A92-1E6982A3B23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LibreOffice/26.2.5.2$Windows_X86_64 LibreOffice_project/cd7284b4cbbfeb507e630c1aac019f4157393acb</Application>
  <AppVersion>15.0000</AppVersion>
  <Words>3472</Words>
  <Paragraphs>680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de-DE</dc:language>
  <cp:lastModifiedBy/>
  <dcterms:modified xsi:type="dcterms:W3CDTF">2026-08-18T16:49:56Z</dcterms:modified>
  <cp:revision>77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8</vt:i4>
  </property>
  <property fmtid="{D5CDD505-2E9C-101B-9397-08002B2CF9AE}" pid="3" name="Notes">
    <vt:i4>20</vt:i4>
  </property>
  <property fmtid="{D5CDD505-2E9C-101B-9397-08002B2CF9AE}" pid="4" name="PresentationFormat">
    <vt:lpwstr>Breitbild</vt:lpwstr>
  </property>
  <property fmtid="{D5CDD505-2E9C-101B-9397-08002B2CF9AE}" pid="5" name="Slides">
    <vt:i4>59</vt:i4>
  </property>
</Properties>
</file>