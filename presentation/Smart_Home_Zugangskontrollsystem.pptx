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</p:sldMasterIdLst>
  <p:notesMasterIdLst>
    <p:notesMasterId r:id="rId6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320" r:id="rId12"/>
    <p:sldId id="266" r:id="rId13"/>
    <p:sldId id="267" r:id="rId14"/>
    <p:sldId id="322" r:id="rId15"/>
    <p:sldId id="321" r:id="rId16"/>
    <p:sldId id="269" r:id="rId17"/>
    <p:sldId id="270" r:id="rId18"/>
    <p:sldId id="271" r:id="rId19"/>
    <p:sldId id="273" r:id="rId20"/>
    <p:sldId id="274" r:id="rId21"/>
    <p:sldId id="323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325" r:id="rId33"/>
    <p:sldId id="326" r:id="rId34"/>
    <p:sldId id="327" r:id="rId35"/>
    <p:sldId id="328" r:id="rId36"/>
    <p:sldId id="329" r:id="rId37"/>
    <p:sldId id="331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32" r:id="rId60"/>
    <p:sldId id="312" r:id="rId6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43" d="100"/>
          <a:sy n="143" d="100"/>
        </p:scale>
        <p:origin x="852" y="12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-5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tableStyles" Target="tableStyle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Folie mittels Klicken verschieben</a:t>
            </a: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</a:p>
        </p:txBody>
      </p:sp>
      <p:sp>
        <p:nvSpPr>
          <p:cNvPr id="7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&lt;Kopfzeile&gt;</a:t>
            </a:r>
          </a:p>
        </p:txBody>
      </p:sp>
      <p:sp>
        <p:nvSpPr>
          <p:cNvPr id="74" name="PlaceHolder 4"/>
          <p:cNvSpPr>
            <a:spLocks noGrp="1"/>
          </p:cNvSpPr>
          <p:nvPr>
            <p:ph type="dt" idx="15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</a:p>
        </p:txBody>
      </p:sp>
      <p:sp>
        <p:nvSpPr>
          <p:cNvPr id="75" name="PlaceHolder 5"/>
          <p:cNvSpPr>
            <a:spLocks noGrp="1"/>
          </p:cNvSpPr>
          <p:nvPr>
            <p:ph type="ftr" idx="16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</a:p>
        </p:txBody>
      </p:sp>
      <p:sp>
        <p:nvSpPr>
          <p:cNvPr id="76" name="PlaceHolder 6"/>
          <p:cNvSpPr>
            <a:spLocks noGrp="1"/>
          </p:cNvSpPr>
          <p:nvPr>
            <p:ph type="sldNum" idx="17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A053150-5157-4E36-B769-06ECB6412759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‹Nr.›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1 – Titel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Begrüßung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Vorstellung unseres Projekts: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Collaborative Real-Time Kanban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Modul: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Principles, Algorithms and Models of Concurrency and Synchronization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Fokus: Synchronisation und Nebenläufigkeit in einem kollaborativen Kanban-Board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1237" cy="3427413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1237" cy="3427413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E9B23-EADA-4B48-77A5-BD920B8AE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>
            <a:extLst>
              <a:ext uri="{FF2B5EF4-FFF2-40B4-BE49-F238E27FC236}">
                <a16:creationId xmlns:a16="http://schemas.microsoft.com/office/drawing/2014/main" id="{ED25966C-36E8-6FC7-9458-A775FC1CE5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502" name="PlaceHolder 2">
            <a:extLst>
              <a:ext uri="{FF2B5EF4-FFF2-40B4-BE49-F238E27FC236}">
                <a16:creationId xmlns:a16="http://schemas.microsoft.com/office/drawing/2014/main" id="{93842DD0-7DE8-40D4-ADCF-E7C36C6444B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Wir haben Invarianten nicht als </a:t>
            </a:r>
            <a:r>
              <a:rPr lang="de-DE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facts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festgehalten, sondern nur über </a:t>
            </a:r>
            <a:r>
              <a:rPr lang="de-DE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asserts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überprüft, damit wir das Modell nicht zu sehr einschränken</a:t>
            </a:r>
          </a:p>
        </p:txBody>
      </p:sp>
    </p:spTree>
    <p:extLst>
      <p:ext uri="{BB962C8B-B14F-4D97-AF65-F5344CB8AC3E}">
        <p14:creationId xmlns:p14="http://schemas.microsoft.com/office/powerpoint/2010/main" val="37258188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6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6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7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1237" cy="3427413"/>
          </a:xfrm>
          <a:prstGeom prst="rect">
            <a:avLst/>
          </a:prstGeom>
          <a:ln w="0">
            <a:noFill/>
          </a:ln>
        </p:spPr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6 – Race Condition: WIP Limits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Testing-Spalte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Maximal 3 Tasks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einen Task hinein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sehen zunächst dieselbe Anzahl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Operationen erfolgreich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überschritten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ReentrantLock pro 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WIP-Prüfung und Update in einer kritischen Sektion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DD432-BFF2-BBA2-19ED-AC1A4AEDC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>
            <a:extLst>
              <a:ext uri="{FF2B5EF4-FFF2-40B4-BE49-F238E27FC236}">
                <a16:creationId xmlns:a16="http://schemas.microsoft.com/office/drawing/2014/main" id="{FF74DADE-1C36-29B8-45A8-A329DBB01DB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1 – Titel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Begrüßung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Vorstellung unseres Projekts: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Collaborative Real-Time Kanban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Modul: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Principles, Algorithms and Models of Concurrency and Synchronization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Fokus: Synchronisation und Nebenläufigkeit in einem kollaborativen Kanban-Board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2">
            <a:extLst>
              <a:ext uri="{FF2B5EF4-FFF2-40B4-BE49-F238E27FC236}">
                <a16:creationId xmlns:a16="http://schemas.microsoft.com/office/drawing/2014/main" id="{FD089D28-F8F8-559B-958F-928FED561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6476632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Locking initially only covered tasks, extending it to boards and columns required a full restructuring (tests and code, via an abstract lock service)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Keeping frontend state consistent required precise timing of WebSocket updates across all clients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Understanding synchronization deeply mattered more than just getting the code to run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471BAC3F-D119-45FD-9DDB-CA068A1A7B0C}" type="slidenum"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bschnitts-&#10;überschrif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2467800" y="1484280"/>
            <a:ext cx="7254720" cy="219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2467800" y="3681360"/>
            <a:ext cx="725472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0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pic>
        <p:nvPicPr>
          <p:cNvPr id="10" name="Google Shape;51;p24" descr="Grafik 6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PlaceHolder 3"/>
          <p:cNvSpPr>
            <a:spLocks noGrp="1"/>
          </p:cNvSpPr>
          <p:nvPr>
            <p:ph type="sldNum" idx="2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02709F-0E1C-458A-A968-88D486F34F4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Titel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body"/>
          </p:nvPr>
        </p:nvSpPr>
        <p:spPr>
          <a:xfrm>
            <a:off x="6294600" y="0"/>
            <a:ext cx="5895720" cy="6856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294600" y="0"/>
            <a:ext cx="5895720" cy="6856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15" name="PlaceHolder 3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12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012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17" name="PlaceHolder 5"/>
          <p:cNvSpPr>
            <a:spLocks noGrp="1"/>
          </p:cNvSpPr>
          <p:nvPr>
            <p:ph type="sldNum" idx="3"/>
          </p:nvPr>
        </p:nvSpPr>
        <p:spPr>
          <a:xfrm>
            <a:off x="5892840" y="6233760"/>
            <a:ext cx="28429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5908153-4EF1-4935-B17D-C4D2FB0C66E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Titelfoli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084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sldNum" idx="4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6A924AC-EDBF-4814-A3AF-D269012D74B9}" type="slidenum"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Titel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12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012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4240" cy="5205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26" name="PlaceHolder 4"/>
          <p:cNvSpPr>
            <a:spLocks noGrp="1"/>
          </p:cNvSpPr>
          <p:nvPr>
            <p:ph type="sldNum" idx="5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DC2B901-8298-4B16-B2B7-68011EE7681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6_Titel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pic>
        <p:nvPicPr>
          <p:cNvPr id="29" name="Google Shape;63;p26" descr="Grafik 6"/>
          <p:cNvPicPr/>
          <p:nvPr/>
        </p:nvPicPr>
        <p:blipFill>
          <a:blip r:embed="rId3"/>
          <a:stretch/>
        </p:blipFill>
        <p:spPr>
          <a:xfrm>
            <a:off x="10081440" y="399240"/>
            <a:ext cx="179136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406200" y="1484280"/>
            <a:ext cx="2294640" cy="229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9351720" y="1484280"/>
            <a:ext cx="2294640" cy="229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016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1752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1752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1752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1752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386040" y="3937320"/>
            <a:ext cx="2314800" cy="1074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34" name="PlaceHolder 6"/>
          <p:cNvSpPr>
            <a:spLocks noGrp="1"/>
          </p:cNvSpPr>
          <p:nvPr>
            <p:ph type="body"/>
          </p:nvPr>
        </p:nvSpPr>
        <p:spPr>
          <a:xfrm>
            <a:off x="9372960" y="3937320"/>
            <a:ext cx="2314800" cy="1074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pic>
        <p:nvPicPr>
          <p:cNvPr id="35" name="Google Shape;69;p26" descr="Grafik 2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PlaceHolder 7"/>
          <p:cNvSpPr>
            <a:spLocks noGrp="1"/>
          </p:cNvSpPr>
          <p:nvPr>
            <p:ph type="sldNum" idx="6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67C7D6-C4FE-47C3-994F-24893FE7B7F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" name="Google Shape;72;p27" descr="Grafik 2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PlaceHolder 1"/>
          <p:cNvSpPr>
            <a:spLocks noGrp="1"/>
          </p:cNvSpPr>
          <p:nvPr>
            <p:ph type="sldNum" idx="7"/>
          </p:nvPr>
        </p:nvSpPr>
        <p:spPr>
          <a:xfrm>
            <a:off x="5892840" y="6233760"/>
            <a:ext cx="28429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4241827-56D6-4433-8F81-9E1875CE56F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12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012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pic>
        <p:nvPicPr>
          <p:cNvPr id="43" name="Google Shape;13;p16" descr="Grafik 7"/>
          <p:cNvPicPr/>
          <p:nvPr/>
        </p:nvPicPr>
        <p:blipFill>
          <a:blip r:embed="rId3"/>
          <a:srcRect t="33697" r="9034"/>
          <a:stretch/>
        </p:blipFill>
        <p:spPr>
          <a:xfrm>
            <a:off x="4588200" y="0"/>
            <a:ext cx="7602120" cy="65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PlaceHolder 3"/>
          <p:cNvSpPr>
            <a:spLocks noGrp="1"/>
          </p:cNvSpPr>
          <p:nvPr>
            <p:ph type="sldNum" idx="8"/>
          </p:nvPr>
        </p:nvSpPr>
        <p:spPr>
          <a:xfrm>
            <a:off x="5892840" y="6233760"/>
            <a:ext cx="28429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BA9EABE-3EC0-48E4-9D4E-90090F6833E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48" name="PlaceHolder 3"/>
          <p:cNvSpPr>
            <a:spLocks noGrp="1"/>
          </p:cNvSpPr>
          <p:nvPr>
            <p:ph type="sldNum" idx="9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1B75E8-2BD1-4AB9-8399-401BD2A1E33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AND_BOD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52" name="PlaceHolder 3"/>
          <p:cNvSpPr>
            <a:spLocks noGrp="1"/>
          </p:cNvSpPr>
          <p:nvPr>
            <p:ph type="sldNum" idx="10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6C9CAD-9D08-4D8C-ADF2-1603CE88DE6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tand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56" name="PlaceHolder 3"/>
          <p:cNvSpPr>
            <a:spLocks noGrp="1"/>
          </p:cNvSpPr>
          <p:nvPr>
            <p:ph type="sldNum" idx="11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EC6058A-4E78-47F3-8CEF-D16508901E5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Titelfoli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084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pic>
        <p:nvPicPr>
          <p:cNvPr id="60" name="Google Shape;22;p18" descr="Grafik 3"/>
          <p:cNvPicPr/>
          <p:nvPr/>
        </p:nvPicPr>
        <p:blipFill>
          <a:blip r:embed="rId3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PlaceHolder 3"/>
          <p:cNvSpPr>
            <a:spLocks noGrp="1"/>
          </p:cNvSpPr>
          <p:nvPr>
            <p:ph type="sldNum" idx="12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68629D-B521-4867-9A2F-6EE16E58321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Zwei Inhal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524016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70000" lnSpcReduction="1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016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65" name="PlaceHolder 3"/>
          <p:cNvSpPr>
            <a:spLocks noGrp="1"/>
          </p:cNvSpPr>
          <p:nvPr>
            <p:ph type="sldNum" idx="13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8631901-B901-40F4-8C59-401AB63FC26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4240" cy="5205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Zwei Inhal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016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70" name="PlaceHolder 3"/>
          <p:cNvSpPr>
            <a:spLocks noGrp="1"/>
          </p:cNvSpPr>
          <p:nvPr>
            <p:ph type="sldNum" idx="14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EC369F2-5A15-4013-9177-9BDAC264832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;p15" descr="Grafik 8" hidden="1"/>
          <p:cNvPicPr/>
          <p:nvPr/>
        </p:nvPicPr>
        <p:blipFill>
          <a:blip r:embed="rId3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" name="Google Shape;57;p25"/>
          <p:cNvGrpSpPr/>
          <p:nvPr/>
        </p:nvGrpSpPr>
        <p:grpSpPr>
          <a:xfrm>
            <a:off x="10884240" y="488880"/>
            <a:ext cx="889560" cy="213120"/>
            <a:chOff x="10884240" y="488880"/>
            <a:chExt cx="889560" cy="213120"/>
          </a:xfrm>
        </p:grpSpPr>
        <p:sp>
          <p:nvSpPr>
            <p:cNvPr id="4" name="Google Shape;58;p25"/>
            <p:cNvSpPr/>
            <p:nvPr/>
          </p:nvSpPr>
          <p:spPr>
            <a:xfrm>
              <a:off x="10884240" y="490680"/>
              <a:ext cx="675000" cy="211320"/>
            </a:xfrm>
            <a:custGeom>
              <a:avLst/>
              <a:gdLst>
                <a:gd name="textAreaLeft" fmla="*/ 0 w 675000"/>
                <a:gd name="textAreaRight" fmla="*/ 676800 w 675000"/>
                <a:gd name="textAreaTop" fmla="*/ 0 h 211320"/>
                <a:gd name="textAreaBottom" fmla="*/ 213120 h 21132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0" y="0"/>
                  </a:moveTo>
                  <a:lnTo>
                    <a:pt x="1171" y="0"/>
                  </a:lnTo>
                  <a:lnTo>
                    <a:pt x="1171" y="7880"/>
                  </a:lnTo>
                  <a:lnTo>
                    <a:pt x="1201" y="7880"/>
                  </a:lnTo>
                  <a:cubicBezTo>
                    <a:pt x="1528" y="6418"/>
                    <a:pt x="2045" y="5707"/>
                    <a:pt x="2555" y="5707"/>
                  </a:cubicBezTo>
                  <a:cubicBezTo>
                    <a:pt x="3661" y="5707"/>
                    <a:pt x="4276" y="7850"/>
                    <a:pt x="4276" y="11496"/>
                  </a:cubicBezTo>
                  <a:lnTo>
                    <a:pt x="4276" y="21285"/>
                  </a:lnTo>
                  <a:lnTo>
                    <a:pt x="3105" y="21285"/>
                  </a:lnTo>
                  <a:lnTo>
                    <a:pt x="3105" y="12430"/>
                  </a:lnTo>
                  <a:cubicBezTo>
                    <a:pt x="3105" y="10135"/>
                    <a:pt x="2788" y="8906"/>
                    <a:pt x="2192" y="8906"/>
                  </a:cubicBezTo>
                  <a:cubicBezTo>
                    <a:pt x="1548" y="8906"/>
                    <a:pt x="1175" y="10125"/>
                    <a:pt x="1175" y="12724"/>
                  </a:cubicBezTo>
                  <a:lnTo>
                    <a:pt x="1175" y="21285"/>
                  </a:lnTo>
                  <a:lnTo>
                    <a:pt x="3" y="21285"/>
                  </a:lnTo>
                  <a:lnTo>
                    <a:pt x="3" y="0"/>
                  </a:lnTo>
                  <a:close/>
                  <a:moveTo>
                    <a:pt x="5160" y="18645"/>
                  </a:moveTo>
                  <a:cubicBezTo>
                    <a:pt x="5650" y="20879"/>
                    <a:pt x="6475" y="21600"/>
                    <a:pt x="7361" y="21600"/>
                  </a:cubicBezTo>
                  <a:cubicBezTo>
                    <a:pt x="8369" y="21600"/>
                    <a:pt x="9534" y="19924"/>
                    <a:pt x="9534" y="16411"/>
                  </a:cubicBezTo>
                  <a:cubicBezTo>
                    <a:pt x="9534" y="14116"/>
                    <a:pt x="9053" y="12653"/>
                    <a:pt x="8219" y="12146"/>
                  </a:cubicBezTo>
                  <a:lnTo>
                    <a:pt x="7479" y="11699"/>
                  </a:lnTo>
                  <a:cubicBezTo>
                    <a:pt x="6969" y="11404"/>
                    <a:pt x="6547" y="11252"/>
                    <a:pt x="6547" y="10175"/>
                  </a:cubicBezTo>
                  <a:cubicBezTo>
                    <a:pt x="6547" y="9008"/>
                    <a:pt x="6884" y="8480"/>
                    <a:pt x="7345" y="8480"/>
                  </a:cubicBezTo>
                  <a:cubicBezTo>
                    <a:pt x="7806" y="8480"/>
                    <a:pt x="8153" y="8926"/>
                    <a:pt x="8441" y="9972"/>
                  </a:cubicBezTo>
                  <a:lnTo>
                    <a:pt x="9288" y="8185"/>
                  </a:lnTo>
                  <a:cubicBezTo>
                    <a:pt x="8876" y="6367"/>
                    <a:pt x="8242" y="5677"/>
                    <a:pt x="7358" y="5677"/>
                  </a:cubicBezTo>
                  <a:cubicBezTo>
                    <a:pt x="6311" y="5677"/>
                    <a:pt x="5408" y="7494"/>
                    <a:pt x="5408" y="10693"/>
                  </a:cubicBezTo>
                  <a:cubicBezTo>
                    <a:pt x="5408" y="12988"/>
                    <a:pt x="5948" y="14217"/>
                    <a:pt x="6753" y="14664"/>
                  </a:cubicBezTo>
                  <a:lnTo>
                    <a:pt x="7397" y="15020"/>
                  </a:lnTo>
                  <a:cubicBezTo>
                    <a:pt x="8062" y="15375"/>
                    <a:pt x="8320" y="15649"/>
                    <a:pt x="8320" y="16837"/>
                  </a:cubicBezTo>
                  <a:cubicBezTo>
                    <a:pt x="8320" y="18208"/>
                    <a:pt x="7829" y="18716"/>
                    <a:pt x="7348" y="18716"/>
                  </a:cubicBezTo>
                  <a:cubicBezTo>
                    <a:pt x="6792" y="18716"/>
                    <a:pt x="6301" y="17975"/>
                    <a:pt x="5994" y="16715"/>
                  </a:cubicBezTo>
                  <a:lnTo>
                    <a:pt x="5166" y="18655"/>
                  </a:lnTo>
                  <a:moveTo>
                    <a:pt x="10447" y="21275"/>
                  </a:moveTo>
                  <a:lnTo>
                    <a:pt x="11618" y="21275"/>
                  </a:lnTo>
                  <a:lnTo>
                    <a:pt x="11618" y="13456"/>
                  </a:lnTo>
                  <a:cubicBezTo>
                    <a:pt x="11618" y="10622"/>
                    <a:pt x="12282" y="9038"/>
                    <a:pt x="13165" y="9038"/>
                  </a:cubicBezTo>
                  <a:cubicBezTo>
                    <a:pt x="13329" y="9038"/>
                    <a:pt x="13453" y="9038"/>
                    <a:pt x="13607" y="9130"/>
                  </a:cubicBezTo>
                  <a:lnTo>
                    <a:pt x="13607" y="5788"/>
                  </a:lnTo>
                  <a:cubicBezTo>
                    <a:pt x="13483" y="5697"/>
                    <a:pt x="13339" y="5697"/>
                    <a:pt x="13215" y="5697"/>
                  </a:cubicBezTo>
                  <a:cubicBezTo>
                    <a:pt x="12629" y="5697"/>
                    <a:pt x="11899" y="6916"/>
                    <a:pt x="11608" y="8530"/>
                  </a:cubicBezTo>
                  <a:lnTo>
                    <a:pt x="11589" y="8530"/>
                  </a:lnTo>
                  <a:lnTo>
                    <a:pt x="11589" y="5992"/>
                  </a:lnTo>
                  <a:lnTo>
                    <a:pt x="10443" y="5992"/>
                  </a:lnTo>
                  <a:lnTo>
                    <a:pt x="10443" y="21265"/>
                  </a:lnTo>
                  <a:close/>
                  <a:moveTo>
                    <a:pt x="14405" y="21275"/>
                  </a:moveTo>
                  <a:lnTo>
                    <a:pt x="15577" y="21275"/>
                  </a:lnTo>
                  <a:lnTo>
                    <a:pt x="15577" y="12298"/>
                  </a:lnTo>
                  <a:cubicBezTo>
                    <a:pt x="15577" y="9759"/>
                    <a:pt x="16117" y="8896"/>
                    <a:pt x="16529" y="8896"/>
                  </a:cubicBezTo>
                  <a:cubicBezTo>
                    <a:pt x="17239" y="8896"/>
                    <a:pt x="17422" y="10511"/>
                    <a:pt x="17422" y="12450"/>
                  </a:cubicBezTo>
                  <a:lnTo>
                    <a:pt x="17422" y="21285"/>
                  </a:lnTo>
                  <a:lnTo>
                    <a:pt x="18593" y="21285"/>
                  </a:lnTo>
                  <a:lnTo>
                    <a:pt x="18593" y="12481"/>
                  </a:lnTo>
                  <a:cubicBezTo>
                    <a:pt x="18593" y="10480"/>
                    <a:pt x="18871" y="8896"/>
                    <a:pt x="19536" y="8896"/>
                  </a:cubicBezTo>
                  <a:cubicBezTo>
                    <a:pt x="20200" y="8896"/>
                    <a:pt x="20429" y="10328"/>
                    <a:pt x="20429" y="12389"/>
                  </a:cubicBezTo>
                  <a:lnTo>
                    <a:pt x="20429" y="21275"/>
                  </a:lnTo>
                  <a:lnTo>
                    <a:pt x="21600" y="21275"/>
                  </a:lnTo>
                  <a:lnTo>
                    <a:pt x="21600" y="11069"/>
                  </a:lnTo>
                  <a:cubicBezTo>
                    <a:pt x="21600" y="7342"/>
                    <a:pt x="20792" y="5697"/>
                    <a:pt x="19879" y="5697"/>
                  </a:cubicBezTo>
                  <a:cubicBezTo>
                    <a:pt x="19205" y="5697"/>
                    <a:pt x="18708" y="6591"/>
                    <a:pt x="18361" y="7962"/>
                  </a:cubicBezTo>
                  <a:lnTo>
                    <a:pt x="18351" y="7962"/>
                  </a:lnTo>
                  <a:cubicBezTo>
                    <a:pt x="18044" y="6499"/>
                    <a:pt x="17602" y="5697"/>
                    <a:pt x="16948" y="5697"/>
                  </a:cubicBezTo>
                  <a:cubicBezTo>
                    <a:pt x="16372" y="5697"/>
                    <a:pt x="15891" y="6438"/>
                    <a:pt x="15554" y="7850"/>
                  </a:cubicBezTo>
                  <a:lnTo>
                    <a:pt x="15534" y="7850"/>
                  </a:lnTo>
                  <a:lnTo>
                    <a:pt x="15534" y="6002"/>
                  </a:lnTo>
                  <a:lnTo>
                    <a:pt x="14399" y="6002"/>
                  </a:lnTo>
                  <a:lnTo>
                    <a:pt x="14399" y="21275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5720" tIns="45000" rIns="45720" bIns="45000" anchor="ctr">
              <a:noAutofit/>
            </a:bodyPr>
            <a:lstStyle/>
            <a:p>
              <a:endPara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Google Shape;59;p25"/>
            <p:cNvSpPr/>
            <p:nvPr/>
          </p:nvSpPr>
          <p:spPr>
            <a:xfrm>
              <a:off x="11617920" y="488880"/>
              <a:ext cx="155880" cy="149040"/>
            </a:xfrm>
            <a:custGeom>
              <a:avLst/>
              <a:gdLst>
                <a:gd name="textAreaLeft" fmla="*/ 0 w 155880"/>
                <a:gd name="textAreaRight" fmla="*/ 157680 w 155880"/>
                <a:gd name="textAreaTop" fmla="*/ 0 h 149040"/>
                <a:gd name="textAreaBottom" fmla="*/ 150840 h 149040"/>
              </a:gdLst>
              <a:ahLst/>
              <a:cxnLst/>
              <a:rect l="textAreaLeft" t="textAreaTop" r="textAreaRight" b="textAreaBottom"/>
              <a:pathLst>
                <a:path w="21540" h="21587">
                  <a:moveTo>
                    <a:pt x="21456" y="11124"/>
                  </a:moveTo>
                  <a:lnTo>
                    <a:pt x="20699" y="12514"/>
                  </a:lnTo>
                  <a:cubicBezTo>
                    <a:pt x="20573" y="12729"/>
                    <a:pt x="20348" y="12858"/>
                    <a:pt x="20110" y="12858"/>
                  </a:cubicBezTo>
                  <a:lnTo>
                    <a:pt x="12793" y="12858"/>
                  </a:lnTo>
                  <a:lnTo>
                    <a:pt x="13775" y="14607"/>
                  </a:lnTo>
                  <a:cubicBezTo>
                    <a:pt x="13887" y="14822"/>
                    <a:pt x="13887" y="15080"/>
                    <a:pt x="13775" y="15280"/>
                  </a:cubicBezTo>
                  <a:lnTo>
                    <a:pt x="12990" y="16685"/>
                  </a:lnTo>
                  <a:cubicBezTo>
                    <a:pt x="12864" y="16886"/>
                    <a:pt x="12653" y="17015"/>
                    <a:pt x="12415" y="17015"/>
                  </a:cubicBezTo>
                  <a:lnTo>
                    <a:pt x="10859" y="17015"/>
                  </a:lnTo>
                  <a:cubicBezTo>
                    <a:pt x="10621" y="17043"/>
                    <a:pt x="10411" y="16900"/>
                    <a:pt x="10284" y="16699"/>
                  </a:cubicBezTo>
                  <a:lnTo>
                    <a:pt x="9275" y="14922"/>
                  </a:lnTo>
                  <a:lnTo>
                    <a:pt x="5701" y="21243"/>
                  </a:lnTo>
                  <a:cubicBezTo>
                    <a:pt x="5589" y="21458"/>
                    <a:pt x="5365" y="21587"/>
                    <a:pt x="5126" y="21587"/>
                  </a:cubicBezTo>
                  <a:lnTo>
                    <a:pt x="3570" y="21587"/>
                  </a:lnTo>
                  <a:cubicBezTo>
                    <a:pt x="3332" y="21573"/>
                    <a:pt x="3122" y="21444"/>
                    <a:pt x="3010" y="21243"/>
                  </a:cubicBezTo>
                  <a:lnTo>
                    <a:pt x="2211" y="19867"/>
                  </a:lnTo>
                  <a:cubicBezTo>
                    <a:pt x="2085" y="19652"/>
                    <a:pt x="2085" y="19394"/>
                    <a:pt x="2211" y="19179"/>
                  </a:cubicBezTo>
                  <a:lnTo>
                    <a:pt x="5785" y="12858"/>
                  </a:lnTo>
                  <a:lnTo>
                    <a:pt x="1426" y="12858"/>
                  </a:lnTo>
                  <a:cubicBezTo>
                    <a:pt x="1188" y="12858"/>
                    <a:pt x="977" y="12729"/>
                    <a:pt x="851" y="12514"/>
                  </a:cubicBezTo>
                  <a:lnTo>
                    <a:pt x="94" y="11124"/>
                  </a:lnTo>
                  <a:cubicBezTo>
                    <a:pt x="-32" y="10923"/>
                    <a:pt x="-32" y="10665"/>
                    <a:pt x="94" y="10464"/>
                  </a:cubicBezTo>
                  <a:lnTo>
                    <a:pt x="851" y="9074"/>
                  </a:lnTo>
                  <a:cubicBezTo>
                    <a:pt x="977" y="8859"/>
                    <a:pt x="1188" y="8730"/>
                    <a:pt x="1426" y="8730"/>
                  </a:cubicBezTo>
                  <a:lnTo>
                    <a:pt x="5799" y="8730"/>
                  </a:lnTo>
                  <a:lnTo>
                    <a:pt x="2225" y="2381"/>
                  </a:lnTo>
                  <a:cubicBezTo>
                    <a:pt x="2113" y="2180"/>
                    <a:pt x="2113" y="1908"/>
                    <a:pt x="2239" y="1707"/>
                  </a:cubicBezTo>
                  <a:lnTo>
                    <a:pt x="3024" y="331"/>
                  </a:lnTo>
                  <a:cubicBezTo>
                    <a:pt x="3150" y="130"/>
                    <a:pt x="3360" y="1"/>
                    <a:pt x="3584" y="1"/>
                  </a:cubicBezTo>
                  <a:lnTo>
                    <a:pt x="5154" y="1"/>
                  </a:lnTo>
                  <a:cubicBezTo>
                    <a:pt x="5393" y="-13"/>
                    <a:pt x="5617" y="116"/>
                    <a:pt x="5729" y="331"/>
                  </a:cubicBezTo>
                  <a:lnTo>
                    <a:pt x="9303" y="6666"/>
                  </a:lnTo>
                  <a:lnTo>
                    <a:pt x="10284" y="4918"/>
                  </a:lnTo>
                  <a:cubicBezTo>
                    <a:pt x="10397" y="4717"/>
                    <a:pt x="10621" y="4588"/>
                    <a:pt x="10845" y="4574"/>
                  </a:cubicBezTo>
                  <a:lnTo>
                    <a:pt x="12429" y="4574"/>
                  </a:lnTo>
                  <a:cubicBezTo>
                    <a:pt x="12667" y="4574"/>
                    <a:pt x="12878" y="4703"/>
                    <a:pt x="13004" y="4903"/>
                  </a:cubicBezTo>
                  <a:lnTo>
                    <a:pt x="13789" y="6279"/>
                  </a:lnTo>
                  <a:cubicBezTo>
                    <a:pt x="13915" y="6480"/>
                    <a:pt x="13915" y="6752"/>
                    <a:pt x="13789" y="6953"/>
                  </a:cubicBezTo>
                  <a:lnTo>
                    <a:pt x="12779" y="8730"/>
                  </a:lnTo>
                  <a:lnTo>
                    <a:pt x="20082" y="8730"/>
                  </a:lnTo>
                  <a:cubicBezTo>
                    <a:pt x="20320" y="8730"/>
                    <a:pt x="20545" y="8859"/>
                    <a:pt x="20657" y="9060"/>
                  </a:cubicBezTo>
                  <a:lnTo>
                    <a:pt x="21456" y="10450"/>
                  </a:lnTo>
                  <a:cubicBezTo>
                    <a:pt x="21568" y="10665"/>
                    <a:pt x="21568" y="10923"/>
                    <a:pt x="21456" y="11124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5720" tIns="45000" rIns="45720" bIns="45000" anchor="ctr">
              <a:noAutofit/>
            </a:bodyPr>
            <a:lstStyle/>
            <a:p>
              <a:endParaRPr lang="de-DE" sz="1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" name="PlaceHolder 1"/>
          <p:cNvSpPr>
            <a:spLocks noGrp="1"/>
          </p:cNvSpPr>
          <p:nvPr>
            <p:ph type="sldNum" idx="1"/>
          </p:nvPr>
        </p:nvSpPr>
        <p:spPr>
          <a:xfrm>
            <a:off x="11402640" y="6416640"/>
            <a:ext cx="243720" cy="244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CF0B40-62CB-47B9-86E3-68E5985D105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2.png"/><Relationship Id="rId5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12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90000"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Reliable Software – </a:t>
            </a:r>
            <a:br>
              <a:rPr sz="3340"/>
            </a:b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Smart Home System</a:t>
            </a:r>
            <a:endParaRPr lang="de-DE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subTitle"/>
          </p:nvPr>
        </p:nvSpPr>
        <p:spPr>
          <a:xfrm>
            <a:off x="543960" y="4689360"/>
            <a:ext cx="555012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0000"/>
                </a:solidFill>
                <a:effectLst/>
                <a:uFillTx/>
                <a:latin typeface="Arial"/>
                <a:ea typeface="Arial"/>
              </a:rPr>
              <a:t>Verena Kipp, Anna-Livia Martin, David Rossel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80;p1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Google Shape;81;p1" descr="Grafik 7"/>
          <p:cNvPicPr/>
          <p:nvPr/>
        </p:nvPicPr>
        <p:blipFill>
          <a:blip r:embed="rId3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" name="Grafik 14"/>
          <p:cNvPicPr/>
          <p:nvPr/>
        </p:nvPicPr>
        <p:blipFill>
          <a:blip r:embed="rId4"/>
          <a:stretch/>
        </p:blipFill>
        <p:spPr>
          <a:xfrm>
            <a:off x="5760000" y="3471120"/>
            <a:ext cx="3707640" cy="4478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Grafik 16"/>
          <p:cNvPicPr/>
          <p:nvPr/>
        </p:nvPicPr>
        <p:blipFill>
          <a:blip r:embed="rId5"/>
          <a:stretch/>
        </p:blipFill>
        <p:spPr>
          <a:xfrm>
            <a:off x="8508240" y="2700000"/>
            <a:ext cx="3804840" cy="5446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6;p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Motivation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1080000" y="1980000"/>
            <a:ext cx="4316040" cy="495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</a:pP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Wo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befindet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sich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eine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Person?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89;p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sldNum" idx="18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A0C7674-8219-408E-854A-8468F6DC3E1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PlaceHolder 4"/>
          <p:cNvSpPr txBox="1"/>
          <p:nvPr/>
        </p:nvSpPr>
        <p:spPr>
          <a:xfrm>
            <a:off x="1440000" y="3104280"/>
            <a:ext cx="486000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</a:pP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Ist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eine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Tür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geöffnet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oder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geschlossen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?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5"/>
          <p:cNvSpPr txBox="1"/>
          <p:nvPr/>
        </p:nvSpPr>
        <p:spPr>
          <a:xfrm>
            <a:off x="5763960" y="2520000"/>
            <a:ext cx="431604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</a:pP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Welche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Räume und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Türen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gibt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es?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7"/>
          <p:cNvSpPr txBox="1"/>
          <p:nvPr/>
        </p:nvSpPr>
        <p:spPr>
          <a:xfrm>
            <a:off x="5400000" y="3868560"/>
            <a:ext cx="504000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 fontScale="92500"/>
          </a:bodyPr>
          <a:lstStyle/>
          <a:p>
            <a:pPr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</a:pP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Welche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Räume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sind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miteinander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verbunden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?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9"/>
          <p:cNvSpPr txBox="1"/>
          <p:nvPr/>
        </p:nvSpPr>
        <p:spPr>
          <a:xfrm>
            <a:off x="540000" y="4860000"/>
            <a:ext cx="431604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</a:pP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Darf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eine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Person die Tür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öffnen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10"/>
          <p:cNvSpPr txBox="1"/>
          <p:nvPr/>
        </p:nvSpPr>
        <p:spPr>
          <a:xfrm>
            <a:off x="5220000" y="4904280"/>
            <a:ext cx="504000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</a:pP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Was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passiert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während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des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Durchgangs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?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86;p 8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Motivation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1623960" y="1844280"/>
            <a:ext cx="4316040" cy="495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Wo befindet sich eine Person?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89;p 8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sldNum" idx="19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0932DF4-D9F6-4D5D-9C3D-38A6AEB32CA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20"/>
          <p:cNvSpPr txBox="1"/>
          <p:nvPr/>
        </p:nvSpPr>
        <p:spPr>
          <a:xfrm>
            <a:off x="1080000" y="2852280"/>
            <a:ext cx="486000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</a:pP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Ist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eine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Tür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geöffnet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oder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geschlossen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?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21"/>
          <p:cNvSpPr txBox="1"/>
          <p:nvPr/>
        </p:nvSpPr>
        <p:spPr>
          <a:xfrm>
            <a:off x="6123960" y="2340000"/>
            <a:ext cx="431604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</a:pP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Welche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Räume und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Türen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gibt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es?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22"/>
          <p:cNvSpPr txBox="1"/>
          <p:nvPr/>
        </p:nvSpPr>
        <p:spPr>
          <a:xfrm>
            <a:off x="5400000" y="4068000"/>
            <a:ext cx="504000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 fontScale="92500"/>
          </a:bodyPr>
          <a:lstStyle/>
          <a:p>
            <a:pPr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</a:pP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Welche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Räume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sind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miteinander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verbunden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?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23"/>
          <p:cNvSpPr txBox="1"/>
          <p:nvPr/>
        </p:nvSpPr>
        <p:spPr>
          <a:xfrm>
            <a:off x="540000" y="4860000"/>
            <a:ext cx="431604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</a:pP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Darf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eine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Person die Tür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öffnen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24"/>
          <p:cNvSpPr txBox="1"/>
          <p:nvPr/>
        </p:nvSpPr>
        <p:spPr>
          <a:xfrm>
            <a:off x="5220000" y="4904280"/>
            <a:ext cx="504000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</a:pP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Was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passiert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während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des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Durchgangs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?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14"/>
          <p:cNvSpPr txBox="1"/>
          <p:nvPr/>
        </p:nvSpPr>
        <p:spPr>
          <a:xfrm>
            <a:off x="1512000" y="3348000"/>
            <a:ext cx="9540000" cy="72000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</a:pPr>
            <a:r>
              <a:rPr lang="en-US" sz="4000" b="1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Wie </a:t>
            </a:r>
            <a:r>
              <a:rPr lang="en-US" sz="4000" b="1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Zugangssicherheit</a:t>
            </a:r>
            <a:r>
              <a:rPr lang="en-US" sz="4000" b="1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4000" b="1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beweisen</a:t>
            </a:r>
            <a:r>
              <a:rPr lang="en-US" sz="4000" b="1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?</a:t>
            </a:r>
            <a:endParaRPr lang="de-DE" sz="40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95;p 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460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Grundlegende räumliche Struktur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Übersicht Gebäudestruktur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98;p 3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sldNum" idx="20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F5005E0-53D3-418A-ADE6-41617315914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86;p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Gebäudestruktur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89;p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21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F1D2DB4-013E-40E7-BF10-D5358193489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3" name="Grafik 112"/>
          <p:cNvPicPr/>
          <p:nvPr/>
        </p:nvPicPr>
        <p:blipFill>
          <a:blip r:embed="rId3"/>
          <a:stretch/>
        </p:blipFill>
        <p:spPr>
          <a:xfrm>
            <a:off x="5580000" y="360000"/>
            <a:ext cx="4680000" cy="609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PlaceHolder 15"/>
          <p:cNvSpPr txBox="1"/>
          <p:nvPr/>
        </p:nvSpPr>
        <p:spPr>
          <a:xfrm>
            <a:off x="543960" y="1484640"/>
            <a:ext cx="4680000" cy="457164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Jede Person an einem Ort gleichzeitig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Tür verbindet zwei Räume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Tür kann geöffnet/geschlossen sein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Person darf nur bei geöffneter Tür passieren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Keine Teleportation ermöglichen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86;p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Weitere Grundgesetze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dirty="0">
                <a:solidFill>
                  <a:srgbClr val="361E47"/>
                </a:solidFill>
                <a:ea typeface="Arial"/>
              </a:rPr>
              <a:t>Alle Räume sind von allen Räumen aus erreichbar</a:t>
            </a:r>
            <a:endParaRPr lang="de-DE" sz="2000" b="0" u="none" strike="noStrike" dirty="0">
              <a:solidFill>
                <a:srgbClr val="361E47"/>
              </a:solidFill>
              <a:effectLst/>
              <a:uFillTx/>
              <a:latin typeface="Arial"/>
              <a:ea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Um das Gebäude herum existiert ein Außenbereich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Der Außenbereich kann nur durch eine Eingangstür betreten werden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Jeder Nachbarraum eines Raums ist wiederum Nachbar des Nachbarraums (Symmetrie)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89;p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22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DDFEFD-8A56-4A77-8C2E-72872F6E48E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95;p 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460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Umsetzung in Alloy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Event B: Aufbau und schrittweise Verfeinerung des Modells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98;p 3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23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00409B-CBD8-44DC-AA39-267422CA230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sldNum" idx="24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48D839-9CC1-4F99-AFB7-FC84C7E9809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9" name="Grafik 2"/>
          <p:cNvPicPr/>
          <p:nvPr/>
        </p:nvPicPr>
        <p:blipFill>
          <a:blip r:embed="rId3"/>
          <a:stretch/>
        </p:blipFill>
        <p:spPr>
          <a:xfrm>
            <a:off x="2303640" y="1268280"/>
            <a:ext cx="7583040" cy="45705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Axiome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sldNum" idx="26"/>
          </p:nvPr>
        </p:nvSpPr>
        <p:spPr>
          <a:xfrm>
            <a:off x="11473199" y="6415200"/>
            <a:ext cx="247139" cy="24588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895A82-1FE8-4E99-91FC-6E835F64B01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9</a:t>
            </a:fld>
            <a:endParaRPr lang="de-DE" sz="10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0" name="Grafik 10"/>
          <p:cNvPicPr/>
          <p:nvPr/>
        </p:nvPicPr>
        <p:blipFill>
          <a:blip r:embed="rId3"/>
          <a:stretch/>
        </p:blipFill>
        <p:spPr>
          <a:xfrm>
            <a:off x="6490800" y="1574280"/>
            <a:ext cx="4980960" cy="195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Textfeld 11"/>
          <p:cNvSpPr/>
          <p:nvPr/>
        </p:nvSpPr>
        <p:spPr>
          <a:xfrm>
            <a:off x="543960" y="1873080"/>
            <a:ext cx="6821280" cy="3307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genauEinenGarten { #GARTEN = 1}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alleRaumeInEinemGebaeude {all r: RAUM | r in GARTEN.^nachbarn}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einePersonInGenauEinemOrt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always (all p: PERSON | #(p.~personenImOrtGrob) = 1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and #(p.~personenImOrtFein) = 1)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tuerImmerOffenWennPersonEnthalten{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always all t: TUER |  #(t.personenImOrtFein) &gt;= 1 implies t.offen =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alleNachbarnSindSymmetrisch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r: RAUM, t: TUER | r in t.nachbarn &lt;=&gt; t in r.nachbarn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t:TUER, r: RAUM | t in r.nachbarn &lt;=&gt; r in t.nachbarn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tuerVerbindetZweiRaeume {all t: TUER | #t.nachbarn = 2}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25AB1-8B60-1BBC-689A-85226A966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86;p 1">
            <a:extLst>
              <a:ext uri="{FF2B5EF4-FFF2-40B4-BE49-F238E27FC236}">
                <a16:creationId xmlns:a16="http://schemas.microsoft.com/office/drawing/2014/main" id="{045EFC23-0EED-B34B-26E7-65BF1F8D369B}"/>
              </a:ext>
            </a:extLst>
          </p:cNvPr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1">
            <a:extLst>
              <a:ext uri="{FF2B5EF4-FFF2-40B4-BE49-F238E27FC236}">
                <a16:creationId xmlns:a16="http://schemas.microsoft.com/office/drawing/2014/main" id="{6D87278E-4759-5CB1-9184-15534387D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der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Invarianten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89;p 2">
            <a:extLst>
              <a:ext uri="{FF2B5EF4-FFF2-40B4-BE49-F238E27FC236}">
                <a16:creationId xmlns:a16="http://schemas.microsoft.com/office/drawing/2014/main" id="{0BBF9E59-C8FC-2B6D-1F65-78EE80B8D684}"/>
              </a:ext>
            </a:extLst>
          </p:cNvPr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2">
            <a:extLst>
              <a:ext uri="{FF2B5EF4-FFF2-40B4-BE49-F238E27FC236}">
                <a16:creationId xmlns:a16="http://schemas.microsoft.com/office/drawing/2014/main" id="{19FDCA01-43CB-3690-170C-4ECA77194874}"/>
              </a:ext>
            </a:extLst>
          </p:cNvPr>
          <p:cNvSpPr>
            <a:spLocks noGrp="1"/>
          </p:cNvSpPr>
          <p:nvPr>
            <p:ph type="sldNum" idx="25"/>
          </p:nvPr>
        </p:nvSpPr>
        <p:spPr>
          <a:xfrm>
            <a:off x="11473199" y="6416280"/>
            <a:ext cx="247139" cy="24480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52B271-2723-4BE8-9F48-98636EA1409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6" name="Grafik 10">
            <a:extLst>
              <a:ext uri="{FF2B5EF4-FFF2-40B4-BE49-F238E27FC236}">
                <a16:creationId xmlns:a16="http://schemas.microsoft.com/office/drawing/2014/main" id="{043A1481-26B4-737C-9397-85CC7746BCBE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5926320" y="3552569"/>
            <a:ext cx="5720760" cy="2242171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Textfeld 11">
            <a:extLst>
              <a:ext uri="{FF2B5EF4-FFF2-40B4-BE49-F238E27FC236}">
                <a16:creationId xmlns:a16="http://schemas.microsoft.com/office/drawing/2014/main" id="{40811E13-67F0-733B-79FF-4464151D510F}"/>
              </a:ext>
            </a:extLst>
          </p:cNvPr>
          <p:cNvSpPr/>
          <p:nvPr/>
        </p:nvSpPr>
        <p:spPr>
          <a:xfrm>
            <a:off x="543959" y="1426781"/>
            <a:ext cx="7705663" cy="48306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de-DE" sz="1100" dirty="0" err="1">
                <a:solidFill>
                  <a:schemeClr val="dk1"/>
                </a:solidFill>
              </a:rPr>
              <a:t>assert</a:t>
            </a:r>
            <a:r>
              <a:rPr lang="de-DE" sz="1100" dirty="0">
                <a:solidFill>
                  <a:schemeClr val="dk1"/>
                </a:solidFill>
              </a:rPr>
              <a:t> </a:t>
            </a:r>
            <a:r>
              <a:rPr lang="de-DE" sz="1100" dirty="0" err="1">
                <a:solidFill>
                  <a:schemeClr val="dk1"/>
                </a:solidFill>
              </a:rPr>
              <a:t>keineTeleportation_GROB</a:t>
            </a:r>
            <a:r>
              <a:rPr lang="de-DE" sz="1100" dirty="0">
                <a:solidFill>
                  <a:schemeClr val="dk1"/>
                </a:solidFill>
              </a:rPr>
              <a:t> {</a:t>
            </a:r>
          </a:p>
          <a:p>
            <a:r>
              <a:rPr lang="de-DE" sz="1100" dirty="0">
                <a:solidFill>
                  <a:schemeClr val="dk1"/>
                </a:solidFill>
              </a:rPr>
              <a:t>	</a:t>
            </a:r>
            <a:r>
              <a:rPr lang="de-DE" sz="1100" dirty="0" err="1">
                <a:solidFill>
                  <a:schemeClr val="dk1"/>
                </a:solidFill>
              </a:rPr>
              <a:t>always</a:t>
            </a:r>
            <a:r>
              <a:rPr lang="de-DE" sz="1100" dirty="0">
                <a:solidFill>
                  <a:schemeClr val="dk1"/>
                </a:solidFill>
              </a:rPr>
              <a:t> all p: PERSON, von, nach: ORT | </a:t>
            </a:r>
          </a:p>
          <a:p>
            <a:r>
              <a:rPr lang="de-DE" sz="1100" dirty="0">
                <a:solidFill>
                  <a:schemeClr val="dk1"/>
                </a:solidFill>
              </a:rPr>
              <a:t>	(p in </a:t>
            </a:r>
            <a:r>
              <a:rPr lang="de-DE" sz="1100" dirty="0" err="1">
                <a:solidFill>
                  <a:schemeClr val="dk1"/>
                </a:solidFill>
              </a:rPr>
              <a:t>von.personenImOrtGrob</a:t>
            </a:r>
            <a:r>
              <a:rPr lang="de-DE" sz="1100" dirty="0">
                <a:solidFill>
                  <a:schemeClr val="dk1"/>
                </a:solidFill>
              </a:rPr>
              <a:t> and </a:t>
            </a:r>
          </a:p>
          <a:p>
            <a:r>
              <a:rPr lang="de-DE" sz="1100" dirty="0">
                <a:solidFill>
                  <a:schemeClr val="dk1"/>
                </a:solidFill>
              </a:rPr>
              <a:t>	p in </a:t>
            </a:r>
            <a:r>
              <a:rPr lang="de-DE" sz="1100" dirty="0" err="1">
                <a:solidFill>
                  <a:schemeClr val="dk1"/>
                </a:solidFill>
              </a:rPr>
              <a:t>nach.personenImOrtGrob</a:t>
            </a:r>
            <a:r>
              <a:rPr lang="de-DE" sz="1100" dirty="0">
                <a:solidFill>
                  <a:schemeClr val="dk1"/>
                </a:solidFill>
              </a:rPr>
              <a:t>' </a:t>
            </a:r>
            <a:r>
              <a:rPr lang="de-DE" sz="1100" dirty="0" err="1">
                <a:solidFill>
                  <a:schemeClr val="dk1"/>
                </a:solidFill>
              </a:rPr>
              <a:t>implies</a:t>
            </a:r>
            <a:r>
              <a:rPr lang="de-DE" sz="1100" dirty="0">
                <a:solidFill>
                  <a:schemeClr val="dk1"/>
                </a:solidFill>
              </a:rPr>
              <a:t> </a:t>
            </a:r>
          </a:p>
          <a:p>
            <a:r>
              <a:rPr lang="de-DE" sz="1100" dirty="0">
                <a:solidFill>
                  <a:schemeClr val="dk1"/>
                </a:solidFill>
              </a:rPr>
              <a:t>	(nach in </a:t>
            </a:r>
            <a:r>
              <a:rPr lang="de-DE" sz="1100" dirty="0" err="1">
                <a:solidFill>
                  <a:schemeClr val="dk1"/>
                </a:solidFill>
              </a:rPr>
              <a:t>von.nachbarn.nachbarn</a:t>
            </a:r>
            <a:r>
              <a:rPr lang="de-DE" sz="1100" dirty="0">
                <a:solidFill>
                  <a:schemeClr val="dk1"/>
                </a:solidFill>
              </a:rPr>
              <a:t>)) </a:t>
            </a:r>
            <a:r>
              <a:rPr lang="de-DE" sz="1100" dirty="0" err="1">
                <a:solidFill>
                  <a:schemeClr val="dk1"/>
                </a:solidFill>
              </a:rPr>
              <a:t>or</a:t>
            </a:r>
            <a:r>
              <a:rPr lang="de-DE" sz="1100" dirty="0">
                <a:solidFill>
                  <a:schemeClr val="dk1"/>
                </a:solidFill>
              </a:rPr>
              <a:t> (p in </a:t>
            </a:r>
            <a:r>
              <a:rPr lang="de-DE" sz="1100" dirty="0" err="1">
                <a:solidFill>
                  <a:schemeClr val="dk1"/>
                </a:solidFill>
              </a:rPr>
              <a:t>von.personenImOrtGrob</a:t>
            </a:r>
            <a:r>
              <a:rPr lang="de-DE" sz="1100" dirty="0">
                <a:solidFill>
                  <a:schemeClr val="dk1"/>
                </a:solidFill>
              </a:rPr>
              <a:t> and p in </a:t>
            </a:r>
            <a:r>
              <a:rPr lang="de-DE" sz="1100" dirty="0" err="1">
                <a:solidFill>
                  <a:schemeClr val="dk1"/>
                </a:solidFill>
              </a:rPr>
              <a:t>von.personenImOrtGrob</a:t>
            </a:r>
            <a:r>
              <a:rPr lang="de-DE" sz="1100" dirty="0">
                <a:solidFill>
                  <a:schemeClr val="dk1"/>
                </a:solidFill>
              </a:rPr>
              <a:t>')</a:t>
            </a:r>
          </a:p>
          <a:p>
            <a:r>
              <a:rPr lang="de-DE" sz="1100" dirty="0">
                <a:solidFill>
                  <a:schemeClr val="dk1"/>
                </a:solidFill>
              </a:rPr>
              <a:t>}</a:t>
            </a:r>
          </a:p>
          <a:p>
            <a:endParaRPr lang="de-DE" sz="1100" dirty="0">
              <a:solidFill>
                <a:schemeClr val="dk1"/>
              </a:solidFill>
            </a:endParaRPr>
          </a:p>
          <a:p>
            <a:r>
              <a:rPr lang="de-DE" sz="1100" dirty="0" err="1">
                <a:solidFill>
                  <a:schemeClr val="dk1"/>
                </a:solidFill>
              </a:rPr>
              <a:t>assert</a:t>
            </a:r>
            <a:r>
              <a:rPr lang="de-DE" sz="1100" dirty="0">
                <a:solidFill>
                  <a:schemeClr val="dk1"/>
                </a:solidFill>
              </a:rPr>
              <a:t> </a:t>
            </a:r>
            <a:r>
              <a:rPr lang="de-DE" sz="1100" dirty="0" err="1">
                <a:solidFill>
                  <a:schemeClr val="dk1"/>
                </a:solidFill>
              </a:rPr>
              <a:t>keineTeleportation_FEIN</a:t>
            </a:r>
            <a:r>
              <a:rPr lang="de-DE" sz="1100" dirty="0">
                <a:solidFill>
                  <a:schemeClr val="dk1"/>
                </a:solidFill>
              </a:rPr>
              <a:t> {</a:t>
            </a:r>
          </a:p>
          <a:p>
            <a:r>
              <a:rPr lang="de-DE" sz="1100" dirty="0">
                <a:solidFill>
                  <a:schemeClr val="dk1"/>
                </a:solidFill>
              </a:rPr>
              <a:t>	</a:t>
            </a:r>
            <a:r>
              <a:rPr lang="de-DE" sz="1100" dirty="0" err="1">
                <a:solidFill>
                  <a:schemeClr val="dk1"/>
                </a:solidFill>
              </a:rPr>
              <a:t>always</a:t>
            </a:r>
            <a:r>
              <a:rPr lang="de-DE" sz="1100" dirty="0">
                <a:solidFill>
                  <a:schemeClr val="dk1"/>
                </a:solidFill>
              </a:rPr>
              <a:t> all p: PERSON, von, nach: ORT | </a:t>
            </a:r>
          </a:p>
          <a:p>
            <a:r>
              <a:rPr lang="de-DE" sz="1100" dirty="0">
                <a:solidFill>
                  <a:schemeClr val="dk1"/>
                </a:solidFill>
              </a:rPr>
              <a:t>	(p in </a:t>
            </a:r>
            <a:r>
              <a:rPr lang="de-DE" sz="1100" dirty="0" err="1">
                <a:solidFill>
                  <a:schemeClr val="dk1"/>
                </a:solidFill>
              </a:rPr>
              <a:t>von.personenImOrtFein</a:t>
            </a:r>
            <a:r>
              <a:rPr lang="de-DE" sz="1100" dirty="0">
                <a:solidFill>
                  <a:schemeClr val="dk1"/>
                </a:solidFill>
              </a:rPr>
              <a:t> and p in </a:t>
            </a:r>
            <a:r>
              <a:rPr lang="de-DE" sz="1100" dirty="0" err="1">
                <a:solidFill>
                  <a:schemeClr val="dk1"/>
                </a:solidFill>
              </a:rPr>
              <a:t>nach.personenImOrtFein</a:t>
            </a:r>
            <a:r>
              <a:rPr lang="de-DE" sz="1100" dirty="0">
                <a:solidFill>
                  <a:schemeClr val="dk1"/>
                </a:solidFill>
              </a:rPr>
              <a:t>' </a:t>
            </a:r>
            <a:r>
              <a:rPr lang="de-DE" sz="1100" dirty="0" err="1">
                <a:solidFill>
                  <a:schemeClr val="dk1"/>
                </a:solidFill>
              </a:rPr>
              <a:t>implies</a:t>
            </a:r>
            <a:r>
              <a:rPr lang="de-DE" sz="1100" dirty="0">
                <a:solidFill>
                  <a:schemeClr val="dk1"/>
                </a:solidFill>
              </a:rPr>
              <a:t> (nach in </a:t>
            </a:r>
            <a:r>
              <a:rPr lang="de-DE" sz="1100" dirty="0" err="1">
                <a:solidFill>
                  <a:schemeClr val="dk1"/>
                </a:solidFill>
              </a:rPr>
              <a:t>von.nachbarn</a:t>
            </a:r>
            <a:r>
              <a:rPr lang="de-DE" sz="1100" dirty="0">
                <a:solidFill>
                  <a:schemeClr val="dk1"/>
                </a:solidFill>
              </a:rPr>
              <a:t>)) </a:t>
            </a:r>
            <a:r>
              <a:rPr lang="de-DE" sz="1100" dirty="0" err="1">
                <a:solidFill>
                  <a:schemeClr val="dk1"/>
                </a:solidFill>
              </a:rPr>
              <a:t>or</a:t>
            </a:r>
            <a:endParaRPr lang="de-DE" sz="1100" dirty="0">
              <a:solidFill>
                <a:schemeClr val="dk1"/>
              </a:solidFill>
            </a:endParaRPr>
          </a:p>
          <a:p>
            <a:r>
              <a:rPr lang="de-DE" sz="1100" dirty="0">
                <a:solidFill>
                  <a:schemeClr val="dk1"/>
                </a:solidFill>
              </a:rPr>
              <a:t>	(p in </a:t>
            </a:r>
            <a:r>
              <a:rPr lang="de-DE" sz="1100" dirty="0" err="1">
                <a:solidFill>
                  <a:schemeClr val="dk1"/>
                </a:solidFill>
              </a:rPr>
              <a:t>von.personenImOrtFein</a:t>
            </a:r>
            <a:r>
              <a:rPr lang="de-DE" sz="1100" dirty="0">
                <a:solidFill>
                  <a:schemeClr val="dk1"/>
                </a:solidFill>
              </a:rPr>
              <a:t> and p in </a:t>
            </a:r>
            <a:r>
              <a:rPr lang="de-DE" sz="1100" dirty="0" err="1">
                <a:solidFill>
                  <a:schemeClr val="dk1"/>
                </a:solidFill>
              </a:rPr>
              <a:t>von.personenImOrtFein</a:t>
            </a:r>
            <a:r>
              <a:rPr lang="de-DE" sz="1100" dirty="0">
                <a:solidFill>
                  <a:schemeClr val="dk1"/>
                </a:solidFill>
              </a:rPr>
              <a:t>')</a:t>
            </a:r>
          </a:p>
          <a:p>
            <a:r>
              <a:rPr lang="de-DE" sz="1100" dirty="0">
                <a:solidFill>
                  <a:schemeClr val="dk1"/>
                </a:solidFill>
              </a:rPr>
              <a:t>}</a:t>
            </a:r>
          </a:p>
          <a:p>
            <a:endParaRPr lang="de-DE" sz="1100" dirty="0">
              <a:solidFill>
                <a:schemeClr val="dk1"/>
              </a:solidFill>
            </a:endParaRPr>
          </a:p>
          <a:p>
            <a:r>
              <a:rPr lang="de-DE" sz="1100" dirty="0" err="1">
                <a:solidFill>
                  <a:schemeClr val="dk1"/>
                </a:solidFill>
              </a:rPr>
              <a:t>assert</a:t>
            </a:r>
            <a:r>
              <a:rPr lang="de-DE" sz="1100" dirty="0">
                <a:solidFill>
                  <a:schemeClr val="dk1"/>
                </a:solidFill>
              </a:rPr>
              <a:t> </a:t>
            </a:r>
            <a:r>
              <a:rPr lang="de-DE" sz="1100" dirty="0" err="1">
                <a:solidFill>
                  <a:schemeClr val="dk1"/>
                </a:solidFill>
              </a:rPr>
              <a:t>personIstNieInTuer_GROB</a:t>
            </a:r>
            <a:r>
              <a:rPr lang="de-DE" sz="1100" dirty="0">
                <a:solidFill>
                  <a:schemeClr val="dk1"/>
                </a:solidFill>
              </a:rPr>
              <a:t> {</a:t>
            </a:r>
          </a:p>
          <a:p>
            <a:r>
              <a:rPr lang="de-DE" sz="1100" dirty="0">
                <a:solidFill>
                  <a:schemeClr val="dk1"/>
                </a:solidFill>
              </a:rPr>
              <a:t>	</a:t>
            </a:r>
            <a:r>
              <a:rPr lang="de-DE" sz="1100" dirty="0" err="1">
                <a:solidFill>
                  <a:schemeClr val="dk1"/>
                </a:solidFill>
              </a:rPr>
              <a:t>always</a:t>
            </a:r>
            <a:r>
              <a:rPr lang="de-DE" sz="1100" dirty="0">
                <a:solidFill>
                  <a:schemeClr val="dk1"/>
                </a:solidFill>
              </a:rPr>
              <a:t> all p: PERSON, t: TUER |</a:t>
            </a:r>
          </a:p>
          <a:p>
            <a:r>
              <a:rPr lang="de-DE" sz="1100" dirty="0">
                <a:solidFill>
                  <a:schemeClr val="dk1"/>
                </a:solidFill>
              </a:rPr>
              <a:t>	(p not in </a:t>
            </a:r>
            <a:r>
              <a:rPr lang="de-DE" sz="1100" dirty="0" err="1">
                <a:solidFill>
                  <a:schemeClr val="dk1"/>
                </a:solidFill>
              </a:rPr>
              <a:t>t.personenImOrtGrob</a:t>
            </a:r>
            <a:r>
              <a:rPr lang="de-DE" sz="1100" dirty="0">
                <a:solidFill>
                  <a:schemeClr val="dk1"/>
                </a:solidFill>
              </a:rPr>
              <a:t>)</a:t>
            </a:r>
          </a:p>
          <a:p>
            <a:r>
              <a:rPr lang="de-DE" sz="1100" dirty="0">
                <a:solidFill>
                  <a:schemeClr val="dk1"/>
                </a:solidFill>
              </a:rPr>
              <a:t>}</a:t>
            </a:r>
          </a:p>
          <a:p>
            <a:endParaRPr lang="de-DE" sz="1100" dirty="0">
              <a:solidFill>
                <a:schemeClr val="dk1"/>
              </a:solidFill>
            </a:endParaRPr>
          </a:p>
          <a:p>
            <a:r>
              <a:rPr lang="de-DE" sz="1100" dirty="0" err="1">
                <a:solidFill>
                  <a:schemeClr val="dk1"/>
                </a:solidFill>
              </a:rPr>
              <a:t>assert</a:t>
            </a:r>
            <a:r>
              <a:rPr lang="de-DE" sz="1100" dirty="0">
                <a:solidFill>
                  <a:schemeClr val="dk1"/>
                </a:solidFill>
              </a:rPr>
              <a:t> </a:t>
            </a:r>
            <a:r>
              <a:rPr lang="de-DE" sz="1100" dirty="0" err="1">
                <a:solidFill>
                  <a:schemeClr val="dk1"/>
                </a:solidFill>
              </a:rPr>
              <a:t>personenImGrobmodellNurInRaeumen</a:t>
            </a:r>
            <a:r>
              <a:rPr lang="de-DE" sz="1100" dirty="0">
                <a:solidFill>
                  <a:schemeClr val="dk1"/>
                </a:solidFill>
              </a:rPr>
              <a:t>{</a:t>
            </a:r>
          </a:p>
          <a:p>
            <a:r>
              <a:rPr lang="de-DE" sz="1100" dirty="0">
                <a:solidFill>
                  <a:schemeClr val="dk1"/>
                </a:solidFill>
              </a:rPr>
              <a:t>	</a:t>
            </a:r>
            <a:r>
              <a:rPr lang="de-DE" sz="1100" dirty="0" err="1">
                <a:solidFill>
                  <a:schemeClr val="dk1"/>
                </a:solidFill>
              </a:rPr>
              <a:t>always</a:t>
            </a:r>
            <a:r>
              <a:rPr lang="de-DE" sz="1100" dirty="0">
                <a:solidFill>
                  <a:schemeClr val="dk1"/>
                </a:solidFill>
              </a:rPr>
              <a:t> all t: TUER | </a:t>
            </a:r>
            <a:r>
              <a:rPr lang="de-DE" sz="1100" dirty="0" err="1">
                <a:solidFill>
                  <a:schemeClr val="dk1"/>
                </a:solidFill>
              </a:rPr>
              <a:t>no</a:t>
            </a:r>
            <a:r>
              <a:rPr lang="de-DE" sz="1100" dirty="0">
                <a:solidFill>
                  <a:schemeClr val="dk1"/>
                </a:solidFill>
              </a:rPr>
              <a:t> </a:t>
            </a:r>
            <a:r>
              <a:rPr lang="de-DE" sz="1100" dirty="0" err="1">
                <a:solidFill>
                  <a:schemeClr val="dk1"/>
                </a:solidFill>
              </a:rPr>
              <a:t>t.personenImOrtGrob</a:t>
            </a:r>
            <a:endParaRPr lang="de-DE" sz="1100" dirty="0">
              <a:solidFill>
                <a:schemeClr val="dk1"/>
              </a:solidFill>
            </a:endParaRPr>
          </a:p>
          <a:p>
            <a:r>
              <a:rPr lang="de-DE" sz="1100" dirty="0">
                <a:solidFill>
                  <a:schemeClr val="dk1"/>
                </a:solidFill>
              </a:rPr>
              <a:t>}</a:t>
            </a:r>
          </a:p>
          <a:p>
            <a:endParaRPr lang="de-DE" sz="11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  <a:p>
            <a:r>
              <a:rPr lang="de-DE" sz="1100" dirty="0" err="1">
                <a:solidFill>
                  <a:schemeClr val="dk1"/>
                </a:solidFill>
              </a:rPr>
              <a:t>assert</a:t>
            </a:r>
            <a:r>
              <a:rPr lang="de-DE" sz="1100" dirty="0">
                <a:solidFill>
                  <a:schemeClr val="dk1"/>
                </a:solidFill>
              </a:rPr>
              <a:t> </a:t>
            </a:r>
            <a:r>
              <a:rPr lang="de-DE" sz="1100" dirty="0" err="1">
                <a:solidFill>
                  <a:schemeClr val="dk1"/>
                </a:solidFill>
              </a:rPr>
              <a:t>verfeinerungKorrekt</a:t>
            </a:r>
            <a:r>
              <a:rPr lang="de-DE" sz="1100" dirty="0">
                <a:solidFill>
                  <a:schemeClr val="dk1"/>
                </a:solidFill>
              </a:rPr>
              <a:t> { </a:t>
            </a:r>
          </a:p>
          <a:p>
            <a:r>
              <a:rPr lang="de-DE" sz="1100" dirty="0">
                <a:solidFill>
                  <a:schemeClr val="dk1"/>
                </a:solidFill>
              </a:rPr>
              <a:t>	</a:t>
            </a:r>
            <a:r>
              <a:rPr lang="de-DE" sz="1100" dirty="0" err="1">
                <a:solidFill>
                  <a:schemeClr val="dk1"/>
                </a:solidFill>
              </a:rPr>
              <a:t>always</a:t>
            </a:r>
            <a:r>
              <a:rPr lang="de-DE" sz="1100" dirty="0">
                <a:solidFill>
                  <a:schemeClr val="dk1"/>
                </a:solidFill>
              </a:rPr>
              <a:t> all p: PERSON, r1, r2: RAUM |</a:t>
            </a:r>
          </a:p>
          <a:p>
            <a:r>
              <a:rPr lang="de-DE" sz="1100" dirty="0">
                <a:solidFill>
                  <a:schemeClr val="dk1"/>
                </a:solidFill>
              </a:rPr>
              <a:t>	(p in r1.personenImOrtFein and p in r2.personenImOrtFein')</a:t>
            </a:r>
          </a:p>
          <a:p>
            <a:r>
              <a:rPr lang="de-DE" sz="1100" dirty="0">
                <a:solidFill>
                  <a:schemeClr val="dk1"/>
                </a:solidFill>
              </a:rPr>
              <a:t>	</a:t>
            </a:r>
            <a:r>
              <a:rPr lang="de-DE" sz="1100" dirty="0" err="1">
                <a:solidFill>
                  <a:schemeClr val="dk1"/>
                </a:solidFill>
              </a:rPr>
              <a:t>implies</a:t>
            </a:r>
            <a:r>
              <a:rPr lang="de-DE" sz="1100" dirty="0">
                <a:solidFill>
                  <a:schemeClr val="dk1"/>
                </a:solidFill>
              </a:rPr>
              <a:t> (p in r1.personenImOrtGrob' and p in r2.personenImOrtGrob‘)</a:t>
            </a:r>
          </a:p>
          <a:p>
            <a:r>
              <a:rPr lang="de-DE" sz="1100" dirty="0">
                <a:solidFill>
                  <a:schemeClr val="dk1"/>
                </a:solidFill>
              </a:rPr>
              <a:t>}</a:t>
            </a:r>
          </a:p>
          <a:p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880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sldNum" idx="27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78D53BF-72CD-4ACE-9457-77DC1F34CE2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6" name="Grafik 2"/>
          <p:cNvPicPr/>
          <p:nvPr/>
        </p:nvPicPr>
        <p:blipFill>
          <a:blip r:embed="rId3"/>
          <a:stretch/>
        </p:blipFill>
        <p:spPr>
          <a:xfrm>
            <a:off x="2483640" y="2086560"/>
            <a:ext cx="5133240" cy="200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7" name="Grafik 4"/>
          <p:cNvPicPr/>
          <p:nvPr/>
        </p:nvPicPr>
        <p:blipFill>
          <a:blip r:embed="rId4"/>
          <a:stretch/>
        </p:blipFill>
        <p:spPr>
          <a:xfrm>
            <a:off x="637560" y="4434120"/>
            <a:ext cx="5457240" cy="1875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8" name="Grafik 6"/>
          <p:cNvPicPr/>
          <p:nvPr/>
        </p:nvPicPr>
        <p:blipFill>
          <a:blip r:embed="rId5"/>
          <a:stretch/>
        </p:blipFill>
        <p:spPr>
          <a:xfrm>
            <a:off x="6004080" y="2423880"/>
            <a:ext cx="4980960" cy="195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Grafik 3"/>
          <p:cNvPicPr/>
          <p:nvPr/>
        </p:nvPicPr>
        <p:blipFill>
          <a:blip r:embed="rId6"/>
          <a:stretch/>
        </p:blipFill>
        <p:spPr>
          <a:xfrm>
            <a:off x="416160" y="1748880"/>
            <a:ext cx="5066640" cy="1980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0840" cy="879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Grundlagen für die weiteren Schritte</a:t>
            </a: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itel 1"/>
          <p:cNvSpPr/>
          <p:nvPr/>
        </p:nvSpPr>
        <p:spPr>
          <a:xfrm>
            <a:off x="696240" y="3833640"/>
            <a:ext cx="7620840" cy="100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b">
            <a:normAutofit fontScale="92500"/>
          </a:bodyPr>
          <a:lstStyle/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de-DE" sz="4400" dirty="0">
                <a:solidFill>
                  <a:srgbClr val="000000"/>
                </a:solidFill>
              </a:rPr>
              <a:t>Ereignisse des Grobes Modells</a:t>
            </a:r>
          </a:p>
        </p:txBody>
      </p:sp>
      <p:pic>
        <p:nvPicPr>
          <p:cNvPr id="152" name="Grafik 151"/>
          <p:cNvPicPr/>
          <p:nvPr/>
        </p:nvPicPr>
        <p:blipFill>
          <a:blip r:embed="rId2"/>
          <a:stretch/>
        </p:blipFill>
        <p:spPr>
          <a:xfrm>
            <a:off x="5719953" y="1540695"/>
            <a:ext cx="5866200" cy="1353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 type="sldNum" idx="27"/>
          </p:nvPr>
        </p:nvSpPr>
        <p:spPr>
          <a:xfrm>
            <a:off x="11473199" y="6415920"/>
            <a:ext cx="247139" cy="24516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0F0DDF-E930-4575-B58B-EDE7E2915CB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Textfeld 4"/>
          <p:cNvSpPr/>
          <p:nvPr/>
        </p:nvSpPr>
        <p:spPr>
          <a:xfrm>
            <a:off x="2715840" y="1553400"/>
            <a:ext cx="6759720" cy="229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feld 1"/>
          <p:cNvSpPr/>
          <p:nvPr/>
        </p:nvSpPr>
        <p:spPr>
          <a:xfrm>
            <a:off x="3260520" y="5493600"/>
            <a:ext cx="187848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feld 5"/>
          <p:cNvSpPr/>
          <p:nvPr/>
        </p:nvSpPr>
        <p:spPr>
          <a:xfrm>
            <a:off x="6713640" y="5491440"/>
            <a:ext cx="187848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feil: nach rechts 6"/>
          <p:cNvSpPr/>
          <p:nvPr/>
        </p:nvSpPr>
        <p:spPr>
          <a:xfrm rot="9762600">
            <a:off x="8504280" y="178848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feld 8"/>
          <p:cNvSpPr/>
          <p:nvPr/>
        </p:nvSpPr>
        <p:spPr>
          <a:xfrm>
            <a:off x="9334800" y="1457280"/>
            <a:ext cx="187848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Später von Verfeinerungen definiert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521FB742-8F71-447C-1834-C0790843536C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260520" y="3949634"/>
            <a:ext cx="5331600" cy="1231474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" name="Grafik 5">
            <a:extLst>
              <a:ext uri="{FF2B5EF4-FFF2-40B4-BE49-F238E27FC236}">
                <a16:creationId xmlns:a16="http://schemas.microsoft.com/office/drawing/2014/main" id="{3C760171-9EAA-9911-9FD5-E400841E2C22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387801" y="3660312"/>
            <a:ext cx="824040" cy="995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E5DBA-C383-A663-8FAF-B3F863AC5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86;p 1">
            <a:extLst>
              <a:ext uri="{FF2B5EF4-FFF2-40B4-BE49-F238E27FC236}">
                <a16:creationId xmlns:a16="http://schemas.microsoft.com/office/drawing/2014/main" id="{8C88CA3B-92F2-A433-CD20-AB15E475F499}"/>
              </a:ext>
            </a:extLst>
          </p:cNvPr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1">
            <a:extLst>
              <a:ext uri="{FF2B5EF4-FFF2-40B4-BE49-F238E27FC236}">
                <a16:creationId xmlns:a16="http://schemas.microsoft.com/office/drawing/2014/main" id="{104C2385-3E68-F128-5308-F67EAAA39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89;p 2">
            <a:extLst>
              <a:ext uri="{FF2B5EF4-FFF2-40B4-BE49-F238E27FC236}">
                <a16:creationId xmlns:a16="http://schemas.microsoft.com/office/drawing/2014/main" id="{A23BEA87-70AF-ADA1-81F1-943749A1FF65}"/>
              </a:ext>
            </a:extLst>
          </p:cNvPr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2">
            <a:extLst>
              <a:ext uri="{FF2B5EF4-FFF2-40B4-BE49-F238E27FC236}">
                <a16:creationId xmlns:a16="http://schemas.microsoft.com/office/drawing/2014/main" id="{99760892-F5A3-68B2-FD36-984F4C5D9D87}"/>
              </a:ext>
            </a:extLst>
          </p:cNvPr>
          <p:cNvSpPr>
            <a:spLocks noGrp="1"/>
          </p:cNvSpPr>
          <p:nvPr>
            <p:ph type="sldNum" idx="27"/>
          </p:nvPr>
        </p:nvSpPr>
        <p:spPr>
          <a:xfrm>
            <a:off x="11473200" y="6415920"/>
            <a:ext cx="240464" cy="24516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0F0DDF-E930-4575-B58B-EDE7E2915CB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14</a:t>
            </a:fld>
            <a:endParaRPr lang="de-DE" sz="10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Textfeld 4">
            <a:extLst>
              <a:ext uri="{FF2B5EF4-FFF2-40B4-BE49-F238E27FC236}">
                <a16:creationId xmlns:a16="http://schemas.microsoft.com/office/drawing/2014/main" id="{69A74D96-217F-7FB2-9450-B0A4CE79AB21}"/>
              </a:ext>
            </a:extLst>
          </p:cNvPr>
          <p:cNvSpPr/>
          <p:nvPr/>
        </p:nvSpPr>
        <p:spPr>
          <a:xfrm>
            <a:off x="2715840" y="1553400"/>
            <a:ext cx="6759720" cy="229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feld 1">
            <a:extLst>
              <a:ext uri="{FF2B5EF4-FFF2-40B4-BE49-F238E27FC236}">
                <a16:creationId xmlns:a16="http://schemas.microsoft.com/office/drawing/2014/main" id="{652636A6-4A2A-4C6A-270E-77FE8CF91A1D}"/>
              </a:ext>
            </a:extLst>
          </p:cNvPr>
          <p:cNvSpPr/>
          <p:nvPr/>
        </p:nvSpPr>
        <p:spPr>
          <a:xfrm>
            <a:off x="3260520" y="5493600"/>
            <a:ext cx="187848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feld 5">
            <a:extLst>
              <a:ext uri="{FF2B5EF4-FFF2-40B4-BE49-F238E27FC236}">
                <a16:creationId xmlns:a16="http://schemas.microsoft.com/office/drawing/2014/main" id="{E3D48B16-732A-FC74-3723-2383C58A3316}"/>
              </a:ext>
            </a:extLst>
          </p:cNvPr>
          <p:cNvSpPr/>
          <p:nvPr/>
        </p:nvSpPr>
        <p:spPr>
          <a:xfrm>
            <a:off x="6713640" y="5491440"/>
            <a:ext cx="187848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feil: nach rechts 6">
            <a:extLst>
              <a:ext uri="{FF2B5EF4-FFF2-40B4-BE49-F238E27FC236}">
                <a16:creationId xmlns:a16="http://schemas.microsoft.com/office/drawing/2014/main" id="{5D981D7C-CEE0-AC41-097F-AC1E4ADAEF71}"/>
              </a:ext>
            </a:extLst>
          </p:cNvPr>
          <p:cNvSpPr/>
          <p:nvPr/>
        </p:nvSpPr>
        <p:spPr>
          <a:xfrm rot="9762600">
            <a:off x="8504280" y="178848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feld 8">
            <a:extLst>
              <a:ext uri="{FF2B5EF4-FFF2-40B4-BE49-F238E27FC236}">
                <a16:creationId xmlns:a16="http://schemas.microsoft.com/office/drawing/2014/main" id="{AEE73D13-EAE5-D96F-CAA2-1C0F466A6D41}"/>
              </a:ext>
            </a:extLst>
          </p:cNvPr>
          <p:cNvSpPr/>
          <p:nvPr/>
        </p:nvSpPr>
        <p:spPr>
          <a:xfrm>
            <a:off x="9334800" y="1457280"/>
            <a:ext cx="187848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Später von Verfeinerungen definiert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4BDB15A-6EC7-4564-F6CF-CF9C47B9D2F7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260520" y="3949634"/>
            <a:ext cx="5331600" cy="1231474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" name="Grafik 5">
            <a:extLst>
              <a:ext uri="{FF2B5EF4-FFF2-40B4-BE49-F238E27FC236}">
                <a16:creationId xmlns:a16="http://schemas.microsoft.com/office/drawing/2014/main" id="{A4BF9514-BEF1-A994-D1E5-B8751CB76C9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583696" y="3569971"/>
            <a:ext cx="824040" cy="99540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34552095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Orte, Räume/Türen, Nachbarschaft symmetrisch, Person genau in einem Raum, Ereignis bewege (Tür offen, Nachbarschaft nötig)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Ort/Raum/Tür/Person, facts für die Grundregeln, pred bewege, erste check/run-Beispiele (z. B. „keine Bewegung ohne offene Tür")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Zustandsdefinition, Funktion bewege, Beweis: Person bleibt nach Bewegung genau einem Raum zugeordnet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sldNum" idx="29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6C0627-085C-4530-AC79-3BAE08B0F96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084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r>
              <a:rPr lang="de-DE" dirty="0"/>
              <a:t>Ereignisse des feinen Modells</a:t>
            </a:r>
            <a:endParaRPr lang="de-DE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543960" y="4689000"/>
            <a:ext cx="7620840" cy="12013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Umsetzung der Türen</a:t>
            </a: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0" name="Grafik 169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096000" y="1547307"/>
            <a:ext cx="5475600" cy="15224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sldNum" idx="30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CDC60F-3422-4076-AD4E-8723F26DA9B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5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8120" y="377352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6" name="Grafik 6"/>
          <p:cNvPicPr/>
          <p:nvPr/>
        </p:nvPicPr>
        <p:blipFill>
          <a:blip r:embed="rId3"/>
          <a:stretch/>
        </p:blipFill>
        <p:spPr>
          <a:xfrm>
            <a:off x="6784200" y="2117520"/>
            <a:ext cx="4484160" cy="10353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Initialer 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ldNum" idx="30"/>
          </p:nvPr>
        </p:nvSpPr>
        <p:spPr>
          <a:xfrm>
            <a:off x="11473200" y="6415920"/>
            <a:ext cx="267162" cy="24516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CEC8018-94D0-41F2-9637-9537180EA4C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67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8640" cy="85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8" name="Grafik 2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890880" y="1989360"/>
            <a:ext cx="4409280" cy="101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9" name="Grafik 5"/>
          <p:cNvPicPr/>
          <p:nvPr/>
        </p:nvPicPr>
        <p:blipFill>
          <a:blip r:embed="rId4"/>
          <a:stretch/>
        </p:blipFill>
        <p:spPr>
          <a:xfrm>
            <a:off x="4581360" y="147888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0" name="Grafik 8"/>
          <p:cNvPicPr/>
          <p:nvPr/>
        </p:nvPicPr>
        <p:blipFill>
          <a:blip r:embed="rId4"/>
          <a:stretch/>
        </p:blipFill>
        <p:spPr>
          <a:xfrm>
            <a:off x="4397040" y="318744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1" name="Grafik 10"/>
          <p:cNvPicPr/>
          <p:nvPr/>
        </p:nvPicPr>
        <p:blipFill>
          <a:blip r:embed="rId5"/>
          <a:stretch/>
        </p:blipFill>
        <p:spPr>
          <a:xfrm>
            <a:off x="3735360" y="120456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2" name="Grafik 12"/>
          <p:cNvPicPr/>
          <p:nvPr/>
        </p:nvPicPr>
        <p:blipFill>
          <a:blip r:embed="rId5"/>
          <a:stretch/>
        </p:blipFill>
        <p:spPr>
          <a:xfrm>
            <a:off x="3552840" y="301644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8D2CD5B2-0345-9DD7-680C-059EEFC72510}"/>
              </a:ext>
            </a:extLst>
          </p:cNvPr>
          <p:cNvGraphicFramePr/>
          <p:nvPr/>
        </p:nvGraphicFramePr>
        <p:xfrm>
          <a:off x="8990640" y="1668900"/>
          <a:ext cx="2230500" cy="1338900"/>
        </p:xfrm>
        <a:graphic>
          <a:graphicData uri="http://schemas.openxmlformats.org/drawingml/2006/table">
            <a:tbl>
              <a:tblPr/>
              <a:tblGrid>
                <a:gridCol w="74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3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5371">
                <a:tc>
                  <a:txBody>
                    <a:bodyPr/>
                    <a:lstStyle/>
                    <a:p>
                      <a:endParaRPr lang="de-DE" sz="1000" b="1" u="none" strike="noStrike" dirty="0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 dirty="0" err="1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b="0" u="none" strike="noStrike" dirty="0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Schritt 1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sldNum" idx="31"/>
          </p:nvPr>
        </p:nvSpPr>
        <p:spPr>
          <a:xfrm>
            <a:off x="11473199" y="6415920"/>
            <a:ext cx="247139" cy="24516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66BFF7-D90B-4DD5-9E47-81AAE5CE9BA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7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8640" cy="85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8" name="Grafik 2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890880" y="1989360"/>
            <a:ext cx="4409280" cy="101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9" name="Grafik 5"/>
          <p:cNvPicPr/>
          <p:nvPr/>
        </p:nvPicPr>
        <p:blipFill>
          <a:blip r:embed="rId4"/>
          <a:stretch/>
        </p:blipFill>
        <p:spPr>
          <a:xfrm>
            <a:off x="4581360" y="147888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0" name="Grafik 8"/>
          <p:cNvPicPr/>
          <p:nvPr/>
        </p:nvPicPr>
        <p:blipFill>
          <a:blip r:embed="rId4"/>
          <a:stretch/>
        </p:blipFill>
        <p:spPr>
          <a:xfrm>
            <a:off x="5572440" y="318744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1" name="Grafik 10"/>
          <p:cNvPicPr/>
          <p:nvPr/>
        </p:nvPicPr>
        <p:blipFill>
          <a:blip r:embed="rId5"/>
          <a:stretch/>
        </p:blipFill>
        <p:spPr>
          <a:xfrm>
            <a:off x="3735360" y="120456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Grafik 12"/>
          <p:cNvPicPr/>
          <p:nvPr/>
        </p:nvPicPr>
        <p:blipFill>
          <a:blip r:embed="rId5"/>
          <a:stretch/>
        </p:blipFill>
        <p:spPr>
          <a:xfrm>
            <a:off x="3552840" y="301644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Pfeil: nach rechts 4"/>
          <p:cNvSpPr/>
          <p:nvPr/>
        </p:nvSpPr>
        <p:spPr>
          <a:xfrm rot="20607000">
            <a:off x="2684880" y="228276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feld 7"/>
          <p:cNvSpPr/>
          <p:nvPr/>
        </p:nvSpPr>
        <p:spPr>
          <a:xfrm>
            <a:off x="355680" y="2547000"/>
            <a:ext cx="3301200" cy="76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 dirty="0" err="1">
                <a:solidFill>
                  <a:schemeClr val="dk1"/>
                </a:solidFill>
                <a:effectLst/>
                <a:uFillTx/>
                <a:latin typeface="Arial"/>
              </a:rPr>
              <a:t>pred</a:t>
            </a: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 StutterSchritt_2{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    all o: ORT | 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    </a:t>
            </a:r>
            <a:r>
              <a:rPr lang="de-DE" sz="1100" b="0" u="none" strike="noStrike" dirty="0" err="1">
                <a:solidFill>
                  <a:schemeClr val="dk1"/>
                </a:solidFill>
                <a:effectLst/>
                <a:uFillTx/>
                <a:latin typeface="Arial"/>
              </a:rPr>
              <a:t>o.personenImOrtGrob</a:t>
            </a: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‘ = </a:t>
            </a:r>
            <a:r>
              <a:rPr lang="de-DE" sz="1100" b="0" u="none" strike="noStrike" dirty="0" err="1">
                <a:solidFill>
                  <a:schemeClr val="dk1"/>
                </a:solidFill>
                <a:effectLst/>
                <a:uFillTx/>
                <a:latin typeface="Arial"/>
              </a:rPr>
              <a:t>o.personenImOrtGrob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FDE7A03C-FDFB-2153-FA42-A8248FC9EE74}"/>
              </a:ext>
            </a:extLst>
          </p:cNvPr>
          <p:cNvGraphicFramePr/>
          <p:nvPr/>
        </p:nvGraphicFramePr>
        <p:xfrm>
          <a:off x="8990640" y="1668900"/>
          <a:ext cx="2230500" cy="1338900"/>
        </p:xfrm>
        <a:graphic>
          <a:graphicData uri="http://schemas.openxmlformats.org/drawingml/2006/table">
            <a:tbl>
              <a:tblPr/>
              <a:tblGrid>
                <a:gridCol w="74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3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5371">
                <a:tc>
                  <a:txBody>
                    <a:bodyPr/>
                    <a:lstStyle/>
                    <a:p>
                      <a:endParaRPr lang="de-DE" sz="1000" b="1" u="none" strike="noStrike" dirty="0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 dirty="0" err="1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b="0" u="none" strike="noStrike" dirty="0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0A1FA1A1-F03E-39D1-1DA0-ABDB50B8C084}"/>
              </a:ext>
            </a:extLst>
          </p:cNvPr>
          <p:cNvSpPr txBox="1"/>
          <p:nvPr/>
        </p:nvSpPr>
        <p:spPr>
          <a:xfrm>
            <a:off x="589680" y="4842360"/>
            <a:ext cx="55520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pred</a:t>
            </a:r>
            <a:r>
              <a:rPr lang="de-DE" sz="1100" dirty="0"/>
              <a:t> </a:t>
            </a:r>
            <a:r>
              <a:rPr lang="de-DE" sz="1100" dirty="0" err="1"/>
              <a:t>schrittFein</a:t>
            </a:r>
            <a:r>
              <a:rPr lang="de-DE" sz="1100" dirty="0"/>
              <a:t> 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some</a:t>
            </a:r>
            <a:r>
              <a:rPr lang="de-DE" sz="1100" dirty="0"/>
              <a:t> p: PERSON, r1, r2: RAUM, t: TUER | </a:t>
            </a:r>
          </a:p>
          <a:p>
            <a:r>
              <a:rPr lang="de-DE" sz="1100" dirty="0"/>
              <a:t>		((</a:t>
            </a:r>
            <a:r>
              <a:rPr lang="de-DE" sz="1100" dirty="0" err="1"/>
              <a:t>betreteTuer</a:t>
            </a:r>
            <a:r>
              <a:rPr lang="de-DE" sz="1100" dirty="0"/>
              <a:t>[p, r1, t] and StutterSchritt_2) </a:t>
            </a:r>
            <a:r>
              <a:rPr lang="de-DE" sz="1100" dirty="0" err="1"/>
              <a:t>or</a:t>
            </a:r>
            <a:r>
              <a:rPr lang="de-DE" sz="1100" dirty="0"/>
              <a:t> </a:t>
            </a:r>
          </a:p>
          <a:p>
            <a:r>
              <a:rPr lang="de-DE" sz="1100" dirty="0"/>
              <a:t>		(</a:t>
            </a:r>
            <a:r>
              <a:rPr lang="de-DE" sz="1100" dirty="0" err="1"/>
              <a:t>verlasseTuer</a:t>
            </a:r>
            <a:r>
              <a:rPr lang="de-DE" sz="1100" dirty="0"/>
              <a:t>[p, r2, t] and </a:t>
            </a:r>
            <a:r>
              <a:rPr lang="de-DE" sz="1100" dirty="0" err="1"/>
              <a:t>schrittGrob</a:t>
            </a:r>
            <a:r>
              <a:rPr lang="de-DE" sz="1100" dirty="0"/>
              <a:t>[p, r1, r2])) and </a:t>
            </a:r>
          </a:p>
          <a:p>
            <a:r>
              <a:rPr lang="de-DE" sz="1100" dirty="0"/>
              <a:t>		</a:t>
            </a:r>
            <a:r>
              <a:rPr lang="de-DE" sz="1100" dirty="0" err="1"/>
              <a:t>vorbedingungenMoveFein</a:t>
            </a:r>
            <a:r>
              <a:rPr lang="de-DE" sz="1100" dirty="0"/>
              <a:t>[r1, r2, t]</a:t>
            </a:r>
          </a:p>
          <a:p>
            <a:r>
              <a:rPr lang="de-DE" sz="1100" dirty="0"/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Schritt 2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sldNum" idx="32"/>
          </p:nvPr>
        </p:nvSpPr>
        <p:spPr>
          <a:xfrm>
            <a:off x="11473200" y="6415920"/>
            <a:ext cx="240464" cy="24516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623E668-6669-491B-A79B-27446592CF2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20</a:t>
            </a:fld>
            <a:endParaRPr lang="de-DE" sz="10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89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8640" cy="85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0" name="Grafik 2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890880" y="1989360"/>
            <a:ext cx="4409280" cy="101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1" name="Grafik 5"/>
          <p:cNvPicPr/>
          <p:nvPr/>
        </p:nvPicPr>
        <p:blipFill>
          <a:blip r:embed="rId4"/>
          <a:stretch/>
        </p:blipFill>
        <p:spPr>
          <a:xfrm>
            <a:off x="7570440" y="147888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2" name="Grafik 8"/>
          <p:cNvPicPr/>
          <p:nvPr/>
        </p:nvPicPr>
        <p:blipFill>
          <a:blip r:embed="rId4"/>
          <a:stretch/>
        </p:blipFill>
        <p:spPr>
          <a:xfrm>
            <a:off x="7570440" y="318744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3" name="Grafik 10"/>
          <p:cNvPicPr/>
          <p:nvPr/>
        </p:nvPicPr>
        <p:blipFill>
          <a:blip r:embed="rId5"/>
          <a:stretch/>
        </p:blipFill>
        <p:spPr>
          <a:xfrm>
            <a:off x="3735360" y="120456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4" name="Grafik 12"/>
          <p:cNvPicPr/>
          <p:nvPr/>
        </p:nvPicPr>
        <p:blipFill>
          <a:blip r:embed="rId5"/>
          <a:stretch/>
        </p:blipFill>
        <p:spPr>
          <a:xfrm>
            <a:off x="3552840" y="301644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895F0D75-78B5-F30C-BD13-AA7B3FF8B4B0}"/>
              </a:ext>
            </a:extLst>
          </p:cNvPr>
          <p:cNvGraphicFramePr/>
          <p:nvPr/>
        </p:nvGraphicFramePr>
        <p:xfrm>
          <a:off x="8990640" y="1668900"/>
          <a:ext cx="2230500" cy="1338900"/>
        </p:xfrm>
        <a:graphic>
          <a:graphicData uri="http://schemas.openxmlformats.org/drawingml/2006/table">
            <a:tbl>
              <a:tblPr/>
              <a:tblGrid>
                <a:gridCol w="74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3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5371">
                <a:tc>
                  <a:txBody>
                    <a:bodyPr/>
                    <a:lstStyle/>
                    <a:p>
                      <a:endParaRPr lang="de-DE" sz="1000" b="1" u="none" strike="noStrike" dirty="0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 dirty="0" err="1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b="0" u="none" strike="noStrike" dirty="0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Pfeil: nach rechts 4">
            <a:extLst>
              <a:ext uri="{FF2B5EF4-FFF2-40B4-BE49-F238E27FC236}">
                <a16:creationId xmlns:a16="http://schemas.microsoft.com/office/drawing/2014/main" id="{54E90E5B-6AA5-A39C-71B5-763E3049A86A}"/>
              </a:ext>
            </a:extLst>
          </p:cNvPr>
          <p:cNvSpPr/>
          <p:nvPr/>
        </p:nvSpPr>
        <p:spPr>
          <a:xfrm rot="20607000">
            <a:off x="2684880" y="228276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9" name="Textfeld 7">
            <a:extLst>
              <a:ext uri="{FF2B5EF4-FFF2-40B4-BE49-F238E27FC236}">
                <a16:creationId xmlns:a16="http://schemas.microsoft.com/office/drawing/2014/main" id="{ADC9CDBB-8BCC-CE03-3991-56B076DC4498}"/>
              </a:ext>
            </a:extLst>
          </p:cNvPr>
          <p:cNvSpPr/>
          <p:nvPr/>
        </p:nvSpPr>
        <p:spPr>
          <a:xfrm>
            <a:off x="355680" y="2547000"/>
            <a:ext cx="3301200" cy="76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 dirty="0" err="1">
                <a:solidFill>
                  <a:schemeClr val="dk1"/>
                </a:solidFill>
                <a:effectLst/>
                <a:uFillTx/>
                <a:latin typeface="Arial"/>
              </a:rPr>
              <a:t>pred</a:t>
            </a: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 StutterSchritt_2{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    all o: ORT | 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    </a:t>
            </a:r>
            <a:r>
              <a:rPr lang="de-DE" sz="1100" b="0" u="none" strike="noStrike" dirty="0" err="1">
                <a:solidFill>
                  <a:schemeClr val="dk1"/>
                </a:solidFill>
                <a:effectLst/>
                <a:uFillTx/>
                <a:latin typeface="Arial"/>
              </a:rPr>
              <a:t>o.personenImOrtGrob</a:t>
            </a: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‘ = </a:t>
            </a:r>
            <a:r>
              <a:rPr lang="de-DE" sz="1100" b="0" u="none" strike="noStrike" dirty="0" err="1">
                <a:solidFill>
                  <a:schemeClr val="dk1"/>
                </a:solidFill>
                <a:effectLst/>
                <a:uFillTx/>
                <a:latin typeface="Arial"/>
              </a:rPr>
              <a:t>o.personenImOrtGrob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8E2DC9F-1B9B-B5C5-F3ED-1A98F0F0A96F}"/>
              </a:ext>
            </a:extLst>
          </p:cNvPr>
          <p:cNvSpPr txBox="1"/>
          <p:nvPr/>
        </p:nvSpPr>
        <p:spPr>
          <a:xfrm>
            <a:off x="589680" y="4842360"/>
            <a:ext cx="55520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pred</a:t>
            </a:r>
            <a:r>
              <a:rPr lang="de-DE" sz="1100" dirty="0"/>
              <a:t> </a:t>
            </a:r>
            <a:r>
              <a:rPr lang="de-DE" sz="1100" dirty="0" err="1"/>
              <a:t>schrittFein</a:t>
            </a:r>
            <a:r>
              <a:rPr lang="de-DE" sz="1100" dirty="0"/>
              <a:t> 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some</a:t>
            </a:r>
            <a:r>
              <a:rPr lang="de-DE" sz="1100" dirty="0"/>
              <a:t> p: PERSON, r1, r2: RAUM, t: TUER | </a:t>
            </a:r>
          </a:p>
          <a:p>
            <a:r>
              <a:rPr lang="de-DE" sz="1100" dirty="0"/>
              <a:t>		((</a:t>
            </a:r>
            <a:r>
              <a:rPr lang="de-DE" sz="1100" dirty="0" err="1"/>
              <a:t>betreteTuer</a:t>
            </a:r>
            <a:r>
              <a:rPr lang="de-DE" sz="1100" dirty="0"/>
              <a:t>[p, r1, t] and StutterSchritt_2) </a:t>
            </a:r>
            <a:r>
              <a:rPr lang="de-DE" sz="1100" dirty="0" err="1"/>
              <a:t>or</a:t>
            </a:r>
            <a:r>
              <a:rPr lang="de-DE" sz="1100" dirty="0"/>
              <a:t> </a:t>
            </a:r>
          </a:p>
          <a:p>
            <a:r>
              <a:rPr lang="de-DE" sz="1100" dirty="0"/>
              <a:t>		(</a:t>
            </a:r>
            <a:r>
              <a:rPr lang="de-DE" sz="1100" dirty="0" err="1"/>
              <a:t>verlasseTuer</a:t>
            </a:r>
            <a:r>
              <a:rPr lang="de-DE" sz="1100" dirty="0"/>
              <a:t>[p, r2, t] and </a:t>
            </a:r>
            <a:r>
              <a:rPr lang="de-DE" sz="1100" dirty="0" err="1"/>
              <a:t>schrittGrob</a:t>
            </a:r>
            <a:r>
              <a:rPr lang="de-DE" sz="1100" dirty="0"/>
              <a:t>[p, r1, r2])) and </a:t>
            </a:r>
          </a:p>
          <a:p>
            <a:r>
              <a:rPr lang="de-DE" sz="1100" dirty="0"/>
              <a:t>		</a:t>
            </a:r>
            <a:r>
              <a:rPr lang="de-DE" sz="1100" dirty="0" err="1"/>
              <a:t>vorbedingungenMoveFein</a:t>
            </a:r>
            <a:r>
              <a:rPr lang="de-DE" sz="1100" dirty="0"/>
              <a:t>[r1, r2, t]</a:t>
            </a:r>
          </a:p>
          <a:p>
            <a:r>
              <a:rPr lang="de-DE" sz="1100" dirty="0"/>
              <a:t>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sldNum" idx="34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4C8EAC-1138-44B0-9495-53691039034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15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8120" y="377352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6" name="Grafik 6"/>
          <p:cNvPicPr/>
          <p:nvPr/>
        </p:nvPicPr>
        <p:blipFill>
          <a:blip r:embed="rId3"/>
          <a:stretch/>
        </p:blipFill>
        <p:spPr>
          <a:xfrm>
            <a:off x="6784200" y="2117520"/>
            <a:ext cx="4484160" cy="103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Textfeld 8"/>
          <p:cNvSpPr/>
          <p:nvPr/>
        </p:nvSpPr>
        <p:spPr>
          <a:xfrm>
            <a:off x="543960" y="2838600"/>
            <a:ext cx="5463360" cy="109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	((betreteTuer[p, r1, t] and StutterSchritt_2[t])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	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	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</a:p>
        </p:txBody>
      </p:sp>
      <p:graphicFrame>
        <p:nvGraphicFramePr>
          <p:cNvPr id="219" name="Tabelle 3"/>
          <p:cNvGraphicFramePr/>
          <p:nvPr/>
        </p:nvGraphicFramePr>
        <p:xfrm>
          <a:off x="2031840" y="2509200"/>
          <a:ext cx="8127360" cy="1483200"/>
        </p:xfrm>
        <a:graphic>
          <a:graphicData uri="http://schemas.openxmlformats.org/drawingml/2006/table">
            <a:tbl>
              <a:tblPr/>
              <a:tblGrid>
                <a:gridCol w="203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1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86;p 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Tür wird eigener Ort, Ereignisse betreteTuer/verlasseTuer, Zustandsdiagramm ImRaum → InTür → ImRaum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Erweiterung der sigs/facts, neue preds betreteTuer/verlasseTuer, check dass „Bewegung ohne Zwischenzustand in der Tür" nicht mehr direkt zulässig ist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Erweiterte Zustandsdefinition, Beweis, dass Verkettung von betreteTuer und verlasseTuer dasselbe fachliche Ergebnis liefert wie bewege aus Stufe 1 (Refinement-Nachweis)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89;p 1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35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D29BBEB-B784-46F8-B729-FFD15264897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2020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92500"/>
          </a:bodyPr>
          <a:lstStyle/>
          <a:p>
            <a:r>
              <a:rPr lang="de-DE" dirty="0"/>
              <a:t>Ereignis: Autorisierung</a:t>
            </a:r>
            <a:endParaRPr lang="de-DE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142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7" name="Grafik 226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077921" y="1743030"/>
            <a:ext cx="5465880" cy="16081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 type="sldNum" idx="36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7522F4-297A-4400-9159-0A477001E3C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2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1280" y="427536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3" name="Grafik 6"/>
          <p:cNvPicPr/>
          <p:nvPr/>
        </p:nvPicPr>
        <p:blipFill>
          <a:blip r:embed="rId3"/>
          <a:stretch/>
        </p:blipFill>
        <p:spPr>
          <a:xfrm>
            <a:off x="6731280" y="1519560"/>
            <a:ext cx="4597920" cy="106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4" name="Textfeld 8"/>
          <p:cNvSpPr/>
          <p:nvPr/>
        </p:nvSpPr>
        <p:spPr>
          <a:xfrm>
            <a:off x="543960" y="2838600"/>
            <a:ext cx="5463360" cy="109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	((betreteTuer[p, r1, t] and StutterSchritt_2[t])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	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	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Grafik 4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731280" y="2963880"/>
            <a:ext cx="4597920" cy="855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Autorisierung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 type="sldNum" idx="37"/>
          </p:nvPr>
        </p:nvSpPr>
        <p:spPr>
          <a:xfrm>
            <a:off x="11473200" y="6415200"/>
            <a:ext cx="273836" cy="24588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6FD213-A70C-422F-9B2E-DD608FE2F4E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0" name="Grafik 4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1" name="Grafik 2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796560" y="2340360"/>
            <a:ext cx="4597920" cy="10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2" name="Grafik 7"/>
          <p:cNvPicPr/>
          <p:nvPr/>
        </p:nvPicPr>
        <p:blipFill>
          <a:blip r:embed="rId4"/>
          <a:stretch/>
        </p:blipFill>
        <p:spPr>
          <a:xfrm>
            <a:off x="4574160" y="184212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3" name="Grafik 10"/>
          <p:cNvPicPr/>
          <p:nvPr/>
        </p:nvPicPr>
        <p:blipFill>
          <a:blip r:embed="rId5"/>
          <a:stretch/>
        </p:blipFill>
        <p:spPr>
          <a:xfrm>
            <a:off x="3727800" y="15681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Multiplikationszeichen 11"/>
          <p:cNvSpPr/>
          <p:nvPr/>
        </p:nvSpPr>
        <p:spPr>
          <a:xfrm>
            <a:off x="5635080" y="4209840"/>
            <a:ext cx="920160" cy="920160"/>
          </a:xfrm>
          <a:prstGeom prst="mathMultiply">
            <a:avLst>
              <a:gd name="adj1" fmla="val 2352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45" name="Grafik 13"/>
          <p:cNvPicPr/>
          <p:nvPr/>
        </p:nvPicPr>
        <p:blipFill>
          <a:blip r:embed="rId4"/>
          <a:stretch/>
        </p:blipFill>
        <p:spPr>
          <a:xfrm>
            <a:off x="4475880" y="367740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6" name="Grafik 15"/>
          <p:cNvPicPr/>
          <p:nvPr/>
        </p:nvPicPr>
        <p:blipFill>
          <a:blip r:embed="rId5"/>
          <a:stretch/>
        </p:blipFill>
        <p:spPr>
          <a:xfrm>
            <a:off x="3629520" y="3403080"/>
            <a:ext cx="844920" cy="1209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Autorisierung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: Schritt 1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 type="sldNum" idx="38"/>
          </p:nvPr>
        </p:nvSpPr>
        <p:spPr>
          <a:xfrm>
            <a:off x="11473200" y="6415029"/>
            <a:ext cx="233790" cy="246221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6E79A1-D748-403D-8B71-386F3F428F0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51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2" name="Grafik 8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796560" y="2340360"/>
            <a:ext cx="4597920" cy="10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3" name="Grafik 11"/>
          <p:cNvPicPr/>
          <p:nvPr/>
        </p:nvPicPr>
        <p:blipFill>
          <a:blip r:embed="rId4"/>
          <a:stretch/>
        </p:blipFill>
        <p:spPr>
          <a:xfrm>
            <a:off x="4574160" y="184212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4" name="Grafik 13"/>
          <p:cNvPicPr/>
          <p:nvPr/>
        </p:nvPicPr>
        <p:blipFill>
          <a:blip r:embed="rId5"/>
          <a:stretch/>
        </p:blipFill>
        <p:spPr>
          <a:xfrm>
            <a:off x="3727800" y="15681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5" name="Grafik 15"/>
          <p:cNvPicPr/>
          <p:nvPr/>
        </p:nvPicPr>
        <p:blipFill>
          <a:blip r:embed="rId4"/>
          <a:stretch/>
        </p:blipFill>
        <p:spPr>
          <a:xfrm>
            <a:off x="4475880" y="367740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6" name="Grafik 17"/>
          <p:cNvPicPr/>
          <p:nvPr/>
        </p:nvPicPr>
        <p:blipFill>
          <a:blip r:embed="rId5"/>
          <a:stretch/>
        </p:blipFill>
        <p:spPr>
          <a:xfrm>
            <a:off x="3629520" y="340308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Pfeil: nach rechts 27"/>
          <p:cNvSpPr/>
          <p:nvPr/>
        </p:nvSpPr>
        <p:spPr>
          <a:xfrm rot="20607000">
            <a:off x="2576520" y="44784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feld 29"/>
          <p:cNvSpPr/>
          <p:nvPr/>
        </p:nvSpPr>
        <p:spPr>
          <a:xfrm>
            <a:off x="459000" y="5141160"/>
            <a:ext cx="6093360" cy="93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Autorisierung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: Schritt 2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 type="sldNum" idx="39"/>
          </p:nvPr>
        </p:nvSpPr>
        <p:spPr>
          <a:xfrm>
            <a:off x="11473200" y="6415200"/>
            <a:ext cx="233790" cy="24588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F6C90D6-2A3D-4C58-8F08-89B442CDCA6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28</a:t>
            </a:fld>
            <a:endParaRPr lang="de-DE" sz="10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3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4" name="Grafik 8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796560" y="2340360"/>
            <a:ext cx="4597920" cy="10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5" name="Grafik 11"/>
          <p:cNvPicPr/>
          <p:nvPr/>
        </p:nvPicPr>
        <p:blipFill>
          <a:blip r:embed="rId4"/>
          <a:stretch/>
        </p:blipFill>
        <p:spPr>
          <a:xfrm>
            <a:off x="4574160" y="184212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6" name="Grafik 13"/>
          <p:cNvPicPr/>
          <p:nvPr/>
        </p:nvPicPr>
        <p:blipFill>
          <a:blip r:embed="rId5"/>
          <a:stretch/>
        </p:blipFill>
        <p:spPr>
          <a:xfrm>
            <a:off x="3727800" y="15681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7" name="Grafik 15"/>
          <p:cNvPicPr/>
          <p:nvPr/>
        </p:nvPicPr>
        <p:blipFill>
          <a:blip r:embed="rId4"/>
          <a:stretch/>
        </p:blipFill>
        <p:spPr>
          <a:xfrm>
            <a:off x="5346000" y="367740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" name="Grafik 17"/>
          <p:cNvPicPr/>
          <p:nvPr/>
        </p:nvPicPr>
        <p:blipFill>
          <a:blip r:embed="rId5"/>
          <a:stretch/>
        </p:blipFill>
        <p:spPr>
          <a:xfrm>
            <a:off x="3629520" y="340308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Pfeil: nach rechts 2"/>
          <p:cNvSpPr/>
          <p:nvPr/>
        </p:nvSpPr>
        <p:spPr>
          <a:xfrm rot="20607000">
            <a:off x="2576520" y="44784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feld 5"/>
          <p:cNvSpPr/>
          <p:nvPr/>
        </p:nvSpPr>
        <p:spPr>
          <a:xfrm>
            <a:off x="459000" y="5141160"/>
            <a:ext cx="6093360" cy="93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Autorisierung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: Schritt 3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sldNum" idx="40"/>
          </p:nvPr>
        </p:nvSpPr>
        <p:spPr>
          <a:xfrm>
            <a:off x="11473199" y="6415200"/>
            <a:ext cx="253813" cy="24588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B1770A-282B-4372-AE6D-56D632F03F6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29</a:t>
            </a:fld>
            <a:endParaRPr lang="de-DE" sz="10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5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6" name="Grafik 8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796560" y="2340360"/>
            <a:ext cx="4597920" cy="10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7" name="Grafik 11"/>
          <p:cNvPicPr/>
          <p:nvPr/>
        </p:nvPicPr>
        <p:blipFill>
          <a:blip r:embed="rId4"/>
          <a:stretch/>
        </p:blipFill>
        <p:spPr>
          <a:xfrm>
            <a:off x="6697800" y="184212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8" name="Grafik 13"/>
          <p:cNvPicPr/>
          <p:nvPr/>
        </p:nvPicPr>
        <p:blipFill>
          <a:blip r:embed="rId5"/>
          <a:stretch/>
        </p:blipFill>
        <p:spPr>
          <a:xfrm>
            <a:off x="3727800" y="15681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9" name="Grafik 17"/>
          <p:cNvPicPr/>
          <p:nvPr/>
        </p:nvPicPr>
        <p:blipFill>
          <a:blip r:embed="rId5"/>
          <a:stretch/>
        </p:blipFill>
        <p:spPr>
          <a:xfrm>
            <a:off x="3629520" y="340308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0" name="Grafik 1"/>
          <p:cNvPicPr/>
          <p:nvPr/>
        </p:nvPicPr>
        <p:blipFill>
          <a:blip r:embed="rId4"/>
          <a:stretch/>
        </p:blipFill>
        <p:spPr>
          <a:xfrm>
            <a:off x="6891480" y="3677400"/>
            <a:ext cx="823320" cy="994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2020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Synchronisierung der Modelle</a:t>
            </a:r>
          </a:p>
        </p:txBody>
      </p:sp>
      <p:sp>
        <p:nvSpPr>
          <p:cNvPr id="282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6B222-1243-D33F-3BD6-0BB770DC6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86;p 1">
            <a:extLst>
              <a:ext uri="{FF2B5EF4-FFF2-40B4-BE49-F238E27FC236}">
                <a16:creationId xmlns:a16="http://schemas.microsoft.com/office/drawing/2014/main" id="{29A596AB-EBEC-FCC2-26AA-EA94EF1F2895}"/>
              </a:ext>
            </a:extLst>
          </p:cNvPr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89;p 2">
            <a:extLst>
              <a:ext uri="{FF2B5EF4-FFF2-40B4-BE49-F238E27FC236}">
                <a16:creationId xmlns:a16="http://schemas.microsoft.com/office/drawing/2014/main" id="{7595C7D0-37C7-048A-9BD2-181EB08DEE2A}"/>
              </a:ext>
            </a:extLst>
          </p:cNvPr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>
            <a:extLst>
              <a:ext uri="{FF2B5EF4-FFF2-40B4-BE49-F238E27FC236}">
                <a16:creationId xmlns:a16="http://schemas.microsoft.com/office/drawing/2014/main" id="{75D13ECA-D2ED-00DD-9FD2-F925EB01D986}"/>
              </a:ext>
            </a:extLst>
          </p:cNvPr>
          <p:cNvSpPr>
            <a:spLocks noGrp="1"/>
          </p:cNvSpPr>
          <p:nvPr>
            <p:ph type="sldNum" idx="40"/>
          </p:nvPr>
        </p:nvSpPr>
        <p:spPr>
          <a:xfrm>
            <a:off x="11473199" y="6415200"/>
            <a:ext cx="253813" cy="24588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B1770A-282B-4372-AE6D-56D632F03F6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31</a:t>
            </a:fld>
            <a:endParaRPr lang="de-DE" sz="10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4098D52A-0FC2-14D0-C9AF-696087524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Übersicht Verfeinerung</a:t>
            </a:r>
          </a:p>
        </p:txBody>
      </p:sp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B4173CD9-00FA-8B00-9EE2-9B7123354F9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328614"/>
              </p:ext>
            </p:extLst>
          </p:nvPr>
        </p:nvGraphicFramePr>
        <p:xfrm>
          <a:off x="2031840" y="1593000"/>
          <a:ext cx="8127360" cy="1483200"/>
        </p:xfrm>
        <a:graphic>
          <a:graphicData uri="http://schemas.openxmlformats.org/drawingml/2006/table">
            <a:tbl>
              <a:tblPr/>
              <a:tblGrid>
                <a:gridCol w="203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1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3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 dirty="0" err="1">
                          <a:solidFill>
                            <a:schemeClr val="tx2">
                              <a:lumMod val="40000"/>
                              <a:lumOff val="60000"/>
                            </a:schemeClr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 dirty="0"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 dirty="0" err="1">
                          <a:solidFill>
                            <a:schemeClr val="tx2">
                              <a:lumMod val="40000"/>
                              <a:lumOff val="60000"/>
                            </a:schemeClr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 dirty="0"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 dirty="0" err="1">
                          <a:solidFill>
                            <a:schemeClr val="tx2">
                              <a:lumMod val="40000"/>
                              <a:lumOff val="60000"/>
                            </a:schemeClr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 dirty="0"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Autorisierung: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Öffne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feld 4">
            <a:extLst>
              <a:ext uri="{FF2B5EF4-FFF2-40B4-BE49-F238E27FC236}">
                <a16:creationId xmlns:a16="http://schemas.microsoft.com/office/drawing/2014/main" id="{FCAAEA67-64B4-37BF-02E8-3D820527900C}"/>
              </a:ext>
            </a:extLst>
          </p:cNvPr>
          <p:cNvSpPr/>
          <p:nvPr/>
        </p:nvSpPr>
        <p:spPr>
          <a:xfrm>
            <a:off x="631080" y="4645440"/>
            <a:ext cx="4951800" cy="93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8DF83C7-4929-F082-3796-D4B02BEBCB95}"/>
              </a:ext>
            </a:extLst>
          </p:cNvPr>
          <p:cNvSpPr/>
          <p:nvPr/>
        </p:nvSpPr>
        <p:spPr>
          <a:xfrm>
            <a:off x="6607800" y="4645440"/>
            <a:ext cx="4951800" cy="59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843B78B-12B9-6032-3156-CD0FFD56C05D}"/>
              </a:ext>
            </a:extLst>
          </p:cNvPr>
          <p:cNvSpPr/>
          <p:nvPr/>
        </p:nvSpPr>
        <p:spPr>
          <a:xfrm>
            <a:off x="631080" y="4169160"/>
            <a:ext cx="2306160" cy="36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Stutter Schritt 1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feld 9">
            <a:extLst>
              <a:ext uri="{FF2B5EF4-FFF2-40B4-BE49-F238E27FC236}">
                <a16:creationId xmlns:a16="http://schemas.microsoft.com/office/drawing/2014/main" id="{157452EA-77D3-CA16-4D87-7C7DF7C700E4}"/>
              </a:ext>
            </a:extLst>
          </p:cNvPr>
          <p:cNvSpPr/>
          <p:nvPr/>
        </p:nvSpPr>
        <p:spPr>
          <a:xfrm>
            <a:off x="6607800" y="4169160"/>
            <a:ext cx="2306160" cy="36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Stutter Schritt 2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feil: nach unten 10">
            <a:extLst>
              <a:ext uri="{FF2B5EF4-FFF2-40B4-BE49-F238E27FC236}">
                <a16:creationId xmlns:a16="http://schemas.microsoft.com/office/drawing/2014/main" id="{18254508-79F8-7D11-F62F-15EAEAD4C002}"/>
              </a:ext>
            </a:extLst>
          </p:cNvPr>
          <p:cNvSpPr/>
          <p:nvPr/>
        </p:nvSpPr>
        <p:spPr>
          <a:xfrm rot="2929200">
            <a:off x="3646800" y="3215880"/>
            <a:ext cx="477360" cy="857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1" name="Pfeil: nach unten 12">
            <a:extLst>
              <a:ext uri="{FF2B5EF4-FFF2-40B4-BE49-F238E27FC236}">
                <a16:creationId xmlns:a16="http://schemas.microsoft.com/office/drawing/2014/main" id="{748BF18A-B6DF-8012-3678-37786AFD5107}"/>
              </a:ext>
            </a:extLst>
          </p:cNvPr>
          <p:cNvSpPr/>
          <p:nvPr/>
        </p:nvSpPr>
        <p:spPr>
          <a:xfrm rot="19296000">
            <a:off x="6715440" y="3213000"/>
            <a:ext cx="477360" cy="857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881601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32057-30D0-D0D9-A7F5-1EC7BFFA7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86;p 1">
            <a:extLst>
              <a:ext uri="{FF2B5EF4-FFF2-40B4-BE49-F238E27FC236}">
                <a16:creationId xmlns:a16="http://schemas.microsoft.com/office/drawing/2014/main" id="{C97057F5-6778-C16F-BAD5-44955EB4AE62}"/>
              </a:ext>
            </a:extLst>
          </p:cNvPr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89;p 2">
            <a:extLst>
              <a:ext uri="{FF2B5EF4-FFF2-40B4-BE49-F238E27FC236}">
                <a16:creationId xmlns:a16="http://schemas.microsoft.com/office/drawing/2014/main" id="{4D36C313-2D6A-92BD-C509-D4D831AB7B6D}"/>
              </a:ext>
            </a:extLst>
          </p:cNvPr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>
            <a:extLst>
              <a:ext uri="{FF2B5EF4-FFF2-40B4-BE49-F238E27FC236}">
                <a16:creationId xmlns:a16="http://schemas.microsoft.com/office/drawing/2014/main" id="{F8F8EB85-A297-29E7-D0A6-31D4F01BBBFB}"/>
              </a:ext>
            </a:extLst>
          </p:cNvPr>
          <p:cNvSpPr>
            <a:spLocks noGrp="1"/>
          </p:cNvSpPr>
          <p:nvPr>
            <p:ph type="sldNum" idx="40"/>
          </p:nvPr>
        </p:nvSpPr>
        <p:spPr>
          <a:xfrm>
            <a:off x="11473199" y="6415200"/>
            <a:ext cx="253813" cy="24588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B1770A-282B-4372-AE6D-56D632F03F6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32</a:t>
            </a:fld>
            <a:endParaRPr lang="de-DE" sz="10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A06A9102-B9E7-56C8-A9DC-72C645FC4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Übersicht Verfeinerung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8F12F9FC-1D81-8013-82DD-0FB962230B3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40465485"/>
              </p:ext>
            </p:extLst>
          </p:nvPr>
        </p:nvGraphicFramePr>
        <p:xfrm>
          <a:off x="1196640" y="2053800"/>
          <a:ext cx="9797400" cy="1848960"/>
        </p:xfrm>
        <a:graphic>
          <a:graphicData uri="http://schemas.openxmlformats.org/drawingml/2006/table">
            <a:tbl>
              <a:tblPr/>
              <a:tblGrid>
                <a:gridCol w="1959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9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9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9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59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3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Frame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 dirty="0" err="1">
                          <a:solidFill>
                            <a:schemeClr val="tx2">
                              <a:lumMod val="40000"/>
                              <a:lumOff val="60000"/>
                            </a:schemeClr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 dirty="0"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 dirty="0" err="1">
                          <a:solidFill>
                            <a:schemeClr val="tx2">
                              <a:lumMod val="40000"/>
                              <a:lumOff val="60000"/>
                            </a:schemeClr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 dirty="0"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personenGrob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 dirty="0" err="1">
                          <a:solidFill>
                            <a:schemeClr val="tx2">
                              <a:lumMod val="40000"/>
                              <a:lumOff val="60000"/>
                            </a:schemeClr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 dirty="0"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personenFein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Autorisierung: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Öffne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 dirty="0" err="1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türen</a:t>
                      </a:r>
                      <a:endParaRPr lang="de-DE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Stutter_1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Stutter_2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highlight>
                          <a:srgbClr val="FFFF00"/>
                        </a:highlight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800" b="0" u="none" strike="noStrike" dirty="0">
                        <a:solidFill>
                          <a:schemeClr val="dk1"/>
                        </a:solidFill>
                        <a:effectLst/>
                        <a:highlight>
                          <a:srgbClr val="FFFF00"/>
                        </a:highlight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509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77FF2-7387-311D-D761-3833E4A78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86;p 1">
            <a:extLst>
              <a:ext uri="{FF2B5EF4-FFF2-40B4-BE49-F238E27FC236}">
                <a16:creationId xmlns:a16="http://schemas.microsoft.com/office/drawing/2014/main" id="{979730B3-B33A-11A7-9A47-5F89A84F0D56}"/>
              </a:ext>
            </a:extLst>
          </p:cNvPr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89;p 2">
            <a:extLst>
              <a:ext uri="{FF2B5EF4-FFF2-40B4-BE49-F238E27FC236}">
                <a16:creationId xmlns:a16="http://schemas.microsoft.com/office/drawing/2014/main" id="{ADDC6381-4973-1D04-4734-A65F2A235C9B}"/>
              </a:ext>
            </a:extLst>
          </p:cNvPr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>
            <a:extLst>
              <a:ext uri="{FF2B5EF4-FFF2-40B4-BE49-F238E27FC236}">
                <a16:creationId xmlns:a16="http://schemas.microsoft.com/office/drawing/2014/main" id="{35C6C0B3-7DB8-2C47-B777-CEB3904AF433}"/>
              </a:ext>
            </a:extLst>
          </p:cNvPr>
          <p:cNvSpPr>
            <a:spLocks noGrp="1"/>
          </p:cNvSpPr>
          <p:nvPr>
            <p:ph type="sldNum" idx="40"/>
          </p:nvPr>
        </p:nvSpPr>
        <p:spPr>
          <a:xfrm>
            <a:off x="11473199" y="6415200"/>
            <a:ext cx="253813" cy="24588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B1770A-282B-4372-AE6D-56D632F03F6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33</a:t>
            </a:fld>
            <a:endParaRPr lang="de-DE" sz="10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A1FDDA3-1EB9-BF3A-0904-742D89829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Beispiel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7D1F8C3-C14B-4C27-F1AC-F450FA43A3FF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2836800" y="2148120"/>
            <a:ext cx="6632280" cy="259200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40827144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56E66-0B71-EBC4-ABA9-3559B7A17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86;p 1">
            <a:extLst>
              <a:ext uri="{FF2B5EF4-FFF2-40B4-BE49-F238E27FC236}">
                <a16:creationId xmlns:a16="http://schemas.microsoft.com/office/drawing/2014/main" id="{966E3222-481D-8DF7-3623-61BDF00FBA6C}"/>
              </a:ext>
            </a:extLst>
          </p:cNvPr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89;p 2">
            <a:extLst>
              <a:ext uri="{FF2B5EF4-FFF2-40B4-BE49-F238E27FC236}">
                <a16:creationId xmlns:a16="http://schemas.microsoft.com/office/drawing/2014/main" id="{B1B481D1-967D-BDAB-39CE-7B7745BD686A}"/>
              </a:ext>
            </a:extLst>
          </p:cNvPr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>
            <a:extLst>
              <a:ext uri="{FF2B5EF4-FFF2-40B4-BE49-F238E27FC236}">
                <a16:creationId xmlns:a16="http://schemas.microsoft.com/office/drawing/2014/main" id="{51DC9FC1-DAC2-A89B-F07B-5539F7D05CD9}"/>
              </a:ext>
            </a:extLst>
          </p:cNvPr>
          <p:cNvSpPr>
            <a:spLocks noGrp="1"/>
          </p:cNvSpPr>
          <p:nvPr>
            <p:ph type="sldNum" idx="40"/>
          </p:nvPr>
        </p:nvSpPr>
        <p:spPr>
          <a:xfrm>
            <a:off x="11473199" y="6415200"/>
            <a:ext cx="253813" cy="24588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B1770A-282B-4372-AE6D-56D632F03F6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34</a:t>
            </a:fld>
            <a:endParaRPr lang="de-DE" sz="10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B2C21C6-F354-354C-3B88-F8D1A6BCF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Beispiel</a:t>
            </a:r>
          </a:p>
        </p:txBody>
      </p:sp>
      <p:pic>
        <p:nvPicPr>
          <p:cNvPr id="4" name="Grafik 4">
            <a:extLst>
              <a:ext uri="{FF2B5EF4-FFF2-40B4-BE49-F238E27FC236}">
                <a16:creationId xmlns:a16="http://schemas.microsoft.com/office/drawing/2014/main" id="{478B1E37-7CAC-1A5E-854E-3132949DA1D5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2836800" y="2115000"/>
            <a:ext cx="6516720" cy="255348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42543866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07EAC-2D06-91D7-2254-6DCFF955F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86;p 1">
            <a:extLst>
              <a:ext uri="{FF2B5EF4-FFF2-40B4-BE49-F238E27FC236}">
                <a16:creationId xmlns:a16="http://schemas.microsoft.com/office/drawing/2014/main" id="{B2D8DB6B-389C-E144-604A-07A8F5002B17}"/>
              </a:ext>
            </a:extLst>
          </p:cNvPr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89;p 2">
            <a:extLst>
              <a:ext uri="{FF2B5EF4-FFF2-40B4-BE49-F238E27FC236}">
                <a16:creationId xmlns:a16="http://schemas.microsoft.com/office/drawing/2014/main" id="{331BBA24-445E-BC53-75F6-E257B6688C55}"/>
              </a:ext>
            </a:extLst>
          </p:cNvPr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>
            <a:extLst>
              <a:ext uri="{FF2B5EF4-FFF2-40B4-BE49-F238E27FC236}">
                <a16:creationId xmlns:a16="http://schemas.microsoft.com/office/drawing/2014/main" id="{D6999D7F-A804-141F-2CDC-10D11FC52D4F}"/>
              </a:ext>
            </a:extLst>
          </p:cNvPr>
          <p:cNvSpPr>
            <a:spLocks noGrp="1"/>
          </p:cNvSpPr>
          <p:nvPr>
            <p:ph type="sldNum" idx="40"/>
          </p:nvPr>
        </p:nvSpPr>
        <p:spPr>
          <a:xfrm>
            <a:off x="11473199" y="6415200"/>
            <a:ext cx="253813" cy="24588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B1770A-282B-4372-AE6D-56D632F03F6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35</a:t>
            </a:fld>
            <a:endParaRPr lang="de-DE" sz="10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DD26A09-BF89-75DD-6114-11C4954DA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Beispiel</a:t>
            </a:r>
          </a:p>
        </p:txBody>
      </p:sp>
      <p:pic>
        <p:nvPicPr>
          <p:cNvPr id="5" name="Grafik 6">
            <a:extLst>
              <a:ext uri="{FF2B5EF4-FFF2-40B4-BE49-F238E27FC236}">
                <a16:creationId xmlns:a16="http://schemas.microsoft.com/office/drawing/2014/main" id="{2D37BABC-C919-0464-E7D3-67AEEDE7CC0C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2836800" y="2115000"/>
            <a:ext cx="6525000" cy="255348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6955994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78E61-7015-AFDC-0D11-8BC29F140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86;p 1">
            <a:extLst>
              <a:ext uri="{FF2B5EF4-FFF2-40B4-BE49-F238E27FC236}">
                <a16:creationId xmlns:a16="http://schemas.microsoft.com/office/drawing/2014/main" id="{6F572B0D-3AA0-79A1-F9B8-71C1080F6096}"/>
              </a:ext>
            </a:extLst>
          </p:cNvPr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89;p 2">
            <a:extLst>
              <a:ext uri="{FF2B5EF4-FFF2-40B4-BE49-F238E27FC236}">
                <a16:creationId xmlns:a16="http://schemas.microsoft.com/office/drawing/2014/main" id="{DED838FA-C02D-A95C-5636-F319C7F0E4BD}"/>
              </a:ext>
            </a:extLst>
          </p:cNvPr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>
            <a:extLst>
              <a:ext uri="{FF2B5EF4-FFF2-40B4-BE49-F238E27FC236}">
                <a16:creationId xmlns:a16="http://schemas.microsoft.com/office/drawing/2014/main" id="{927343B3-0E21-A62E-733D-EF09661B3C62}"/>
              </a:ext>
            </a:extLst>
          </p:cNvPr>
          <p:cNvSpPr>
            <a:spLocks noGrp="1"/>
          </p:cNvSpPr>
          <p:nvPr>
            <p:ph type="sldNum" idx="40"/>
          </p:nvPr>
        </p:nvSpPr>
        <p:spPr>
          <a:xfrm>
            <a:off x="11473199" y="6415200"/>
            <a:ext cx="253813" cy="24588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B1770A-282B-4372-AE6D-56D632F03F6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36</a:t>
            </a:fld>
            <a:endParaRPr lang="de-DE" sz="10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82C43A7-9F95-BAD1-6AC4-0F9E69FC5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Beispiel</a:t>
            </a:r>
          </a:p>
        </p:txBody>
      </p:sp>
      <p:pic>
        <p:nvPicPr>
          <p:cNvPr id="4" name="Grafik 5">
            <a:extLst>
              <a:ext uri="{FF2B5EF4-FFF2-40B4-BE49-F238E27FC236}">
                <a16:creationId xmlns:a16="http://schemas.microsoft.com/office/drawing/2014/main" id="{478321FE-D169-5D87-ACDC-F51105E4C42E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2836800" y="2115000"/>
            <a:ext cx="7429680" cy="255348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32257529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86;p 3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Authentifizierungsgerät pro Tür, Bewohner:in vs. Gast, Ereignis authentifizieren, Vor-/Nachbedingungen bei Erfolg/Misserfolg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Authentifizierung/Bewohner/Gast, pred authentifizieren, checks wie „geschlossene Tür kann nicht ohne gültige Berechtigung passiert werden", Gegenbeispielsuche für Gast-Versuch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Beweis, dass fehlgeschlagene Authentifizierung den Zustand nicht verändert; Beweis der Invariante „geschlossene Türen bleiben ohne Berechtigung geschlossen“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Google Shape;89;p 3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41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E4E029-DE3F-44B0-AD61-09C8B216F48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95;p 5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1025460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Umsetzung in Lean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Event B: Beweise des Modells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Google Shape;98;p 5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42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A5E91C-9A54-4EFE-A3B4-4493DBC918B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38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86;p 5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Google Shape;89;p 5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 type="sldNum" idx="43"/>
          </p:nvPr>
        </p:nvSpPr>
        <p:spPr>
          <a:xfrm>
            <a:off x="11473199" y="6415200"/>
            <a:ext cx="247139" cy="24588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9579024-8795-4051-95FE-30B0B4C6668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15" name="Grafik 9"/>
          <p:cNvPicPr/>
          <p:nvPr/>
        </p:nvPicPr>
        <p:blipFill>
          <a:blip r:embed="rId3"/>
          <a:stretch/>
        </p:blipFill>
        <p:spPr>
          <a:xfrm>
            <a:off x="3756240" y="1440000"/>
            <a:ext cx="7762680" cy="467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6" name="PlaceHolder 8"/>
          <p:cNvSpPr/>
          <p:nvPr/>
        </p:nvSpPr>
        <p:spPr>
          <a:xfrm>
            <a:off x="544320" y="1484280"/>
            <a:ext cx="4854600" cy="45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t">
            <a:normAutofit/>
          </a:bodyPr>
          <a:lstStyle/>
          <a:p>
            <a:pPr marL="216000" indent="-2160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Statische Struktur: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Festgelegte Regeln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Unveränderlich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86;p 18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Google Shape;89;p 18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2"/>
          <p:cNvSpPr>
            <a:spLocks noGrp="1"/>
          </p:cNvSpPr>
          <p:nvPr>
            <p:ph type="sldNum" idx="44"/>
          </p:nvPr>
        </p:nvSpPr>
        <p:spPr>
          <a:xfrm>
            <a:off x="11473200" y="6415200"/>
            <a:ext cx="233790" cy="24588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620225F-075B-4ED6-A566-540096E2AEF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21" name="Grafik 64"/>
          <p:cNvPicPr/>
          <p:nvPr/>
        </p:nvPicPr>
        <p:blipFill>
          <a:blip r:embed="rId3"/>
          <a:stretch/>
        </p:blipFill>
        <p:spPr>
          <a:xfrm>
            <a:off x="5637960" y="2340000"/>
            <a:ext cx="5340960" cy="209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2" name="PlaceHolder 60"/>
          <p:cNvSpPr/>
          <p:nvPr/>
        </p:nvSpPr>
        <p:spPr>
          <a:xfrm>
            <a:off x="544320" y="1484280"/>
            <a:ext cx="4854600" cy="45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t">
            <a:normAutofit/>
          </a:bodyPr>
          <a:lstStyle/>
          <a:p>
            <a:pPr marL="216000" indent="-2160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Dynamische Struktur: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personenImOrt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offen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letzterRaum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Flussdiagramm: Prozess 322"/>
          <p:cNvSpPr/>
          <p:nvPr/>
        </p:nvSpPr>
        <p:spPr>
          <a:xfrm>
            <a:off x="5637960" y="2628000"/>
            <a:ext cx="2460960" cy="430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760" tIns="59760" rIns="104760" bIns="59760" anchor="ctr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Flussdiagramm: Prozess 323"/>
          <p:cNvSpPr/>
          <p:nvPr/>
        </p:nvSpPr>
        <p:spPr>
          <a:xfrm>
            <a:off x="7740000" y="3960000"/>
            <a:ext cx="898920" cy="178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760" tIns="59760" rIns="104760" bIns="59760" anchor="ctr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Flussdiagramm: Prozess 324"/>
          <p:cNvSpPr/>
          <p:nvPr/>
        </p:nvSpPr>
        <p:spPr>
          <a:xfrm>
            <a:off x="7740000" y="3960000"/>
            <a:ext cx="898920" cy="178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760" tIns="59760" rIns="104760" bIns="59760" anchor="ctr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86;p 4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SimpleGraph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Google Shape;89;p 4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45"/>
          </p:nvPr>
        </p:nvSpPr>
        <p:spPr>
          <a:xfrm>
            <a:off x="11473200" y="6415200"/>
            <a:ext cx="260488" cy="24588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0A28722-28C0-4924-82E9-9513E1E4D28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30" name="Grafik 329"/>
          <p:cNvPicPr/>
          <p:nvPr/>
        </p:nvPicPr>
        <p:blipFill>
          <a:blip r:embed="rId3"/>
          <a:stretch/>
        </p:blipFill>
        <p:spPr>
          <a:xfrm>
            <a:off x="900000" y="1734480"/>
            <a:ext cx="7558920" cy="24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1" name="Grafik 330"/>
          <p:cNvPicPr/>
          <p:nvPr/>
        </p:nvPicPr>
        <p:blipFill>
          <a:blip r:embed="rId4"/>
          <a:stretch/>
        </p:blipFill>
        <p:spPr>
          <a:xfrm>
            <a:off x="891000" y="2160000"/>
            <a:ext cx="4147920" cy="11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2" name="Pfeil: nach rechts 8"/>
          <p:cNvSpPr/>
          <p:nvPr/>
        </p:nvSpPr>
        <p:spPr>
          <a:xfrm rot="9762600">
            <a:off x="6336000" y="121104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feld 17"/>
          <p:cNvSpPr/>
          <p:nvPr/>
        </p:nvSpPr>
        <p:spPr>
          <a:xfrm>
            <a:off x="7301160" y="102492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Loopless + Symmetrisch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feil: nach rechts 9"/>
          <p:cNvSpPr/>
          <p:nvPr/>
        </p:nvSpPr>
        <p:spPr>
          <a:xfrm rot="9762600">
            <a:off x="4716000" y="23670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feld 18"/>
          <p:cNvSpPr/>
          <p:nvPr/>
        </p:nvSpPr>
        <p:spPr>
          <a:xfrm>
            <a:off x="5364000" y="227700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Raumstruktur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Gerader Verbinder 335"/>
          <p:cNvSpPr/>
          <p:nvPr/>
        </p:nvSpPr>
        <p:spPr>
          <a:xfrm>
            <a:off x="720000" y="3492000"/>
            <a:ext cx="10440000" cy="360"/>
          </a:xfrm>
          <a:prstGeom prst="line">
            <a:avLst/>
          </a:prstGeom>
          <a:ln w="0">
            <a:solidFill>
              <a:srgbClr val="E0051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5000" rIns="90000" bIns="-45000" anchor="ctr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7" name="Grafik 336"/>
          <p:cNvPicPr/>
          <p:nvPr/>
        </p:nvPicPr>
        <p:blipFill>
          <a:blip r:embed="rId5"/>
          <a:stretch/>
        </p:blipFill>
        <p:spPr>
          <a:xfrm>
            <a:off x="865440" y="3960000"/>
            <a:ext cx="9664200" cy="143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8" name="Pfeil: nach rechts 11"/>
          <p:cNvSpPr/>
          <p:nvPr/>
        </p:nvSpPr>
        <p:spPr>
          <a:xfrm rot="12480000">
            <a:off x="6695280" y="54180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feld 20"/>
          <p:cNvSpPr/>
          <p:nvPr/>
        </p:nvSpPr>
        <p:spPr>
          <a:xfrm>
            <a:off x="7380000" y="576000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Grundannahmen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86;p 6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89;p 6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 type="sldNum" idx="46"/>
          </p:nvPr>
        </p:nvSpPr>
        <p:spPr>
          <a:xfrm>
            <a:off x="11473199" y="6415029"/>
            <a:ext cx="273837" cy="246221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F5B9760-1414-4012-AE30-844E1723361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44" name="Grafik 343"/>
          <p:cNvPicPr/>
          <p:nvPr/>
        </p:nvPicPr>
        <p:blipFill>
          <a:blip r:embed="rId3"/>
          <a:stretch/>
        </p:blipFill>
        <p:spPr>
          <a:xfrm>
            <a:off x="1260000" y="2070720"/>
            <a:ext cx="9763560" cy="260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Flussdiagramm: Prozess 344"/>
          <p:cNvSpPr/>
          <p:nvPr/>
        </p:nvSpPr>
        <p:spPr>
          <a:xfrm>
            <a:off x="1317960" y="2232000"/>
            <a:ext cx="4980960" cy="790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760" tIns="59760" rIns="104760" bIns="59760" anchor="ctr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feil: nach rechts 10"/>
          <p:cNvSpPr/>
          <p:nvPr/>
        </p:nvSpPr>
        <p:spPr>
          <a:xfrm rot="12480000">
            <a:off x="6515280" y="48780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feld 19"/>
          <p:cNvSpPr/>
          <p:nvPr/>
        </p:nvSpPr>
        <p:spPr>
          <a:xfrm>
            <a:off x="7200000" y="522000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Grundannahmen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0840" cy="879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Die Übersetzung</a:t>
            </a: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itel 3"/>
          <p:cNvSpPr/>
          <p:nvPr/>
        </p:nvSpPr>
        <p:spPr>
          <a:xfrm>
            <a:off x="696240" y="3833640"/>
            <a:ext cx="7620840" cy="100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b">
            <a:norm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Von Alloy nach Lean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86;p 19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Wie Alloy in Lean übersetzen?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Google Shape;89;p 19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 type="sldNum" idx="47"/>
          </p:nvPr>
        </p:nvSpPr>
        <p:spPr>
          <a:xfrm>
            <a:off x="11473200" y="6415200"/>
            <a:ext cx="240464" cy="24588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27A17BE-EFE8-485C-8CF1-59D9514AC58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Textfeld 21"/>
          <p:cNvSpPr/>
          <p:nvPr/>
        </p:nvSpPr>
        <p:spPr>
          <a:xfrm>
            <a:off x="3320280" y="2340000"/>
            <a:ext cx="5859000" cy="227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feil: nach rechts 13"/>
          <p:cNvSpPr/>
          <p:nvPr/>
        </p:nvSpPr>
        <p:spPr>
          <a:xfrm rot="10800000">
            <a:off x="9324000" y="296676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6" name="Pfeil: nach rechts 14"/>
          <p:cNvSpPr/>
          <p:nvPr/>
        </p:nvSpPr>
        <p:spPr>
          <a:xfrm>
            <a:off x="3132000" y="34920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7" name="Pfeil: nach rechts 15"/>
          <p:cNvSpPr/>
          <p:nvPr/>
        </p:nvSpPr>
        <p:spPr>
          <a:xfrm rot="13020000">
            <a:off x="7580880" y="474336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feld 22"/>
          <p:cNvSpPr/>
          <p:nvPr/>
        </p:nvSpPr>
        <p:spPr>
          <a:xfrm>
            <a:off x="8129520" y="515772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Basisannahmen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feld 23"/>
          <p:cNvSpPr/>
          <p:nvPr/>
        </p:nvSpPr>
        <p:spPr>
          <a:xfrm>
            <a:off x="9936000" y="302400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feld 24"/>
          <p:cNvSpPr/>
          <p:nvPr/>
        </p:nvSpPr>
        <p:spPr>
          <a:xfrm>
            <a:off x="1325520" y="353772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Nachbedingungen + Aktion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86;p 20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Übersetzung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755532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`pre_` bezeichnet eine Vorbedingung. 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`post_` bezeichnet eine Nachbedingung.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`frame_` bezeichnet Eigenschaften, die unverändert bleiben.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`aktion_` bezeichnet die eigentliche Zustandsänderung.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`...Schritt` bezeichnet eine vollständige Übergangsrelation.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Google Shape;89;p 20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48"/>
          </p:nvPr>
        </p:nvSpPr>
        <p:spPr>
          <a:xfrm>
            <a:off x="11473200" y="6415200"/>
            <a:ext cx="260488" cy="245880"/>
          </a:xfrm>
          <a:prstGeom prst="rect">
            <a:avLst/>
          </a:prstGeom>
          <a:noFill/>
          <a:ln w="0">
            <a:noFill/>
          </a:ln>
        </p:spPr>
        <p:txBody>
          <a:bodyPr wrap="square"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5E47DC-49D3-4DC8-8C2F-321763BCC80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PlaceHolder 6"/>
          <p:cNvSpPr/>
          <p:nvPr/>
        </p:nvSpPr>
        <p:spPr>
          <a:xfrm>
            <a:off x="8069797" y="1404000"/>
            <a:ext cx="2102400" cy="269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t">
            <a:normAutofit lnSpcReduction="10000"/>
          </a:bodyPr>
          <a:lstStyle/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</a:pPr>
            <a:r>
              <a:rPr lang="en-US" sz="20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}</a:t>
            </a:r>
            <a:endParaRPr lang="de-DE" sz="20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11"/>
          <p:cNvSpPr/>
          <p:nvPr/>
        </p:nvSpPr>
        <p:spPr>
          <a:xfrm>
            <a:off x="9301402" y="2436249"/>
            <a:ext cx="1184164" cy="39371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Beweise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0840" cy="879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betreteTuer als Beispiel</a:t>
            </a: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itel 8"/>
          <p:cNvSpPr/>
          <p:nvPr/>
        </p:nvSpPr>
        <p:spPr>
          <a:xfrm>
            <a:off x="696240" y="3833640"/>
            <a:ext cx="7620840" cy="100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b">
            <a:norm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Beispiel: verfeinertes Modell</a:t>
            </a:r>
          </a:p>
        </p:txBody>
      </p:sp>
      <p:pic>
        <p:nvPicPr>
          <p:cNvPr id="370" name="Grafik 369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300000" y="5040000"/>
            <a:ext cx="5475600" cy="15224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86;p 9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betrete Tür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Google Shape;89;p 9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 type="sldNum" idx="49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85C6F7-A702-4DEB-9E7F-41BFFF4D786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75" name="Grafik 24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208200" y="42710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6" name="Grafik 25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302880" y="2457360"/>
            <a:ext cx="4408560" cy="1017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7" name="Grafik 26"/>
          <p:cNvPicPr/>
          <p:nvPr/>
        </p:nvPicPr>
        <p:blipFill>
          <a:blip r:embed="rId4"/>
          <a:stretch/>
        </p:blipFill>
        <p:spPr>
          <a:xfrm>
            <a:off x="6993360" y="194688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8" name="Grafik 27"/>
          <p:cNvPicPr/>
          <p:nvPr/>
        </p:nvPicPr>
        <p:blipFill>
          <a:blip r:embed="rId4"/>
          <a:stretch/>
        </p:blipFill>
        <p:spPr>
          <a:xfrm>
            <a:off x="7984440" y="365544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9" name="Grafik 28"/>
          <p:cNvPicPr/>
          <p:nvPr/>
        </p:nvPicPr>
        <p:blipFill>
          <a:blip r:embed="rId5"/>
          <a:stretch/>
        </p:blipFill>
        <p:spPr>
          <a:xfrm>
            <a:off x="6147360" y="16725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0" name="Grafik 29"/>
          <p:cNvPicPr/>
          <p:nvPr/>
        </p:nvPicPr>
        <p:blipFill>
          <a:blip r:embed="rId5"/>
          <a:stretch/>
        </p:blipFill>
        <p:spPr>
          <a:xfrm>
            <a:off x="5964840" y="348444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Pfeil: nach rechts 3"/>
          <p:cNvSpPr/>
          <p:nvPr/>
        </p:nvSpPr>
        <p:spPr>
          <a:xfrm rot="1500000">
            <a:off x="4786920" y="323964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feld 2"/>
          <p:cNvSpPr/>
          <p:nvPr/>
        </p:nvSpPr>
        <p:spPr>
          <a:xfrm>
            <a:off x="211680" y="2223000"/>
            <a:ext cx="5475600" cy="260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betreteTuer[p: PERSON, von: RAUM, t: TUER]{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p in von.personenImOrtFein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t in von.nachbarn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//nur eine Person darf die Tür betreten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#(t.personenImOrtFein) = 0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von.personenImOrtFein' = von.personenImOrtFein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t.personenImOrtFein' = t.personenImOrtFein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- (von + t)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Rechteck 382"/>
          <p:cNvSpPr/>
          <p:nvPr/>
        </p:nvSpPr>
        <p:spPr>
          <a:xfrm>
            <a:off x="1800000" y="5940000"/>
            <a:ext cx="8368294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˄             </a:t>
            </a:r>
            <a:r>
              <a:rPr lang="de-DE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betreteTuer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</a:t>
            </a:r>
            <a:r>
              <a:rPr lang="de-DE" sz="1100" dirty="0">
                <a:solidFill>
                  <a:srgbClr val="000000"/>
                </a:solidFill>
                <a:ea typeface="Microsoft YaHei"/>
              </a:rPr>
              <a:t>˄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ist in Tür             </a:t>
            </a:r>
            <a:r>
              <a:rPr lang="de-DE" sz="1100" dirty="0">
                <a:solidFill>
                  <a:srgbClr val="000000"/>
                </a:solidFill>
                <a:ea typeface="Microsoft YaHei"/>
              </a:rPr>
              <a:t>˄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 </a:t>
            </a:r>
            <a:r>
              <a:rPr lang="de-DE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verlasseTuer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→             ist in Raum B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86;p 14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Vorbedingung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Google Shape;89;p 14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 type="sldNum" idx="50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1D9100E-0213-483B-ACC3-8593F0A01C0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88" name="Grafik 387"/>
          <p:cNvPicPr/>
          <p:nvPr/>
        </p:nvPicPr>
        <p:blipFill>
          <a:blip r:embed="rId2"/>
          <a:stretch/>
        </p:blipFill>
        <p:spPr>
          <a:xfrm>
            <a:off x="1577520" y="2340000"/>
            <a:ext cx="9041760" cy="21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9" name="Rechteck 388"/>
          <p:cNvSpPr/>
          <p:nvPr/>
        </p:nvSpPr>
        <p:spPr>
          <a:xfrm>
            <a:off x="1800000" y="5874120"/>
            <a:ext cx="8486916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</a:t>
            </a:r>
            <a:r>
              <a:rPr lang="de-DE" sz="1100" dirty="0">
                <a:solidFill>
                  <a:srgbClr val="000000"/>
                </a:solidFill>
                <a:ea typeface="Microsoft YaHei"/>
              </a:rPr>
              <a:t>˄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</a:t>
            </a:r>
            <a:r>
              <a:rPr lang="de-DE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betreteTuer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</a:t>
            </a:r>
            <a:r>
              <a:rPr lang="de-DE" sz="1100" dirty="0">
                <a:solidFill>
                  <a:srgbClr val="000000"/>
                </a:solidFill>
                <a:ea typeface="Microsoft YaHei"/>
              </a:rPr>
              <a:t>˄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ist in Tür             </a:t>
            </a:r>
            <a:r>
              <a:rPr lang="de-DE" sz="1100" dirty="0">
                <a:solidFill>
                  <a:srgbClr val="000000"/>
                </a:solidFill>
                <a:ea typeface="Microsoft YaHei"/>
              </a:rPr>
              <a:t>˄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 </a:t>
            </a:r>
            <a:r>
              <a:rPr lang="de-DE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verlasseTuer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→             ist in Raum B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Flussdiagramm: Prozess 389"/>
          <p:cNvSpPr/>
          <p:nvPr/>
        </p:nvSpPr>
        <p:spPr>
          <a:xfrm>
            <a:off x="1606680" y="5724000"/>
            <a:ext cx="1380960" cy="53964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760" tIns="59760" rIns="104760" bIns="59760" anchor="ctr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86;p 10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Aktion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Google Shape;89;p 10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2"/>
          <p:cNvSpPr>
            <a:spLocks noGrp="1"/>
          </p:cNvSpPr>
          <p:nvPr>
            <p:ph type="sldNum" idx="51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F785ACA-5BC7-4FBA-BF05-C7803EF5A1B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Rechteck 394"/>
          <p:cNvSpPr/>
          <p:nvPr/>
        </p:nvSpPr>
        <p:spPr>
          <a:xfrm>
            <a:off x="1800000" y="5874480"/>
            <a:ext cx="8486916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</a:t>
            </a:r>
            <a:r>
              <a:rPr lang="de-DE" sz="1100" dirty="0">
                <a:solidFill>
                  <a:srgbClr val="000000"/>
                </a:solidFill>
                <a:ea typeface="Microsoft YaHei"/>
              </a:rPr>
              <a:t>˄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</a:t>
            </a:r>
            <a:r>
              <a:rPr lang="de-DE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betreteTuer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</a:t>
            </a:r>
            <a:r>
              <a:rPr lang="de-DE" sz="1100" dirty="0">
                <a:solidFill>
                  <a:srgbClr val="000000"/>
                </a:solidFill>
                <a:ea typeface="Microsoft YaHei"/>
              </a:rPr>
              <a:t>˄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ist in Tür             </a:t>
            </a:r>
            <a:r>
              <a:rPr lang="de-DE" sz="1100" dirty="0">
                <a:solidFill>
                  <a:srgbClr val="000000"/>
                </a:solidFill>
                <a:ea typeface="Microsoft YaHei"/>
              </a:rPr>
              <a:t>˄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 </a:t>
            </a:r>
            <a:r>
              <a:rPr lang="de-DE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verlasseTuer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→             ist in Raum B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Flussdiagramm: Prozess 395"/>
          <p:cNvSpPr/>
          <p:nvPr/>
        </p:nvSpPr>
        <p:spPr>
          <a:xfrm>
            <a:off x="3528000" y="5760000"/>
            <a:ext cx="1380960" cy="53964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760" tIns="59760" rIns="104760" bIns="59760" anchor="ctr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7" name="Grafik 396"/>
          <p:cNvPicPr/>
          <p:nvPr/>
        </p:nvPicPr>
        <p:blipFill>
          <a:blip r:embed="rId2"/>
          <a:stretch/>
        </p:blipFill>
        <p:spPr>
          <a:xfrm>
            <a:off x="2122920" y="2340000"/>
            <a:ext cx="8316720" cy="17575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86;p 7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Nachbedingung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Google Shape;89;p 7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2"/>
          <p:cNvSpPr>
            <a:spLocks noGrp="1"/>
          </p:cNvSpPr>
          <p:nvPr>
            <p:ph type="sldNum" idx="52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A7A5113-889F-42DB-8590-013FF9AB72E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2" name="Grafik 401"/>
          <p:cNvPicPr/>
          <p:nvPr/>
        </p:nvPicPr>
        <p:blipFill>
          <a:blip r:embed="rId2"/>
          <a:stretch/>
        </p:blipFill>
        <p:spPr>
          <a:xfrm>
            <a:off x="1337760" y="2483280"/>
            <a:ext cx="9281520" cy="165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Rechteck 402"/>
          <p:cNvSpPr/>
          <p:nvPr/>
        </p:nvSpPr>
        <p:spPr>
          <a:xfrm>
            <a:off x="1800000" y="5874480"/>
            <a:ext cx="8486916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</a:t>
            </a:r>
            <a:r>
              <a:rPr lang="de-DE" sz="1100" dirty="0">
                <a:solidFill>
                  <a:srgbClr val="000000"/>
                </a:solidFill>
                <a:ea typeface="Microsoft YaHei"/>
              </a:rPr>
              <a:t>˄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</a:t>
            </a:r>
            <a:r>
              <a:rPr lang="de-DE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betreteTuer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</a:t>
            </a:r>
            <a:r>
              <a:rPr lang="de-DE" sz="1100" dirty="0">
                <a:solidFill>
                  <a:srgbClr val="000000"/>
                </a:solidFill>
                <a:ea typeface="Microsoft YaHei"/>
              </a:rPr>
              <a:t>˄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ist in Tür             </a:t>
            </a:r>
            <a:r>
              <a:rPr lang="de-DE" sz="1100" dirty="0">
                <a:solidFill>
                  <a:srgbClr val="000000"/>
                </a:solidFill>
                <a:ea typeface="Microsoft YaHei"/>
              </a:rPr>
              <a:t>˄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 </a:t>
            </a:r>
            <a:r>
              <a:rPr lang="de-DE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verlasseTuer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→             ist in Raum B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Flussdiagramm: Prozess 403"/>
          <p:cNvSpPr/>
          <p:nvPr/>
        </p:nvSpPr>
        <p:spPr>
          <a:xfrm>
            <a:off x="5328000" y="5760000"/>
            <a:ext cx="1132870" cy="53964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760" tIns="59760" rIns="104760" bIns="59760" anchor="ctr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86;p 1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Schritt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Google Shape;89;p 11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sldNum" idx="53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11238A-58EF-45A5-BDA1-90452FFB683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9" name="Grafik 408"/>
          <p:cNvPicPr/>
          <p:nvPr/>
        </p:nvPicPr>
        <p:blipFill>
          <a:blip r:embed="rId2"/>
          <a:stretch/>
        </p:blipFill>
        <p:spPr>
          <a:xfrm>
            <a:off x="1707120" y="1932840"/>
            <a:ext cx="8552160" cy="269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0" name="Rechteck 409"/>
          <p:cNvSpPr/>
          <p:nvPr/>
        </p:nvSpPr>
        <p:spPr>
          <a:xfrm>
            <a:off x="1800000" y="5874480"/>
            <a:ext cx="854316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Flussdiagramm: Prozess 410"/>
          <p:cNvSpPr/>
          <p:nvPr/>
        </p:nvSpPr>
        <p:spPr>
          <a:xfrm>
            <a:off x="1620000" y="5760000"/>
            <a:ext cx="5089320" cy="53964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760" tIns="59760" rIns="104760" bIns="59760" anchor="ctr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86;p 1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Google Shape;89;p 1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 type="sldNum" idx="54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AAA6CCE-326C-4E1E-BE86-0AFACD5C7D1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Rechteck 415"/>
          <p:cNvSpPr/>
          <p:nvPr/>
        </p:nvSpPr>
        <p:spPr>
          <a:xfrm>
            <a:off x="1800000" y="5874480"/>
            <a:ext cx="8486916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</a:t>
            </a:r>
            <a:r>
              <a:rPr lang="de-DE" sz="1100" dirty="0">
                <a:solidFill>
                  <a:srgbClr val="000000"/>
                </a:solidFill>
                <a:ea typeface="Microsoft YaHei"/>
              </a:rPr>
              <a:t>˄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</a:t>
            </a:r>
            <a:r>
              <a:rPr lang="de-DE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betreteTuer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</a:t>
            </a:r>
            <a:r>
              <a:rPr lang="de-DE" sz="1100" dirty="0">
                <a:solidFill>
                  <a:srgbClr val="000000"/>
                </a:solidFill>
                <a:ea typeface="Microsoft YaHei"/>
              </a:rPr>
              <a:t>˄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ist in Tür             </a:t>
            </a:r>
            <a:r>
              <a:rPr lang="de-DE" sz="1100" dirty="0">
                <a:solidFill>
                  <a:srgbClr val="000000"/>
                </a:solidFill>
                <a:ea typeface="Microsoft YaHei"/>
              </a:rPr>
              <a:t>˄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 </a:t>
            </a:r>
            <a:r>
              <a:rPr lang="de-DE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verlasseTuer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         →             ist in Raum B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7" name="Grafik 416"/>
          <p:cNvPicPr/>
          <p:nvPr/>
        </p:nvPicPr>
        <p:blipFill>
          <a:blip r:embed="rId2"/>
          <a:srcRect b="50863"/>
          <a:stretch/>
        </p:blipFill>
        <p:spPr>
          <a:xfrm>
            <a:off x="1980000" y="1675800"/>
            <a:ext cx="8099640" cy="282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Flussdiagramm: Prozess 417"/>
          <p:cNvSpPr/>
          <p:nvPr/>
        </p:nvSpPr>
        <p:spPr>
          <a:xfrm>
            <a:off x="1620000" y="5760000"/>
            <a:ext cx="8819640" cy="53964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760" tIns="59760" rIns="104760" bIns="59760" anchor="ctr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2020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Konsistenz zwischen Modellen</a:t>
            </a: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142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1" name="Grafik 420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4069800" y="5079240"/>
            <a:ext cx="7809120" cy="1579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86;p 16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Konsistenz zwischen den Modellen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Google Shape;89;p 16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 type="sldNum" idx="55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53A4D73-8A66-44EE-814D-32C14C399BA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26" name="Grafik 425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269800" y="2700000"/>
            <a:ext cx="7809120" cy="1579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86;p 13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Google Shape;89;p 13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 type="sldNum" idx="56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72FBDDD-EA58-46C8-B4A5-BBADBBBE8B8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31" name="Grafik 430"/>
          <p:cNvPicPr/>
          <p:nvPr/>
        </p:nvPicPr>
        <p:blipFill>
          <a:blip r:embed="rId2"/>
          <a:srcRect t="58606"/>
          <a:stretch/>
        </p:blipFill>
        <p:spPr>
          <a:xfrm>
            <a:off x="1440000" y="2340000"/>
            <a:ext cx="9037440" cy="193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2" name="Rechteck 431"/>
          <p:cNvSpPr/>
          <p:nvPr/>
        </p:nvSpPr>
        <p:spPr>
          <a:xfrm>
            <a:off x="1800000" y="5874480"/>
            <a:ext cx="854316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95;p3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084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Fazit und Ausblick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Was getan ist und was als nächstes möglich wäre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Google Shape;98;p3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57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06C129-9C3D-4159-A917-4C65E1076C5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56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178;p8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Fazit und Ausblick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dirty="0" err="1">
                <a:solidFill>
                  <a:srgbClr val="361E47"/>
                </a:solidFill>
              </a:rPr>
              <a:t>Weiterentwicklung</a:t>
            </a:r>
            <a:r>
              <a:rPr lang="en-US" sz="2000" dirty="0">
                <a:solidFill>
                  <a:srgbClr val="361E47"/>
                </a:solidFill>
              </a:rPr>
              <a:t> des Systems </a:t>
            </a:r>
            <a:r>
              <a:rPr lang="en-US" sz="2000" dirty="0" err="1">
                <a:solidFill>
                  <a:srgbClr val="361E47"/>
                </a:solidFill>
              </a:rPr>
              <a:t>durch</a:t>
            </a:r>
            <a:r>
              <a:rPr lang="en-US" sz="2000" dirty="0">
                <a:solidFill>
                  <a:srgbClr val="361E47"/>
                </a:solidFill>
              </a:rPr>
              <a:t> </a:t>
            </a:r>
            <a:r>
              <a:rPr lang="en-US" sz="2000" dirty="0" err="1">
                <a:solidFill>
                  <a:srgbClr val="361E47"/>
                </a:solidFill>
              </a:rPr>
              <a:t>weitere</a:t>
            </a:r>
            <a:r>
              <a:rPr lang="en-US" sz="2000" dirty="0">
                <a:solidFill>
                  <a:srgbClr val="361E47"/>
                </a:solidFill>
              </a:rPr>
              <a:t> </a:t>
            </a:r>
            <a:r>
              <a:rPr lang="en-US" sz="2000" b="1" dirty="0" err="1">
                <a:solidFill>
                  <a:srgbClr val="361E47"/>
                </a:solidFill>
              </a:rPr>
              <a:t>Zutrittsregeln</a:t>
            </a:r>
            <a:r>
              <a:rPr lang="en-US" sz="2000" dirty="0">
                <a:solidFill>
                  <a:srgbClr val="361E47"/>
                </a:solidFill>
              </a:rPr>
              <a:t> und </a:t>
            </a:r>
            <a:r>
              <a:rPr lang="en-US" sz="2000" b="1" dirty="0" err="1">
                <a:solidFill>
                  <a:srgbClr val="361E47"/>
                </a:solidFill>
              </a:rPr>
              <a:t>Zutrittsschritte</a:t>
            </a:r>
            <a:endParaRPr lang="en-US" sz="2000" b="1" dirty="0">
              <a:solidFill>
                <a:srgbClr val="361E47"/>
              </a:solidFill>
            </a:endParaRPr>
          </a:p>
          <a:p>
            <a:pPr marL="228600" indent="-228600"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dirty="0" err="1">
                <a:solidFill>
                  <a:srgbClr val="361E47"/>
                </a:solidFill>
              </a:rPr>
              <a:t>Weitere</a:t>
            </a:r>
            <a:r>
              <a:rPr lang="en-US" sz="2000" dirty="0">
                <a:solidFill>
                  <a:srgbClr val="361E47"/>
                </a:solidFill>
              </a:rPr>
              <a:t> </a:t>
            </a:r>
            <a:r>
              <a:rPr lang="en-US" sz="2000" dirty="0" err="1">
                <a:solidFill>
                  <a:srgbClr val="361E47"/>
                </a:solidFill>
              </a:rPr>
              <a:t>Zutrittsregeln</a:t>
            </a:r>
            <a:r>
              <a:rPr lang="en-US" sz="2000" dirty="0">
                <a:solidFill>
                  <a:srgbClr val="361E47"/>
                </a:solidFill>
              </a:rPr>
              <a:t> auf </a:t>
            </a:r>
            <a:r>
              <a:rPr lang="en-US" sz="2000" dirty="0" err="1">
                <a:solidFill>
                  <a:srgbClr val="361E47"/>
                </a:solidFill>
              </a:rPr>
              <a:t>Autorisierungsebene</a:t>
            </a:r>
            <a:r>
              <a:rPr lang="en-US" sz="2000" dirty="0">
                <a:solidFill>
                  <a:srgbClr val="361E47"/>
                </a:solidFill>
              </a:rPr>
              <a:t>: </a:t>
            </a:r>
            <a:r>
              <a:rPr lang="en-US" sz="2000" dirty="0" err="1">
                <a:solidFill>
                  <a:srgbClr val="361E47"/>
                </a:solidFill>
                <a:ea typeface="Arial"/>
              </a:rPr>
              <a:t>Raumkapazitäten</a:t>
            </a:r>
            <a:r>
              <a:rPr lang="en-US" sz="2000" dirty="0">
                <a:solidFill>
                  <a:srgbClr val="361E47"/>
                </a:solidFill>
                <a:ea typeface="Arial"/>
              </a:rPr>
              <a:t>, </a:t>
            </a:r>
            <a:r>
              <a:rPr lang="en-US" sz="2000" dirty="0" err="1">
                <a:solidFill>
                  <a:srgbClr val="361E47"/>
                </a:solidFill>
                <a:ea typeface="Arial"/>
              </a:rPr>
              <a:t>Uhrzeiten</a:t>
            </a:r>
            <a:r>
              <a:rPr lang="en-US" sz="2000" dirty="0">
                <a:solidFill>
                  <a:srgbClr val="361E47"/>
                </a:solidFill>
                <a:ea typeface="Arial"/>
              </a:rPr>
              <a:t>, </a:t>
            </a:r>
            <a:r>
              <a:rPr lang="en-US" sz="2000" dirty="0" err="1">
                <a:solidFill>
                  <a:srgbClr val="361E47"/>
                </a:solidFill>
                <a:ea typeface="Arial"/>
              </a:rPr>
              <a:t>Personentypen</a:t>
            </a:r>
            <a:r>
              <a:rPr lang="en-US" sz="2000" dirty="0">
                <a:solidFill>
                  <a:srgbClr val="361E47"/>
                </a:solidFill>
                <a:ea typeface="Arial"/>
              </a:rPr>
              <a:t> </a:t>
            </a:r>
            <a:r>
              <a:rPr lang="en-US" sz="2000" dirty="0" err="1">
                <a:solidFill>
                  <a:srgbClr val="361E47"/>
                </a:solidFill>
                <a:ea typeface="Arial"/>
              </a:rPr>
              <a:t>oder</a:t>
            </a:r>
            <a:r>
              <a:rPr lang="en-US" sz="2000" dirty="0">
                <a:solidFill>
                  <a:srgbClr val="361E47"/>
                </a:solidFill>
                <a:ea typeface="Arial"/>
              </a:rPr>
              <a:t> externe </a:t>
            </a:r>
            <a:r>
              <a:rPr lang="en-US" sz="2000" dirty="0" err="1">
                <a:solidFill>
                  <a:srgbClr val="361E47"/>
                </a:solidFill>
                <a:ea typeface="Arial"/>
              </a:rPr>
              <a:t>Bedingungen</a:t>
            </a:r>
            <a:endParaRPr lang="en-US" sz="2000" dirty="0">
              <a:solidFill>
                <a:srgbClr val="361E47"/>
              </a:solidFill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</a:rPr>
              <a:t>Weitere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</a:rPr>
              <a:t>Zutrittsschritte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</a:rPr>
              <a:t>mit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</a:rPr>
              <a:t>nach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</a:rPr>
              <a:t> Event-B</a:t>
            </a: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</a:rPr>
              <a:t>Parallele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</a:rPr>
              <a:t>Authentifizierungsschritte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</a:rPr>
              <a:t> und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</a:rPr>
              <a:t>Spezifikationslücken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</a:rPr>
              <a:t>durch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</a:rPr>
              <a:t>Regelverletzung</a:t>
            </a:r>
            <a:r>
              <a:rPr lang="en-US" sz="2000" b="0" u="none" strike="noStrike" dirty="0">
                <a:solidFill>
                  <a:srgbClr val="361E47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361E47"/>
                </a:solidFill>
                <a:effectLst/>
                <a:uFillTx/>
                <a:latin typeface="Arial"/>
              </a:rPr>
              <a:t>finden</a:t>
            </a:r>
            <a:endParaRPr lang="en-US" sz="2000" b="0" u="none" strike="noStrike" dirty="0">
              <a:solidFill>
                <a:srgbClr val="361E47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Google Shape;181;p8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58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9DCEF6-A8DF-449F-B736-87B2DFBBD02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0F0ED-9387-CC36-9E39-16B726967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>
            <a:extLst>
              <a:ext uri="{FF2B5EF4-FFF2-40B4-BE49-F238E27FC236}">
                <a16:creationId xmlns:a16="http://schemas.microsoft.com/office/drawing/2014/main" id="{F8DFB254-5B19-7D70-E598-4D37124D9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12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34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Vielen lieben Dank!</a:t>
            </a:r>
            <a:endParaRPr lang="de-DE" sz="3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>
            <a:extLst>
              <a:ext uri="{FF2B5EF4-FFF2-40B4-BE49-F238E27FC236}">
                <a16:creationId xmlns:a16="http://schemas.microsoft.com/office/drawing/2014/main" id="{98682074-EA5A-00C2-BD6D-DF64452D351C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543960" y="4689360"/>
            <a:ext cx="555012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0000"/>
                </a:solidFill>
                <a:effectLst/>
                <a:uFillTx/>
                <a:latin typeface="Arial"/>
                <a:ea typeface="Arial"/>
              </a:rPr>
              <a:t>Verena Kipp, Anna-Livia Martin, David Rossel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80;p1">
            <a:extLst>
              <a:ext uri="{FF2B5EF4-FFF2-40B4-BE49-F238E27FC236}">
                <a16:creationId xmlns:a16="http://schemas.microsoft.com/office/drawing/2014/main" id="{6F2BA61E-397D-F60F-FF1D-95F3E259D47A}"/>
              </a:ext>
            </a:extLst>
          </p:cNvPr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Google Shape;81;p1" descr="Grafik 7">
            <a:extLst>
              <a:ext uri="{FF2B5EF4-FFF2-40B4-BE49-F238E27FC236}">
                <a16:creationId xmlns:a16="http://schemas.microsoft.com/office/drawing/2014/main" id="{2317B927-4946-2C9A-FC96-A812FB46737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" name="Grafik 14">
            <a:extLst>
              <a:ext uri="{FF2B5EF4-FFF2-40B4-BE49-F238E27FC236}">
                <a16:creationId xmlns:a16="http://schemas.microsoft.com/office/drawing/2014/main" id="{F7DE14F7-7DD4-FDBA-578A-4EC23EA51D69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760000" y="3471120"/>
            <a:ext cx="3707640" cy="4478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Grafik 16">
            <a:extLst>
              <a:ext uri="{FF2B5EF4-FFF2-40B4-BE49-F238E27FC236}">
                <a16:creationId xmlns:a16="http://schemas.microsoft.com/office/drawing/2014/main" id="{2CA3C497-E32F-E6F4-C402-E8A2EB64F7B7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8508240" y="2700000"/>
            <a:ext cx="3804840" cy="544680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126956799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232;p14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Quellen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/>
          </p:nvPr>
        </p:nvSpPr>
        <p:spPr>
          <a:xfrm>
            <a:off x="543960" y="14716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8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Bernd das Brot: https://erfurt-mitte.de/blogs/erfurt-mitte-blog/bernd-das-brot-merchandise-im-onlineshop-kultiges-kultbrot-fuer-fans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8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Sandmännchen: https://www.gmx.ch/magazine/unterhaltung/tv-shows/24-zentimeter-gross-unermuedlich-sandmann-55-30229448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8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Alle anderen Diagramme/Bilder sind durch uns erstellt worden.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Google Shape;235;p14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PlaceHolder 3"/>
          <p:cNvSpPr>
            <a:spLocks noGrp="1"/>
          </p:cNvSpPr>
          <p:nvPr>
            <p:ph type="sldNum" idx="59"/>
          </p:nvPr>
        </p:nvSpPr>
        <p:spPr>
          <a:xfrm>
            <a:off x="11402640" y="6415200"/>
            <a:ext cx="24372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7D26FD5-3DEE-4A56-BBBD-59FD60CBB0F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rgbClr val="361E47"/>
      </a:dk1>
      <a:lt1>
        <a:srgbClr val="FFFFFF"/>
      </a:lt1>
      <a:dk2>
        <a:srgbClr val="A7A7A7"/>
      </a:dk2>
      <a:lt2>
        <a:srgbClr val="535353"/>
      </a:lt2>
      <a:accent1>
        <a:srgbClr val="E00514"/>
      </a:accent1>
      <a:accent2>
        <a:srgbClr val="A42564"/>
      </a:accent2>
      <a:accent3>
        <a:srgbClr val="5E3EE1"/>
      </a:accent3>
      <a:accent4>
        <a:srgbClr val="F6D0F1"/>
      </a:accent4>
      <a:accent5>
        <a:srgbClr val="B44D79"/>
      </a:accent5>
      <a:accent6>
        <a:srgbClr val="7E63E8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rgbClr val="361E47"/>
      </a:dk1>
      <a:lt1>
        <a:srgbClr val="FFFFFF"/>
      </a:lt1>
      <a:dk2>
        <a:srgbClr val="A7A7A7"/>
      </a:dk2>
      <a:lt2>
        <a:srgbClr val="535353"/>
      </a:lt2>
      <a:accent1>
        <a:srgbClr val="E00514"/>
      </a:accent1>
      <a:accent2>
        <a:srgbClr val="A42564"/>
      </a:accent2>
      <a:accent3>
        <a:srgbClr val="5E3EE1"/>
      </a:accent3>
      <a:accent4>
        <a:srgbClr val="F6D0F1"/>
      </a:accent4>
      <a:accent5>
        <a:srgbClr val="B44D79"/>
      </a:accent5>
      <a:accent6>
        <a:srgbClr val="7E63E8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3472</Words>
  <Application>Microsoft Office PowerPoint</Application>
  <PresentationFormat>Breitbild</PresentationFormat>
  <Paragraphs>680</Paragraphs>
  <Slides>59</Slides>
  <Notes>20</Notes>
  <HiddenSlides>8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59</vt:i4>
      </vt:variant>
    </vt:vector>
  </HeadingPairs>
  <TitlesOfParts>
    <vt:vector size="67" baseType="lpstr">
      <vt:lpstr>Microsoft YaHei</vt:lpstr>
      <vt:lpstr>Arial</vt:lpstr>
      <vt:lpstr>Symbol</vt:lpstr>
      <vt:lpstr>Times New Roman</vt:lpstr>
      <vt:lpstr>Wingdings</vt:lpstr>
      <vt:lpstr>Wingdings 2</vt:lpstr>
      <vt:lpstr>Office</vt:lpstr>
      <vt:lpstr>Office</vt:lpstr>
      <vt:lpstr>Reliable Software –  Smart Home System</vt:lpstr>
      <vt:lpstr>Motivation</vt:lpstr>
      <vt:lpstr>Motivation</vt:lpstr>
      <vt:lpstr>Grundlegende räumliche Struktur</vt:lpstr>
      <vt:lpstr>Gebäudestruktur</vt:lpstr>
      <vt:lpstr>Weitere Grundgesetze</vt:lpstr>
      <vt:lpstr>Umsetzung in Alloy</vt:lpstr>
      <vt:lpstr>Übersicht der Objekte</vt:lpstr>
      <vt:lpstr>Übersicht der Axiome</vt:lpstr>
      <vt:lpstr>Übersicht der Invarianten</vt:lpstr>
      <vt:lpstr>Übersicht der Objekte</vt:lpstr>
      <vt:lpstr>PowerPoint-Präsentation</vt:lpstr>
      <vt:lpstr>Grobes Modell</vt:lpstr>
      <vt:lpstr>Grobes Modell</vt:lpstr>
      <vt:lpstr>Inhalt</vt:lpstr>
      <vt:lpstr>Ereignisse des feinen Modells</vt:lpstr>
      <vt:lpstr>Feines Modell</vt:lpstr>
      <vt:lpstr>Feines Modell: Initialer Zustand</vt:lpstr>
      <vt:lpstr>Feines Modell: Schritt 1</vt:lpstr>
      <vt:lpstr>Feines Modell: Schritt 2</vt:lpstr>
      <vt:lpstr>Feines Modell</vt:lpstr>
      <vt:lpstr>Übersicht Verfeinerung</vt:lpstr>
      <vt:lpstr>Inhalt</vt:lpstr>
      <vt:lpstr>Ereignis: Autorisierung</vt:lpstr>
      <vt:lpstr>Feines Modell mit Autorisierung</vt:lpstr>
      <vt:lpstr>Autorisierung</vt:lpstr>
      <vt:lpstr>Autorisierung: Schritt 1</vt:lpstr>
      <vt:lpstr>Autorisierung: Schritt 2</vt:lpstr>
      <vt:lpstr>Autorisierung: Schritt 3</vt:lpstr>
      <vt:lpstr>Synchronisierung der Modelle</vt:lpstr>
      <vt:lpstr>Übersicht Verfeinerung</vt:lpstr>
      <vt:lpstr>Übersicht Verfeinerung</vt:lpstr>
      <vt:lpstr>Beispiel</vt:lpstr>
      <vt:lpstr>Beispiel</vt:lpstr>
      <vt:lpstr>Beispiel</vt:lpstr>
      <vt:lpstr>Beispiel</vt:lpstr>
      <vt:lpstr>Inhalt</vt:lpstr>
      <vt:lpstr>Umsetzung in Lean</vt:lpstr>
      <vt:lpstr>Übersicht der Objekte</vt:lpstr>
      <vt:lpstr>Übersicht der Objekte</vt:lpstr>
      <vt:lpstr>SimpleGraph</vt:lpstr>
      <vt:lpstr>Zustand</vt:lpstr>
      <vt:lpstr>PowerPoint-Präsentation</vt:lpstr>
      <vt:lpstr>Wie Alloy in Lean übersetzen?</vt:lpstr>
      <vt:lpstr>Übersetzung</vt:lpstr>
      <vt:lpstr>PowerPoint-Präsentation</vt:lpstr>
      <vt:lpstr>Feines Modell: betrete Tür</vt:lpstr>
      <vt:lpstr>Vorbedingung</vt:lpstr>
      <vt:lpstr>Aktion</vt:lpstr>
      <vt:lpstr>Nachbedingung</vt:lpstr>
      <vt:lpstr>Schritt</vt:lpstr>
      <vt:lpstr>Beweis</vt:lpstr>
      <vt:lpstr>Konsistenz zwischen Modellen</vt:lpstr>
      <vt:lpstr>Konsistenz zwischen den Modellen</vt:lpstr>
      <vt:lpstr>Beweis</vt:lpstr>
      <vt:lpstr>Fazit und Ausblick</vt:lpstr>
      <vt:lpstr>Fazit und Ausblick</vt:lpstr>
      <vt:lpstr>Vielen lieben Dank!</vt:lpstr>
      <vt:lpstr>Quellen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_r_m66r71o@hsrheinmain.onmicrosoft.com</cp:lastModifiedBy>
  <cp:revision>61</cp:revision>
  <dcterms:modified xsi:type="dcterms:W3CDTF">2026-08-18T14:01:03Z</dcterms:modified>
  <dc:language>de-DE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6</vt:i4>
  </property>
  <property fmtid="{D5CDD505-2E9C-101B-9397-08002B2CF9AE}" pid="3" name="Notes">
    <vt:i4>27</vt:i4>
  </property>
  <property fmtid="{D5CDD505-2E9C-101B-9397-08002B2CF9AE}" pid="4" name="PresentationFormat">
    <vt:lpwstr>Breitbild</vt:lpwstr>
  </property>
  <property fmtid="{D5CDD505-2E9C-101B-9397-08002B2CF9AE}" pid="5" name="Slides">
    <vt:i4>45</vt:i4>
  </property>
</Properties>
</file>